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GT"/>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EF4CF3-797F-44E6-90BE-B84268147619}" type="datetimeFigureOut">
              <a:rPr lang="es-GT" smtClean="0"/>
              <a:t>31/10/2026</a:t>
            </a:fld>
            <a:endParaRPr lang="es-GT"/>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GT"/>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GT"/>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GT"/>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19C30D-042F-45D5-AE35-B84F888A1B41}" type="slidenum">
              <a:rPr lang="es-GT" smtClean="0"/>
              <a:t>‹Nº›</a:t>
            </a:fld>
            <a:endParaRPr lang="es-GT"/>
          </a:p>
        </p:txBody>
      </p:sp>
    </p:spTree>
    <p:extLst>
      <p:ext uri="{BB962C8B-B14F-4D97-AF65-F5344CB8AC3E}">
        <p14:creationId xmlns:p14="http://schemas.microsoft.com/office/powerpoint/2010/main" val="2795291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Presento el proyecto final: un sistema de transacciones bancarias donde un productor genera transacciones y dos consumidores las procesan. El reto es que los dos consumidores no procesen la misma transacción, y lo resolvemos con un semáforo en Redis, como el semáforo de la imagen: solo uno pasa a la vez.</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1</a:t>
            </a:fld>
            <a:endParaRPr lang="es-GT"/>
          </a:p>
        </p:txBody>
      </p:sp>
    </p:spTree>
    <p:extLst>
      <p:ext uri="{BB962C8B-B14F-4D97-AF65-F5344CB8AC3E}">
        <p14:creationId xmlns:p14="http://schemas.microsoft.com/office/powerpoint/2010/main" val="2186267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El productor deja transacciones PENDIENTE en la tabla. Cada consumidor toma la más antigua, la procesa y la marca como PROCESADO. El problema es que entre leer y actualizar pasan de 1 a 3 segundos. Si el otro consumidor lee en ese intervalo, ve la misma fila todavía pendiente y la procesa también. Eso es una condición de carrera.</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2</a:t>
            </a:fld>
            <a:endParaRPr lang="es-GT"/>
          </a:p>
        </p:txBody>
      </p:sp>
    </p:spTree>
    <p:extLst>
      <p:ext uri="{BB962C8B-B14F-4D97-AF65-F5344CB8AC3E}">
        <p14:creationId xmlns:p14="http://schemas.microsoft.com/office/powerpoint/2010/main" val="3737770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Estos son los cinco objetivos que pedía el enunciado. Los dos centrales son implementar el patrón productor-consumidor con MySQL como canal, y el semáforo distribuido en Redis. El último es demostrar con evidencia la diferencia entre trabajar con y sin semáforo.</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3</a:t>
            </a:fld>
            <a:endParaRPr lang="es-GT"/>
          </a:p>
        </p:txBody>
      </p:sp>
    </p:spTree>
    <p:extLst>
      <p:ext uri="{BB962C8B-B14F-4D97-AF65-F5344CB8AC3E}">
        <p14:creationId xmlns:p14="http://schemas.microsoft.com/office/powerpoint/2010/main" val="2598528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Son cinco contenedores. El productor, a la izquierda, solo inserta en MySQL. Los dos consumidores salen de la misma imagen y solo cambia su identificador. Leen y actualizan en MySQL, y antes de hacerlo piden el semáforo en Redis. Redis es infraestructura de apoyo: por eso el proyecto tiene cinco contenedores y no cuatro.</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4</a:t>
            </a:fld>
            <a:endParaRPr lang="es-GT"/>
          </a:p>
        </p:txBody>
      </p:sp>
    </p:spTree>
    <p:extLst>
      <p:ext uri="{BB962C8B-B14F-4D97-AF65-F5344CB8AC3E}">
        <p14:creationId xmlns:p14="http://schemas.microsoft.com/office/powerpoint/2010/main" val="665410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Todo se levanta con un solo comando. Los healthchecks preguntan cada cinco segundos si MySQL y Redis responden, y con depends_on y service_healthy el productor y los consumidores no arrancan hasta que la base esté lista. El script init.sql se monta en la carpeta especial de MySQL, que lo ejecuta automáticamente.</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5</a:t>
            </a:fld>
            <a:endParaRPr lang="es-GT"/>
          </a:p>
        </p:txBody>
      </p:sp>
    </p:spTree>
    <p:extLst>
      <p:ext uri="{BB962C8B-B14F-4D97-AF65-F5344CB8AC3E}">
        <p14:creationId xmlns:p14="http://schemas.microsoft.com/office/powerpoint/2010/main" val="4004167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La tabla transacciones la crea init.sql. La columna clave es estado: el productor inserta en PENDIENTE y el consumidor la pasa a PROCESADO, registrando cuándo y quién. Agregué una tabla bitácora, procesamientos, porque sin ella los duplicados no se ven: el segundo UPDATE sobrescribe al primero y en la tabla queda un solo consumidor.</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6</a:t>
            </a:fld>
            <a:endParaRPr lang="es-GT"/>
          </a:p>
        </p:txBody>
      </p:sp>
    </p:spTree>
    <p:extLst>
      <p:ext uri="{BB962C8B-B14F-4D97-AF65-F5344CB8AC3E}">
        <p14:creationId xmlns:p14="http://schemas.microsoft.com/office/powerpoint/2010/main" val="1236744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El productor es un bucle simple: genera una transacción aleatoria, la inserta como PENDIENTE, imprime la hora y el id, y espera entre uno y dos segundos. No necesita semáforo porque nunca toca filas existentes, solo agrega nuevas, y el AUTO_INCREMENT de MySQL es seguro ante inserciones concurrentes.</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7</a:t>
            </a:fld>
            <a:endParaRPr lang="es-GT"/>
          </a:p>
        </p:txBody>
      </p:sp>
    </p:spTree>
    <p:extLst>
      <p:ext uri="{BB962C8B-B14F-4D97-AF65-F5344CB8AC3E}">
        <p14:creationId xmlns:p14="http://schemas.microsoft.com/office/powerpoint/2010/main" val="1260744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Este es el ciclo de cada consumidor. Primero intenta adquirir el semáforo. Si no lo obtiene, imprime ESPERAR y reintenta en menos de un segundo. Si lo obtiene, entra a la sección crítica: selecciona la transacción pendiente más antigua, la procesa y la actualiza. Al final libera el semáforo, pero solo si sigue siendo el dueño, y vuelve a empezar.</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8</a:t>
            </a:fld>
            <a:endParaRPr lang="es-GT"/>
          </a:p>
        </p:txBody>
      </p:sp>
    </p:spTree>
    <p:extLst>
      <p:ext uri="{BB962C8B-B14F-4D97-AF65-F5344CB8AC3E}">
        <p14:creationId xmlns:p14="http://schemas.microsoft.com/office/powerpoint/2010/main" val="3766284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El semáforo es una llave en Redis. NX significa que solo se crea si no existe: si los dos consumidores lo piden a la vez, Redis atiende uno primero y solo ese recibe OK. EX 10 hace que expire sola, por si un consumidor muere con el semáforo tomado. El valor es un token único que identifica al dueño. Para liberar usamos un script Lua que compara el token y borra en un solo paso, así nunca borramos el semáforo de otro.</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9</a:t>
            </a:fld>
            <a:endParaRPr lang="es-GT"/>
          </a:p>
        </p:txBody>
      </p:sp>
    </p:spTree>
    <p:extLst>
      <p:ext uri="{BB962C8B-B14F-4D97-AF65-F5344CB8AC3E}">
        <p14:creationId xmlns:p14="http://schemas.microsoft.com/office/powerpoint/2010/main" val="541169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Para demostrar el efecto del semáforo corrimos dos escenarios. En el A los consumidores trabajan sin semáforo; en el B, con semáforo. Un script automatiza todo: reinicia la base, espera a que se procesen al menos veinte transacciones y guarda las trazas, la tabla de eventos y tiempos, las consultas SQL y el estado de Redis.</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10</a:t>
            </a:fld>
            <a:endParaRPr lang="es-GT"/>
          </a:p>
        </p:txBody>
      </p:sp>
    </p:spTree>
    <p:extLst>
      <p:ext uri="{BB962C8B-B14F-4D97-AF65-F5344CB8AC3E}">
        <p14:creationId xmlns:p14="http://schemas.microsoft.com/office/powerpoint/2010/main" val="2475399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Estos son los resultados. Sin semáforo hubo 42 procesamientos para solo 22 transacciones: veinte duplicados, casi la mitad del trabajo fue repetido. Con semáforo hubo 24 procesamientos para 24 transacciones, cero duplicados, y la carga se repartió exactamente doce y doce.</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11</a:t>
            </a:fld>
            <a:endParaRPr lang="es-GT"/>
          </a:p>
        </p:txBody>
      </p:sp>
    </p:spTree>
    <p:extLst>
      <p:ext uri="{BB962C8B-B14F-4D97-AF65-F5344CB8AC3E}">
        <p14:creationId xmlns:p14="http://schemas.microsoft.com/office/powerpoint/2010/main" val="106411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Las trazas lo muestran en detalle. A la izquierda, sin semáforo, los dos consumidores toman la transacción 3 con dos segundos de diferencia y ambos la marcan como procesada. A la derecha, con semáforo, el patrón siempre es el mismo: uno procesa y libera, y recién entonces el otro adquiere el semáforo y toma la siguiente.</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12</a:t>
            </a:fld>
            <a:endParaRPr lang="es-GT"/>
          </a:p>
        </p:txBody>
      </p:sp>
    </p:spTree>
    <p:extLst>
      <p:ext uri="{BB962C8B-B14F-4D97-AF65-F5344CB8AC3E}">
        <p14:creationId xmlns:p14="http://schemas.microsoft.com/office/powerpoint/2010/main" val="3684076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El semáforo resuelve el problema, pero tiene costos. El principal es que serializa el trabajo: aunque haya dos consumidores, procesan uno a la vez. También está la granularidad: bloqueamos toda la tabla, cuando bastaría bloquear cada fila. Y hay dos riesgos: que un trabajo dure más que el TTL, y que Redis sea un punto único de falla.</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13</a:t>
            </a:fld>
            <a:endParaRPr lang="es-GT"/>
          </a:p>
        </p:txBody>
      </p:sp>
    </p:spTree>
    <p:extLst>
      <p:ext uri="{BB962C8B-B14F-4D97-AF65-F5344CB8AC3E}">
        <p14:creationId xmlns:p14="http://schemas.microsoft.com/office/powerpoint/2010/main" val="1533954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Para cerrar: sin sincronización, procesos concurrentes sobre el mismo dato producen errores, y lo medimos: casi la mitad de los procesamientos fueron duplicados. Con un semáforo en Redis bien implementado, cero duplicados. Cada parte del comando cumple una función, y la lección general es que la exclusión mutua tiene un costo, así que la sección crítica debe ser lo más pequeña posible.</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14</a:t>
            </a:fld>
            <a:endParaRPr lang="es-GT"/>
          </a:p>
        </p:txBody>
      </p:sp>
    </p:spTree>
    <p:extLst>
      <p:ext uri="{BB962C8B-B14F-4D97-AF65-F5344CB8AC3E}">
        <p14:creationId xmlns:p14="http://schemas.microsoft.com/office/powerpoint/2010/main" val="4242650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a:t>Gracias. Si hay tiempo, puedo hacer una demostración en vivo: con estos dos comandos se levanta todo el sistema y se ven los consumidores turnándose el semáforo.</a:t>
            </a:r>
          </a:p>
        </p:txBody>
      </p:sp>
      <p:sp>
        <p:nvSpPr>
          <p:cNvPr id="4" name="Marcador de número de diapositiva 3"/>
          <p:cNvSpPr>
            <a:spLocks noGrp="1"/>
          </p:cNvSpPr>
          <p:nvPr>
            <p:ph type="sldNum" sz="quarter" idx="5"/>
          </p:nvPr>
        </p:nvSpPr>
        <p:spPr/>
        <p:txBody>
          <a:bodyPr/>
          <a:lstStyle/>
          <a:p>
            <a:fld id="{6819C30D-042F-45D5-AE35-B84F888A1B41}" type="slidenum">
              <a:rPr lang="es-GT" smtClean="0"/>
              <a:t>15</a:t>
            </a:fld>
            <a:endParaRPr lang="es-GT"/>
          </a:p>
        </p:txBody>
      </p:sp>
    </p:spTree>
    <p:extLst>
      <p:ext uri="{BB962C8B-B14F-4D97-AF65-F5344CB8AC3E}">
        <p14:creationId xmlns:p14="http://schemas.microsoft.com/office/powerpoint/2010/main" val="1504688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5AF3E5-60CB-6149-A994-A88002EEBD51}"/>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GT"/>
          </a:p>
        </p:txBody>
      </p:sp>
      <p:sp>
        <p:nvSpPr>
          <p:cNvPr id="3" name="Subtítulo 2">
            <a:extLst>
              <a:ext uri="{FF2B5EF4-FFF2-40B4-BE49-F238E27FC236}">
                <a16:creationId xmlns:a16="http://schemas.microsoft.com/office/drawing/2014/main" id="{9482B0B3-D345-DAFF-C838-EFD9AFA770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GT"/>
          </a:p>
        </p:txBody>
      </p:sp>
      <p:sp>
        <p:nvSpPr>
          <p:cNvPr id="4" name="Marcador de fecha 3">
            <a:extLst>
              <a:ext uri="{FF2B5EF4-FFF2-40B4-BE49-F238E27FC236}">
                <a16:creationId xmlns:a16="http://schemas.microsoft.com/office/drawing/2014/main" id="{A8BC034D-6B1E-9ACF-47F5-431F4D479A89}"/>
              </a:ext>
            </a:extLst>
          </p:cNvPr>
          <p:cNvSpPr>
            <a:spLocks noGrp="1"/>
          </p:cNvSpPr>
          <p:nvPr>
            <p:ph type="dt" sz="half" idx="10"/>
          </p:nvPr>
        </p:nvSpPr>
        <p:spPr/>
        <p:txBody>
          <a:bodyPr/>
          <a:lstStyle/>
          <a:p>
            <a:fld id="{E3711D50-65AD-4011-ABED-0C0BE78E4818}" type="datetimeFigureOut">
              <a:rPr lang="es-GT" smtClean="0"/>
              <a:t>31/10/2026</a:t>
            </a:fld>
            <a:endParaRPr lang="es-GT"/>
          </a:p>
        </p:txBody>
      </p:sp>
      <p:sp>
        <p:nvSpPr>
          <p:cNvPr id="5" name="Marcador de pie de página 4">
            <a:extLst>
              <a:ext uri="{FF2B5EF4-FFF2-40B4-BE49-F238E27FC236}">
                <a16:creationId xmlns:a16="http://schemas.microsoft.com/office/drawing/2014/main" id="{E6F84E06-DF38-715B-D566-CAA47801A95B}"/>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9FA74C06-C06A-B06A-45BB-C6102AAF13E6}"/>
              </a:ext>
            </a:extLst>
          </p:cNvPr>
          <p:cNvSpPr>
            <a:spLocks noGrp="1"/>
          </p:cNvSpPr>
          <p:nvPr>
            <p:ph type="sldNum" sz="quarter" idx="12"/>
          </p:nvPr>
        </p:nvSpPr>
        <p:spPr/>
        <p:txBody>
          <a:bodyPr/>
          <a:lstStyle/>
          <a:p>
            <a:fld id="{4F926ED1-02D9-4F4C-AF38-EBD3C37E7CF2}" type="slidenum">
              <a:rPr lang="es-GT" smtClean="0"/>
              <a:t>‹Nº›</a:t>
            </a:fld>
            <a:endParaRPr lang="es-GT"/>
          </a:p>
        </p:txBody>
      </p:sp>
    </p:spTree>
    <p:extLst>
      <p:ext uri="{BB962C8B-B14F-4D97-AF65-F5344CB8AC3E}">
        <p14:creationId xmlns:p14="http://schemas.microsoft.com/office/powerpoint/2010/main" val="1524941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553643-B9B5-1BCD-7717-64ABC3036F97}"/>
              </a:ext>
            </a:extLst>
          </p:cNvPr>
          <p:cNvSpPr>
            <a:spLocks noGrp="1"/>
          </p:cNvSpPr>
          <p:nvPr>
            <p:ph type="title"/>
          </p:nvPr>
        </p:nvSpPr>
        <p:spPr/>
        <p:txBody>
          <a:bodyPr/>
          <a:lstStyle/>
          <a:p>
            <a:r>
              <a:rPr lang="es-MX"/>
              <a:t>Haz clic para modificar el estilo de título del patrón</a:t>
            </a:r>
            <a:endParaRPr lang="es-GT"/>
          </a:p>
        </p:txBody>
      </p:sp>
      <p:sp>
        <p:nvSpPr>
          <p:cNvPr id="3" name="Marcador de contenido 2">
            <a:extLst>
              <a:ext uri="{FF2B5EF4-FFF2-40B4-BE49-F238E27FC236}">
                <a16:creationId xmlns:a16="http://schemas.microsoft.com/office/drawing/2014/main" id="{33EB15C4-8D37-80B5-38C6-BC21659E73E9}"/>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GT"/>
          </a:p>
        </p:txBody>
      </p:sp>
      <p:sp>
        <p:nvSpPr>
          <p:cNvPr id="4" name="Marcador de fecha 3">
            <a:extLst>
              <a:ext uri="{FF2B5EF4-FFF2-40B4-BE49-F238E27FC236}">
                <a16:creationId xmlns:a16="http://schemas.microsoft.com/office/drawing/2014/main" id="{B89528F8-8FC6-2028-0A24-DF04F568B3C4}"/>
              </a:ext>
            </a:extLst>
          </p:cNvPr>
          <p:cNvSpPr>
            <a:spLocks noGrp="1"/>
          </p:cNvSpPr>
          <p:nvPr>
            <p:ph type="dt" sz="half" idx="10"/>
          </p:nvPr>
        </p:nvSpPr>
        <p:spPr/>
        <p:txBody>
          <a:bodyPr/>
          <a:lstStyle/>
          <a:p>
            <a:fld id="{E3711D50-65AD-4011-ABED-0C0BE78E4818}" type="datetimeFigureOut">
              <a:rPr lang="es-GT" smtClean="0"/>
              <a:t>31/10/2026</a:t>
            </a:fld>
            <a:endParaRPr lang="es-GT"/>
          </a:p>
        </p:txBody>
      </p:sp>
      <p:sp>
        <p:nvSpPr>
          <p:cNvPr id="5" name="Marcador de pie de página 4">
            <a:extLst>
              <a:ext uri="{FF2B5EF4-FFF2-40B4-BE49-F238E27FC236}">
                <a16:creationId xmlns:a16="http://schemas.microsoft.com/office/drawing/2014/main" id="{234A570A-FABA-59E2-60BD-9C93B9BA2A55}"/>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01967236-6653-95C5-E2D9-96B8B8BE9CC8}"/>
              </a:ext>
            </a:extLst>
          </p:cNvPr>
          <p:cNvSpPr>
            <a:spLocks noGrp="1"/>
          </p:cNvSpPr>
          <p:nvPr>
            <p:ph type="sldNum" sz="quarter" idx="12"/>
          </p:nvPr>
        </p:nvSpPr>
        <p:spPr/>
        <p:txBody>
          <a:bodyPr/>
          <a:lstStyle/>
          <a:p>
            <a:fld id="{4F926ED1-02D9-4F4C-AF38-EBD3C37E7CF2}" type="slidenum">
              <a:rPr lang="es-GT" smtClean="0"/>
              <a:t>‹Nº›</a:t>
            </a:fld>
            <a:endParaRPr lang="es-GT"/>
          </a:p>
        </p:txBody>
      </p:sp>
    </p:spTree>
    <p:extLst>
      <p:ext uri="{BB962C8B-B14F-4D97-AF65-F5344CB8AC3E}">
        <p14:creationId xmlns:p14="http://schemas.microsoft.com/office/powerpoint/2010/main" val="533727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EC88D5-32F3-B0F3-0CAC-1219505D6306}"/>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GT"/>
          </a:p>
        </p:txBody>
      </p:sp>
      <p:sp>
        <p:nvSpPr>
          <p:cNvPr id="3" name="Marcador de texto 2">
            <a:extLst>
              <a:ext uri="{FF2B5EF4-FFF2-40B4-BE49-F238E27FC236}">
                <a16:creationId xmlns:a16="http://schemas.microsoft.com/office/drawing/2014/main" id="{6B8321B8-F3D8-7D3A-CCD1-ACF67C088E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6163DE48-5F3B-B474-E382-28AAD7A4DB88}"/>
              </a:ext>
            </a:extLst>
          </p:cNvPr>
          <p:cNvSpPr>
            <a:spLocks noGrp="1"/>
          </p:cNvSpPr>
          <p:nvPr>
            <p:ph type="dt" sz="half" idx="10"/>
          </p:nvPr>
        </p:nvSpPr>
        <p:spPr/>
        <p:txBody>
          <a:bodyPr/>
          <a:lstStyle/>
          <a:p>
            <a:fld id="{E3711D50-65AD-4011-ABED-0C0BE78E4818}" type="datetimeFigureOut">
              <a:rPr lang="es-GT" smtClean="0"/>
              <a:t>31/10/2026</a:t>
            </a:fld>
            <a:endParaRPr lang="es-GT"/>
          </a:p>
        </p:txBody>
      </p:sp>
      <p:sp>
        <p:nvSpPr>
          <p:cNvPr id="5" name="Marcador de pie de página 4">
            <a:extLst>
              <a:ext uri="{FF2B5EF4-FFF2-40B4-BE49-F238E27FC236}">
                <a16:creationId xmlns:a16="http://schemas.microsoft.com/office/drawing/2014/main" id="{7AD4B7F3-5D80-CD08-A017-CE66A3EC156A}"/>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2078E083-B7F8-217A-347D-5E469A5906BE}"/>
              </a:ext>
            </a:extLst>
          </p:cNvPr>
          <p:cNvSpPr>
            <a:spLocks noGrp="1"/>
          </p:cNvSpPr>
          <p:nvPr>
            <p:ph type="sldNum" sz="quarter" idx="12"/>
          </p:nvPr>
        </p:nvSpPr>
        <p:spPr/>
        <p:txBody>
          <a:bodyPr/>
          <a:lstStyle/>
          <a:p>
            <a:fld id="{4F926ED1-02D9-4F4C-AF38-EBD3C37E7CF2}" type="slidenum">
              <a:rPr lang="es-GT" smtClean="0"/>
              <a:t>‹Nº›</a:t>
            </a:fld>
            <a:endParaRPr lang="es-GT"/>
          </a:p>
        </p:txBody>
      </p:sp>
    </p:spTree>
    <p:extLst>
      <p:ext uri="{BB962C8B-B14F-4D97-AF65-F5344CB8AC3E}">
        <p14:creationId xmlns:p14="http://schemas.microsoft.com/office/powerpoint/2010/main" val="1399328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AE3C29-FB28-A1A3-9B11-DEFF38AF96BA}"/>
              </a:ext>
            </a:extLst>
          </p:cNvPr>
          <p:cNvSpPr>
            <a:spLocks noGrp="1"/>
          </p:cNvSpPr>
          <p:nvPr>
            <p:ph type="title"/>
          </p:nvPr>
        </p:nvSpPr>
        <p:spPr/>
        <p:txBody>
          <a:bodyPr/>
          <a:lstStyle/>
          <a:p>
            <a:r>
              <a:rPr lang="es-MX"/>
              <a:t>Haz clic para modificar el estilo de título del patrón</a:t>
            </a:r>
            <a:endParaRPr lang="es-GT"/>
          </a:p>
        </p:txBody>
      </p:sp>
      <p:sp>
        <p:nvSpPr>
          <p:cNvPr id="3" name="Marcador de contenido 2">
            <a:extLst>
              <a:ext uri="{FF2B5EF4-FFF2-40B4-BE49-F238E27FC236}">
                <a16:creationId xmlns:a16="http://schemas.microsoft.com/office/drawing/2014/main" id="{F4C0397D-26D2-3723-A115-0CF939F24E73}"/>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GT"/>
          </a:p>
        </p:txBody>
      </p:sp>
      <p:sp>
        <p:nvSpPr>
          <p:cNvPr id="4" name="Marcador de contenido 3">
            <a:extLst>
              <a:ext uri="{FF2B5EF4-FFF2-40B4-BE49-F238E27FC236}">
                <a16:creationId xmlns:a16="http://schemas.microsoft.com/office/drawing/2014/main" id="{17AAC0AC-BBF1-0A39-5B07-84DA6301615E}"/>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GT"/>
          </a:p>
        </p:txBody>
      </p:sp>
      <p:sp>
        <p:nvSpPr>
          <p:cNvPr id="5" name="Marcador de fecha 4">
            <a:extLst>
              <a:ext uri="{FF2B5EF4-FFF2-40B4-BE49-F238E27FC236}">
                <a16:creationId xmlns:a16="http://schemas.microsoft.com/office/drawing/2014/main" id="{A7BAB7E9-FD1B-0FC6-A0D7-BED5B103F4D8}"/>
              </a:ext>
            </a:extLst>
          </p:cNvPr>
          <p:cNvSpPr>
            <a:spLocks noGrp="1"/>
          </p:cNvSpPr>
          <p:nvPr>
            <p:ph type="dt" sz="half" idx="10"/>
          </p:nvPr>
        </p:nvSpPr>
        <p:spPr/>
        <p:txBody>
          <a:bodyPr/>
          <a:lstStyle/>
          <a:p>
            <a:fld id="{E3711D50-65AD-4011-ABED-0C0BE78E4818}" type="datetimeFigureOut">
              <a:rPr lang="es-GT" smtClean="0"/>
              <a:t>31/10/2026</a:t>
            </a:fld>
            <a:endParaRPr lang="es-GT"/>
          </a:p>
        </p:txBody>
      </p:sp>
      <p:sp>
        <p:nvSpPr>
          <p:cNvPr id="6" name="Marcador de pie de página 5">
            <a:extLst>
              <a:ext uri="{FF2B5EF4-FFF2-40B4-BE49-F238E27FC236}">
                <a16:creationId xmlns:a16="http://schemas.microsoft.com/office/drawing/2014/main" id="{520652B0-E699-D9A6-8602-AC50DFC1FC1C}"/>
              </a:ext>
            </a:extLst>
          </p:cNvPr>
          <p:cNvSpPr>
            <a:spLocks noGrp="1"/>
          </p:cNvSpPr>
          <p:nvPr>
            <p:ph type="ftr" sz="quarter" idx="11"/>
          </p:nvPr>
        </p:nvSpPr>
        <p:spPr/>
        <p:txBody>
          <a:bodyPr/>
          <a:lstStyle/>
          <a:p>
            <a:endParaRPr lang="es-GT"/>
          </a:p>
        </p:txBody>
      </p:sp>
      <p:sp>
        <p:nvSpPr>
          <p:cNvPr id="7" name="Marcador de número de diapositiva 6">
            <a:extLst>
              <a:ext uri="{FF2B5EF4-FFF2-40B4-BE49-F238E27FC236}">
                <a16:creationId xmlns:a16="http://schemas.microsoft.com/office/drawing/2014/main" id="{26762A95-CE39-BB90-0DB5-844BD06907E3}"/>
              </a:ext>
            </a:extLst>
          </p:cNvPr>
          <p:cNvSpPr>
            <a:spLocks noGrp="1"/>
          </p:cNvSpPr>
          <p:nvPr>
            <p:ph type="sldNum" sz="quarter" idx="12"/>
          </p:nvPr>
        </p:nvSpPr>
        <p:spPr/>
        <p:txBody>
          <a:bodyPr/>
          <a:lstStyle/>
          <a:p>
            <a:fld id="{4F926ED1-02D9-4F4C-AF38-EBD3C37E7CF2}" type="slidenum">
              <a:rPr lang="es-GT" smtClean="0"/>
              <a:t>‹Nº›</a:t>
            </a:fld>
            <a:endParaRPr lang="es-GT"/>
          </a:p>
        </p:txBody>
      </p:sp>
    </p:spTree>
    <p:extLst>
      <p:ext uri="{BB962C8B-B14F-4D97-AF65-F5344CB8AC3E}">
        <p14:creationId xmlns:p14="http://schemas.microsoft.com/office/powerpoint/2010/main" val="2680134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E4A8D7-654B-9FD9-E07B-CDF1D4D28A01}"/>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GT"/>
          </a:p>
        </p:txBody>
      </p:sp>
      <p:sp>
        <p:nvSpPr>
          <p:cNvPr id="3" name="Marcador de texto 2">
            <a:extLst>
              <a:ext uri="{FF2B5EF4-FFF2-40B4-BE49-F238E27FC236}">
                <a16:creationId xmlns:a16="http://schemas.microsoft.com/office/drawing/2014/main" id="{13E3E317-EBA7-8B7C-0C6A-275D9021D2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3CC6F508-389F-5637-0E8E-F258F3B12DBF}"/>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GT"/>
          </a:p>
        </p:txBody>
      </p:sp>
      <p:sp>
        <p:nvSpPr>
          <p:cNvPr id="5" name="Marcador de texto 4">
            <a:extLst>
              <a:ext uri="{FF2B5EF4-FFF2-40B4-BE49-F238E27FC236}">
                <a16:creationId xmlns:a16="http://schemas.microsoft.com/office/drawing/2014/main" id="{E213645F-C9C2-408F-96B6-E47AB1EBD7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BAE37DA6-1780-5FA8-8D91-6117C1DCD5AD}"/>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GT"/>
          </a:p>
        </p:txBody>
      </p:sp>
      <p:sp>
        <p:nvSpPr>
          <p:cNvPr id="7" name="Marcador de fecha 6">
            <a:extLst>
              <a:ext uri="{FF2B5EF4-FFF2-40B4-BE49-F238E27FC236}">
                <a16:creationId xmlns:a16="http://schemas.microsoft.com/office/drawing/2014/main" id="{86E476EB-539E-10FE-F271-912A72BF98A0}"/>
              </a:ext>
            </a:extLst>
          </p:cNvPr>
          <p:cNvSpPr>
            <a:spLocks noGrp="1"/>
          </p:cNvSpPr>
          <p:nvPr>
            <p:ph type="dt" sz="half" idx="10"/>
          </p:nvPr>
        </p:nvSpPr>
        <p:spPr/>
        <p:txBody>
          <a:bodyPr/>
          <a:lstStyle/>
          <a:p>
            <a:fld id="{E3711D50-65AD-4011-ABED-0C0BE78E4818}" type="datetimeFigureOut">
              <a:rPr lang="es-GT" smtClean="0"/>
              <a:t>31/10/2026</a:t>
            </a:fld>
            <a:endParaRPr lang="es-GT"/>
          </a:p>
        </p:txBody>
      </p:sp>
      <p:sp>
        <p:nvSpPr>
          <p:cNvPr id="8" name="Marcador de pie de página 7">
            <a:extLst>
              <a:ext uri="{FF2B5EF4-FFF2-40B4-BE49-F238E27FC236}">
                <a16:creationId xmlns:a16="http://schemas.microsoft.com/office/drawing/2014/main" id="{3FE60B64-ECE4-28AB-EF93-DFFE3FFAFF98}"/>
              </a:ext>
            </a:extLst>
          </p:cNvPr>
          <p:cNvSpPr>
            <a:spLocks noGrp="1"/>
          </p:cNvSpPr>
          <p:nvPr>
            <p:ph type="ftr" sz="quarter" idx="11"/>
          </p:nvPr>
        </p:nvSpPr>
        <p:spPr/>
        <p:txBody>
          <a:bodyPr/>
          <a:lstStyle/>
          <a:p>
            <a:endParaRPr lang="es-GT"/>
          </a:p>
        </p:txBody>
      </p:sp>
      <p:sp>
        <p:nvSpPr>
          <p:cNvPr id="9" name="Marcador de número de diapositiva 8">
            <a:extLst>
              <a:ext uri="{FF2B5EF4-FFF2-40B4-BE49-F238E27FC236}">
                <a16:creationId xmlns:a16="http://schemas.microsoft.com/office/drawing/2014/main" id="{E89A7AD0-1E6C-6B17-E6C0-BFDBA8BD4E6F}"/>
              </a:ext>
            </a:extLst>
          </p:cNvPr>
          <p:cNvSpPr>
            <a:spLocks noGrp="1"/>
          </p:cNvSpPr>
          <p:nvPr>
            <p:ph type="sldNum" sz="quarter" idx="12"/>
          </p:nvPr>
        </p:nvSpPr>
        <p:spPr/>
        <p:txBody>
          <a:bodyPr/>
          <a:lstStyle/>
          <a:p>
            <a:fld id="{4F926ED1-02D9-4F4C-AF38-EBD3C37E7CF2}" type="slidenum">
              <a:rPr lang="es-GT" smtClean="0"/>
              <a:t>‹Nº›</a:t>
            </a:fld>
            <a:endParaRPr lang="es-GT"/>
          </a:p>
        </p:txBody>
      </p:sp>
    </p:spTree>
    <p:extLst>
      <p:ext uri="{BB962C8B-B14F-4D97-AF65-F5344CB8AC3E}">
        <p14:creationId xmlns:p14="http://schemas.microsoft.com/office/powerpoint/2010/main" val="1250252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6AC45-54E2-713A-4CAA-B7F3F5E15F05}"/>
              </a:ext>
            </a:extLst>
          </p:cNvPr>
          <p:cNvSpPr>
            <a:spLocks noGrp="1"/>
          </p:cNvSpPr>
          <p:nvPr>
            <p:ph type="title"/>
          </p:nvPr>
        </p:nvSpPr>
        <p:spPr/>
        <p:txBody>
          <a:bodyPr/>
          <a:lstStyle/>
          <a:p>
            <a:r>
              <a:rPr lang="es-MX"/>
              <a:t>Haz clic para modificar el estilo de título del patrón</a:t>
            </a:r>
            <a:endParaRPr lang="es-GT"/>
          </a:p>
        </p:txBody>
      </p:sp>
      <p:sp>
        <p:nvSpPr>
          <p:cNvPr id="3" name="Marcador de fecha 2">
            <a:extLst>
              <a:ext uri="{FF2B5EF4-FFF2-40B4-BE49-F238E27FC236}">
                <a16:creationId xmlns:a16="http://schemas.microsoft.com/office/drawing/2014/main" id="{E047DA69-6AF6-7F08-4E56-AFB35B0E6EA2}"/>
              </a:ext>
            </a:extLst>
          </p:cNvPr>
          <p:cNvSpPr>
            <a:spLocks noGrp="1"/>
          </p:cNvSpPr>
          <p:nvPr>
            <p:ph type="dt" sz="half" idx="10"/>
          </p:nvPr>
        </p:nvSpPr>
        <p:spPr/>
        <p:txBody>
          <a:bodyPr/>
          <a:lstStyle/>
          <a:p>
            <a:fld id="{E3711D50-65AD-4011-ABED-0C0BE78E4818}" type="datetimeFigureOut">
              <a:rPr lang="es-GT" smtClean="0"/>
              <a:t>31/10/2026</a:t>
            </a:fld>
            <a:endParaRPr lang="es-GT"/>
          </a:p>
        </p:txBody>
      </p:sp>
      <p:sp>
        <p:nvSpPr>
          <p:cNvPr id="4" name="Marcador de pie de página 3">
            <a:extLst>
              <a:ext uri="{FF2B5EF4-FFF2-40B4-BE49-F238E27FC236}">
                <a16:creationId xmlns:a16="http://schemas.microsoft.com/office/drawing/2014/main" id="{C1BB69FE-8D39-EAFF-AC03-E751EDFDCDD4}"/>
              </a:ext>
            </a:extLst>
          </p:cNvPr>
          <p:cNvSpPr>
            <a:spLocks noGrp="1"/>
          </p:cNvSpPr>
          <p:nvPr>
            <p:ph type="ftr" sz="quarter" idx="11"/>
          </p:nvPr>
        </p:nvSpPr>
        <p:spPr/>
        <p:txBody>
          <a:bodyPr/>
          <a:lstStyle/>
          <a:p>
            <a:endParaRPr lang="es-GT"/>
          </a:p>
        </p:txBody>
      </p:sp>
      <p:sp>
        <p:nvSpPr>
          <p:cNvPr id="5" name="Marcador de número de diapositiva 4">
            <a:extLst>
              <a:ext uri="{FF2B5EF4-FFF2-40B4-BE49-F238E27FC236}">
                <a16:creationId xmlns:a16="http://schemas.microsoft.com/office/drawing/2014/main" id="{626F2E97-6998-E226-5F6A-D2E0D68880C9}"/>
              </a:ext>
            </a:extLst>
          </p:cNvPr>
          <p:cNvSpPr>
            <a:spLocks noGrp="1"/>
          </p:cNvSpPr>
          <p:nvPr>
            <p:ph type="sldNum" sz="quarter" idx="12"/>
          </p:nvPr>
        </p:nvSpPr>
        <p:spPr/>
        <p:txBody>
          <a:bodyPr/>
          <a:lstStyle/>
          <a:p>
            <a:fld id="{4F926ED1-02D9-4F4C-AF38-EBD3C37E7CF2}" type="slidenum">
              <a:rPr lang="es-GT" smtClean="0"/>
              <a:t>‹Nº›</a:t>
            </a:fld>
            <a:endParaRPr lang="es-GT"/>
          </a:p>
        </p:txBody>
      </p:sp>
    </p:spTree>
    <p:extLst>
      <p:ext uri="{BB962C8B-B14F-4D97-AF65-F5344CB8AC3E}">
        <p14:creationId xmlns:p14="http://schemas.microsoft.com/office/powerpoint/2010/main" val="674631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7A798CE-FFC7-35B1-4213-7922577783E9}"/>
              </a:ext>
            </a:extLst>
          </p:cNvPr>
          <p:cNvSpPr>
            <a:spLocks noGrp="1"/>
          </p:cNvSpPr>
          <p:nvPr>
            <p:ph type="dt" sz="half" idx="10"/>
          </p:nvPr>
        </p:nvSpPr>
        <p:spPr/>
        <p:txBody>
          <a:bodyPr/>
          <a:lstStyle/>
          <a:p>
            <a:fld id="{E3711D50-65AD-4011-ABED-0C0BE78E4818}" type="datetimeFigureOut">
              <a:rPr lang="es-GT" smtClean="0"/>
              <a:t>31/10/2026</a:t>
            </a:fld>
            <a:endParaRPr lang="es-GT"/>
          </a:p>
        </p:txBody>
      </p:sp>
      <p:sp>
        <p:nvSpPr>
          <p:cNvPr id="3" name="Marcador de pie de página 2">
            <a:extLst>
              <a:ext uri="{FF2B5EF4-FFF2-40B4-BE49-F238E27FC236}">
                <a16:creationId xmlns:a16="http://schemas.microsoft.com/office/drawing/2014/main" id="{6271F84B-7E3A-D2A0-FF71-D26910E0F79D}"/>
              </a:ext>
            </a:extLst>
          </p:cNvPr>
          <p:cNvSpPr>
            <a:spLocks noGrp="1"/>
          </p:cNvSpPr>
          <p:nvPr>
            <p:ph type="ftr" sz="quarter" idx="11"/>
          </p:nvPr>
        </p:nvSpPr>
        <p:spPr/>
        <p:txBody>
          <a:bodyPr/>
          <a:lstStyle/>
          <a:p>
            <a:endParaRPr lang="es-GT"/>
          </a:p>
        </p:txBody>
      </p:sp>
      <p:sp>
        <p:nvSpPr>
          <p:cNvPr id="4" name="Marcador de número de diapositiva 3">
            <a:extLst>
              <a:ext uri="{FF2B5EF4-FFF2-40B4-BE49-F238E27FC236}">
                <a16:creationId xmlns:a16="http://schemas.microsoft.com/office/drawing/2014/main" id="{55503EA9-D64C-0720-C173-D132E2B7FF53}"/>
              </a:ext>
            </a:extLst>
          </p:cNvPr>
          <p:cNvSpPr>
            <a:spLocks noGrp="1"/>
          </p:cNvSpPr>
          <p:nvPr>
            <p:ph type="sldNum" sz="quarter" idx="12"/>
          </p:nvPr>
        </p:nvSpPr>
        <p:spPr/>
        <p:txBody>
          <a:bodyPr/>
          <a:lstStyle/>
          <a:p>
            <a:fld id="{4F926ED1-02D9-4F4C-AF38-EBD3C37E7CF2}" type="slidenum">
              <a:rPr lang="es-GT" smtClean="0"/>
              <a:t>‹Nº›</a:t>
            </a:fld>
            <a:endParaRPr lang="es-GT"/>
          </a:p>
        </p:txBody>
      </p:sp>
    </p:spTree>
    <p:extLst>
      <p:ext uri="{BB962C8B-B14F-4D97-AF65-F5344CB8AC3E}">
        <p14:creationId xmlns:p14="http://schemas.microsoft.com/office/powerpoint/2010/main" val="2745295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B856DF-F1D2-F9AE-13E5-EE5E1326BAFE}"/>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GT"/>
          </a:p>
        </p:txBody>
      </p:sp>
      <p:sp>
        <p:nvSpPr>
          <p:cNvPr id="3" name="Marcador de contenido 2">
            <a:extLst>
              <a:ext uri="{FF2B5EF4-FFF2-40B4-BE49-F238E27FC236}">
                <a16:creationId xmlns:a16="http://schemas.microsoft.com/office/drawing/2014/main" id="{1EFF8420-28F7-F3FF-08FF-E3FC731BEA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GT"/>
          </a:p>
        </p:txBody>
      </p:sp>
      <p:sp>
        <p:nvSpPr>
          <p:cNvPr id="4" name="Marcador de texto 3">
            <a:extLst>
              <a:ext uri="{FF2B5EF4-FFF2-40B4-BE49-F238E27FC236}">
                <a16:creationId xmlns:a16="http://schemas.microsoft.com/office/drawing/2014/main" id="{6F8D1678-3312-953F-9F4F-07DFA87764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8613FBF3-E24D-1348-5B9E-AEDE4451D6D5}"/>
              </a:ext>
            </a:extLst>
          </p:cNvPr>
          <p:cNvSpPr>
            <a:spLocks noGrp="1"/>
          </p:cNvSpPr>
          <p:nvPr>
            <p:ph type="dt" sz="half" idx="10"/>
          </p:nvPr>
        </p:nvSpPr>
        <p:spPr/>
        <p:txBody>
          <a:bodyPr/>
          <a:lstStyle/>
          <a:p>
            <a:fld id="{E3711D50-65AD-4011-ABED-0C0BE78E4818}" type="datetimeFigureOut">
              <a:rPr lang="es-GT" smtClean="0"/>
              <a:t>31/10/2026</a:t>
            </a:fld>
            <a:endParaRPr lang="es-GT"/>
          </a:p>
        </p:txBody>
      </p:sp>
      <p:sp>
        <p:nvSpPr>
          <p:cNvPr id="6" name="Marcador de pie de página 5">
            <a:extLst>
              <a:ext uri="{FF2B5EF4-FFF2-40B4-BE49-F238E27FC236}">
                <a16:creationId xmlns:a16="http://schemas.microsoft.com/office/drawing/2014/main" id="{F2BB0788-D5CD-2D35-E551-E225BC3FDD7C}"/>
              </a:ext>
            </a:extLst>
          </p:cNvPr>
          <p:cNvSpPr>
            <a:spLocks noGrp="1"/>
          </p:cNvSpPr>
          <p:nvPr>
            <p:ph type="ftr" sz="quarter" idx="11"/>
          </p:nvPr>
        </p:nvSpPr>
        <p:spPr/>
        <p:txBody>
          <a:bodyPr/>
          <a:lstStyle/>
          <a:p>
            <a:endParaRPr lang="es-GT"/>
          </a:p>
        </p:txBody>
      </p:sp>
      <p:sp>
        <p:nvSpPr>
          <p:cNvPr id="7" name="Marcador de número de diapositiva 6">
            <a:extLst>
              <a:ext uri="{FF2B5EF4-FFF2-40B4-BE49-F238E27FC236}">
                <a16:creationId xmlns:a16="http://schemas.microsoft.com/office/drawing/2014/main" id="{2CD61E1B-942F-7A17-7F2D-39097DE56D0C}"/>
              </a:ext>
            </a:extLst>
          </p:cNvPr>
          <p:cNvSpPr>
            <a:spLocks noGrp="1"/>
          </p:cNvSpPr>
          <p:nvPr>
            <p:ph type="sldNum" sz="quarter" idx="12"/>
          </p:nvPr>
        </p:nvSpPr>
        <p:spPr/>
        <p:txBody>
          <a:bodyPr/>
          <a:lstStyle/>
          <a:p>
            <a:fld id="{4F926ED1-02D9-4F4C-AF38-EBD3C37E7CF2}" type="slidenum">
              <a:rPr lang="es-GT" smtClean="0"/>
              <a:t>‹Nº›</a:t>
            </a:fld>
            <a:endParaRPr lang="es-GT"/>
          </a:p>
        </p:txBody>
      </p:sp>
    </p:spTree>
    <p:extLst>
      <p:ext uri="{BB962C8B-B14F-4D97-AF65-F5344CB8AC3E}">
        <p14:creationId xmlns:p14="http://schemas.microsoft.com/office/powerpoint/2010/main" val="3123435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17BC3E-4221-E3A3-7F66-F148BE04FEB5}"/>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GT"/>
          </a:p>
        </p:txBody>
      </p:sp>
      <p:sp>
        <p:nvSpPr>
          <p:cNvPr id="3" name="Marcador de posición de imagen 2">
            <a:extLst>
              <a:ext uri="{FF2B5EF4-FFF2-40B4-BE49-F238E27FC236}">
                <a16:creationId xmlns:a16="http://schemas.microsoft.com/office/drawing/2014/main" id="{07C7D820-61B5-8BEF-450E-FB739FE1150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GT"/>
          </a:p>
        </p:txBody>
      </p:sp>
      <p:sp>
        <p:nvSpPr>
          <p:cNvPr id="4" name="Marcador de texto 3">
            <a:extLst>
              <a:ext uri="{FF2B5EF4-FFF2-40B4-BE49-F238E27FC236}">
                <a16:creationId xmlns:a16="http://schemas.microsoft.com/office/drawing/2014/main" id="{46E4C8DB-E89D-B483-3ACD-C8DE8A0DDA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3D914D8A-09D5-61E9-C39A-7F93418F97DE}"/>
              </a:ext>
            </a:extLst>
          </p:cNvPr>
          <p:cNvSpPr>
            <a:spLocks noGrp="1"/>
          </p:cNvSpPr>
          <p:nvPr>
            <p:ph type="dt" sz="half" idx="10"/>
          </p:nvPr>
        </p:nvSpPr>
        <p:spPr/>
        <p:txBody>
          <a:bodyPr/>
          <a:lstStyle/>
          <a:p>
            <a:fld id="{E3711D50-65AD-4011-ABED-0C0BE78E4818}" type="datetimeFigureOut">
              <a:rPr lang="es-GT" smtClean="0"/>
              <a:t>31/10/2026</a:t>
            </a:fld>
            <a:endParaRPr lang="es-GT"/>
          </a:p>
        </p:txBody>
      </p:sp>
      <p:sp>
        <p:nvSpPr>
          <p:cNvPr id="6" name="Marcador de pie de página 5">
            <a:extLst>
              <a:ext uri="{FF2B5EF4-FFF2-40B4-BE49-F238E27FC236}">
                <a16:creationId xmlns:a16="http://schemas.microsoft.com/office/drawing/2014/main" id="{07707978-187D-343F-2129-7557C07F46E6}"/>
              </a:ext>
            </a:extLst>
          </p:cNvPr>
          <p:cNvSpPr>
            <a:spLocks noGrp="1"/>
          </p:cNvSpPr>
          <p:nvPr>
            <p:ph type="ftr" sz="quarter" idx="11"/>
          </p:nvPr>
        </p:nvSpPr>
        <p:spPr/>
        <p:txBody>
          <a:bodyPr/>
          <a:lstStyle/>
          <a:p>
            <a:endParaRPr lang="es-GT"/>
          </a:p>
        </p:txBody>
      </p:sp>
      <p:sp>
        <p:nvSpPr>
          <p:cNvPr id="7" name="Marcador de número de diapositiva 6">
            <a:extLst>
              <a:ext uri="{FF2B5EF4-FFF2-40B4-BE49-F238E27FC236}">
                <a16:creationId xmlns:a16="http://schemas.microsoft.com/office/drawing/2014/main" id="{2BD5106F-0BE1-48E9-4C4A-7995944B49AE}"/>
              </a:ext>
            </a:extLst>
          </p:cNvPr>
          <p:cNvSpPr>
            <a:spLocks noGrp="1"/>
          </p:cNvSpPr>
          <p:nvPr>
            <p:ph type="sldNum" sz="quarter" idx="12"/>
          </p:nvPr>
        </p:nvSpPr>
        <p:spPr/>
        <p:txBody>
          <a:bodyPr/>
          <a:lstStyle/>
          <a:p>
            <a:fld id="{4F926ED1-02D9-4F4C-AF38-EBD3C37E7CF2}" type="slidenum">
              <a:rPr lang="es-GT" smtClean="0"/>
              <a:t>‹Nº›</a:t>
            </a:fld>
            <a:endParaRPr lang="es-GT"/>
          </a:p>
        </p:txBody>
      </p:sp>
    </p:spTree>
    <p:extLst>
      <p:ext uri="{BB962C8B-B14F-4D97-AF65-F5344CB8AC3E}">
        <p14:creationId xmlns:p14="http://schemas.microsoft.com/office/powerpoint/2010/main" val="2565310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6FFD57-CDF4-EF04-64A9-F26D9E3E235B}"/>
              </a:ext>
            </a:extLst>
          </p:cNvPr>
          <p:cNvSpPr>
            <a:spLocks noGrp="1"/>
          </p:cNvSpPr>
          <p:nvPr>
            <p:ph type="title"/>
          </p:nvPr>
        </p:nvSpPr>
        <p:spPr/>
        <p:txBody>
          <a:bodyPr/>
          <a:lstStyle/>
          <a:p>
            <a:r>
              <a:rPr lang="es-MX"/>
              <a:t>Haz clic para modificar el estilo de título del patrón</a:t>
            </a:r>
            <a:endParaRPr lang="es-GT"/>
          </a:p>
        </p:txBody>
      </p:sp>
      <p:sp>
        <p:nvSpPr>
          <p:cNvPr id="3" name="Marcador de texto vertical 2">
            <a:extLst>
              <a:ext uri="{FF2B5EF4-FFF2-40B4-BE49-F238E27FC236}">
                <a16:creationId xmlns:a16="http://schemas.microsoft.com/office/drawing/2014/main" id="{6DABE009-DD51-0D1F-9DF9-94F96004A8F8}"/>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GT"/>
          </a:p>
        </p:txBody>
      </p:sp>
      <p:sp>
        <p:nvSpPr>
          <p:cNvPr id="4" name="Marcador de fecha 3">
            <a:extLst>
              <a:ext uri="{FF2B5EF4-FFF2-40B4-BE49-F238E27FC236}">
                <a16:creationId xmlns:a16="http://schemas.microsoft.com/office/drawing/2014/main" id="{CAC3267C-B9D7-046E-9D5C-13FB455EC74F}"/>
              </a:ext>
            </a:extLst>
          </p:cNvPr>
          <p:cNvSpPr>
            <a:spLocks noGrp="1"/>
          </p:cNvSpPr>
          <p:nvPr>
            <p:ph type="dt" sz="half" idx="10"/>
          </p:nvPr>
        </p:nvSpPr>
        <p:spPr/>
        <p:txBody>
          <a:bodyPr/>
          <a:lstStyle/>
          <a:p>
            <a:fld id="{E3711D50-65AD-4011-ABED-0C0BE78E4818}" type="datetimeFigureOut">
              <a:rPr lang="es-GT" smtClean="0"/>
              <a:t>31/10/2026</a:t>
            </a:fld>
            <a:endParaRPr lang="es-GT"/>
          </a:p>
        </p:txBody>
      </p:sp>
      <p:sp>
        <p:nvSpPr>
          <p:cNvPr id="5" name="Marcador de pie de página 4">
            <a:extLst>
              <a:ext uri="{FF2B5EF4-FFF2-40B4-BE49-F238E27FC236}">
                <a16:creationId xmlns:a16="http://schemas.microsoft.com/office/drawing/2014/main" id="{CA30A03C-F93E-070E-C4E3-6F1BB2843F8A}"/>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7AD4DDD8-97D3-8693-3B74-A4D1E72FB42C}"/>
              </a:ext>
            </a:extLst>
          </p:cNvPr>
          <p:cNvSpPr>
            <a:spLocks noGrp="1"/>
          </p:cNvSpPr>
          <p:nvPr>
            <p:ph type="sldNum" sz="quarter" idx="12"/>
          </p:nvPr>
        </p:nvSpPr>
        <p:spPr/>
        <p:txBody>
          <a:bodyPr/>
          <a:lstStyle/>
          <a:p>
            <a:fld id="{4F926ED1-02D9-4F4C-AF38-EBD3C37E7CF2}" type="slidenum">
              <a:rPr lang="es-GT" smtClean="0"/>
              <a:t>‹Nº›</a:t>
            </a:fld>
            <a:endParaRPr lang="es-GT"/>
          </a:p>
        </p:txBody>
      </p:sp>
    </p:spTree>
    <p:extLst>
      <p:ext uri="{BB962C8B-B14F-4D97-AF65-F5344CB8AC3E}">
        <p14:creationId xmlns:p14="http://schemas.microsoft.com/office/powerpoint/2010/main" val="2557367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193868F-E1FD-52A3-07C9-46445C5A7403}"/>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GT"/>
          </a:p>
        </p:txBody>
      </p:sp>
      <p:sp>
        <p:nvSpPr>
          <p:cNvPr id="3" name="Marcador de texto vertical 2">
            <a:extLst>
              <a:ext uri="{FF2B5EF4-FFF2-40B4-BE49-F238E27FC236}">
                <a16:creationId xmlns:a16="http://schemas.microsoft.com/office/drawing/2014/main" id="{38A29196-1E6E-39AD-A497-A0288BA33D12}"/>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GT"/>
          </a:p>
        </p:txBody>
      </p:sp>
      <p:sp>
        <p:nvSpPr>
          <p:cNvPr id="4" name="Marcador de fecha 3">
            <a:extLst>
              <a:ext uri="{FF2B5EF4-FFF2-40B4-BE49-F238E27FC236}">
                <a16:creationId xmlns:a16="http://schemas.microsoft.com/office/drawing/2014/main" id="{1175D2AC-2C37-6C0B-7F52-63C8958F3885}"/>
              </a:ext>
            </a:extLst>
          </p:cNvPr>
          <p:cNvSpPr>
            <a:spLocks noGrp="1"/>
          </p:cNvSpPr>
          <p:nvPr>
            <p:ph type="dt" sz="half" idx="10"/>
          </p:nvPr>
        </p:nvSpPr>
        <p:spPr/>
        <p:txBody>
          <a:bodyPr/>
          <a:lstStyle/>
          <a:p>
            <a:fld id="{E3711D50-65AD-4011-ABED-0C0BE78E4818}" type="datetimeFigureOut">
              <a:rPr lang="es-GT" smtClean="0"/>
              <a:t>31/10/2026</a:t>
            </a:fld>
            <a:endParaRPr lang="es-GT"/>
          </a:p>
        </p:txBody>
      </p:sp>
      <p:sp>
        <p:nvSpPr>
          <p:cNvPr id="5" name="Marcador de pie de página 4">
            <a:extLst>
              <a:ext uri="{FF2B5EF4-FFF2-40B4-BE49-F238E27FC236}">
                <a16:creationId xmlns:a16="http://schemas.microsoft.com/office/drawing/2014/main" id="{558F1107-4FE5-1847-E123-547D54E9C0A7}"/>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C7CDD7D1-AF7F-50E7-D456-5BCE2869EAF1}"/>
              </a:ext>
            </a:extLst>
          </p:cNvPr>
          <p:cNvSpPr>
            <a:spLocks noGrp="1"/>
          </p:cNvSpPr>
          <p:nvPr>
            <p:ph type="sldNum" sz="quarter" idx="12"/>
          </p:nvPr>
        </p:nvSpPr>
        <p:spPr/>
        <p:txBody>
          <a:bodyPr/>
          <a:lstStyle/>
          <a:p>
            <a:fld id="{4F926ED1-02D9-4F4C-AF38-EBD3C37E7CF2}" type="slidenum">
              <a:rPr lang="es-GT" smtClean="0"/>
              <a:t>‹Nº›</a:t>
            </a:fld>
            <a:endParaRPr lang="es-GT"/>
          </a:p>
        </p:txBody>
      </p:sp>
    </p:spTree>
    <p:extLst>
      <p:ext uri="{BB962C8B-B14F-4D97-AF65-F5344CB8AC3E}">
        <p14:creationId xmlns:p14="http://schemas.microsoft.com/office/powerpoint/2010/main" val="317086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E1D939D-D1E9-8E30-C5C0-ECE8838F7D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GT"/>
          </a:p>
        </p:txBody>
      </p:sp>
      <p:sp>
        <p:nvSpPr>
          <p:cNvPr id="3" name="Marcador de texto 2">
            <a:extLst>
              <a:ext uri="{FF2B5EF4-FFF2-40B4-BE49-F238E27FC236}">
                <a16:creationId xmlns:a16="http://schemas.microsoft.com/office/drawing/2014/main" id="{09A73DB8-A738-0827-107F-7B5AA210A3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GT"/>
          </a:p>
        </p:txBody>
      </p:sp>
      <p:sp>
        <p:nvSpPr>
          <p:cNvPr id="4" name="Marcador de fecha 3">
            <a:extLst>
              <a:ext uri="{FF2B5EF4-FFF2-40B4-BE49-F238E27FC236}">
                <a16:creationId xmlns:a16="http://schemas.microsoft.com/office/drawing/2014/main" id="{8C8981B4-96F8-F0F5-2DF5-DBEE181776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711D50-65AD-4011-ABED-0C0BE78E4818}" type="datetimeFigureOut">
              <a:rPr lang="es-GT" smtClean="0"/>
              <a:t>31/10/2026</a:t>
            </a:fld>
            <a:endParaRPr lang="es-GT"/>
          </a:p>
        </p:txBody>
      </p:sp>
      <p:sp>
        <p:nvSpPr>
          <p:cNvPr id="5" name="Marcador de pie de página 4">
            <a:extLst>
              <a:ext uri="{FF2B5EF4-FFF2-40B4-BE49-F238E27FC236}">
                <a16:creationId xmlns:a16="http://schemas.microsoft.com/office/drawing/2014/main" id="{1125ACD5-1D9D-40E3-73A6-1CA1D6DE13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GT"/>
          </a:p>
        </p:txBody>
      </p:sp>
      <p:sp>
        <p:nvSpPr>
          <p:cNvPr id="6" name="Marcador de número de diapositiva 5">
            <a:extLst>
              <a:ext uri="{FF2B5EF4-FFF2-40B4-BE49-F238E27FC236}">
                <a16:creationId xmlns:a16="http://schemas.microsoft.com/office/drawing/2014/main" id="{0C8427C9-ABDC-15C8-AB5D-D5E4BE2821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926ED1-02D9-4F4C-AF38-EBD3C37E7CF2}" type="slidenum">
              <a:rPr lang="es-GT" smtClean="0"/>
              <a:t>‹Nº›</a:t>
            </a:fld>
            <a:endParaRPr lang="es-GT"/>
          </a:p>
        </p:txBody>
      </p:sp>
    </p:spTree>
    <p:extLst>
      <p:ext uri="{BB962C8B-B14F-4D97-AF65-F5344CB8AC3E}">
        <p14:creationId xmlns:p14="http://schemas.microsoft.com/office/powerpoint/2010/main" val="2397555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A8CFF8E-2FD2-E920-7130-0429F6AFAD03}"/>
              </a:ext>
            </a:extLst>
          </p:cNvPr>
          <p:cNvSpPr txBox="1"/>
          <p:nvPr/>
        </p:nvSpPr>
        <p:spPr>
          <a:xfrm>
            <a:off x="812800" y="1498600"/>
            <a:ext cx="7620000" cy="304800"/>
          </a:xfrm>
          <a:prstGeom prst="rect">
            <a:avLst/>
          </a:prstGeom>
          <a:noFill/>
        </p:spPr>
        <p:txBody>
          <a:bodyPr vert="horz" wrap="square" lIns="0" tIns="0" rIns="0" bIns="0" rtlCol="0" anchor="t">
            <a:noAutofit/>
          </a:bodyPr>
          <a:lstStyle/>
          <a:p>
            <a:r>
              <a:rPr lang="es-GT" sz="1400" b="1">
                <a:solidFill>
                  <a:srgbClr val="1F9D55"/>
                </a:solidFill>
                <a:latin typeface="Calibri" panose="020F0502020204030204" pitchFamily="34" charset="0"/>
              </a:rPr>
              <a:t>SISTEMAS OPERATIVOS I · PROYECTO FINAL</a:t>
            </a:r>
          </a:p>
        </p:txBody>
      </p:sp>
      <p:sp>
        <p:nvSpPr>
          <p:cNvPr id="3" name="CuadroTexto 2">
            <a:extLst>
              <a:ext uri="{FF2B5EF4-FFF2-40B4-BE49-F238E27FC236}">
                <a16:creationId xmlns:a16="http://schemas.microsoft.com/office/drawing/2014/main" id="{65DE7439-29FD-D247-DD1F-21BE7A5C184E}"/>
              </a:ext>
            </a:extLst>
          </p:cNvPr>
          <p:cNvSpPr txBox="1"/>
          <p:nvPr/>
        </p:nvSpPr>
        <p:spPr>
          <a:xfrm>
            <a:off x="812800" y="1854200"/>
            <a:ext cx="7747000" cy="1473200"/>
          </a:xfrm>
          <a:prstGeom prst="rect">
            <a:avLst/>
          </a:prstGeom>
          <a:noFill/>
        </p:spPr>
        <p:txBody>
          <a:bodyPr vert="horz" wrap="square" lIns="0" tIns="0" rIns="0" bIns="0" rtlCol="0" anchor="t">
            <a:noAutofit/>
          </a:bodyPr>
          <a:lstStyle/>
          <a:p>
            <a:r>
              <a:rPr lang="es-GT" sz="4000" b="1">
                <a:solidFill>
                  <a:srgbClr val="FFFFFF"/>
                </a:solidFill>
                <a:latin typeface="Calibri" panose="020F0502020204030204" pitchFamily="34" charset="0"/>
              </a:rPr>
              <a:t>Productor y consumidores con semáforo en Redis y MySQL</a:t>
            </a:r>
          </a:p>
        </p:txBody>
      </p:sp>
      <p:sp>
        <p:nvSpPr>
          <p:cNvPr id="4" name="CuadroTexto 3">
            <a:extLst>
              <a:ext uri="{FF2B5EF4-FFF2-40B4-BE49-F238E27FC236}">
                <a16:creationId xmlns:a16="http://schemas.microsoft.com/office/drawing/2014/main" id="{12AB6412-166C-B676-EF0D-2D9D6579D055}"/>
              </a:ext>
            </a:extLst>
          </p:cNvPr>
          <p:cNvSpPr txBox="1"/>
          <p:nvPr/>
        </p:nvSpPr>
        <p:spPr>
          <a:xfrm>
            <a:off x="812800" y="3454400"/>
            <a:ext cx="7620000" cy="381000"/>
          </a:xfrm>
          <a:prstGeom prst="rect">
            <a:avLst/>
          </a:prstGeom>
          <a:noFill/>
        </p:spPr>
        <p:txBody>
          <a:bodyPr vert="horz" wrap="square" lIns="0" tIns="0" rIns="0" bIns="0" rtlCol="0" anchor="t">
            <a:noAutofit/>
          </a:bodyPr>
          <a:lstStyle/>
          <a:p>
            <a:r>
              <a:rPr lang="es-GT" sz="2000">
                <a:solidFill>
                  <a:srgbClr val="AFC3DA"/>
                </a:solidFill>
                <a:latin typeface="Calibri" panose="020F0502020204030204" pitchFamily="34" charset="0"/>
              </a:rPr>
              <a:t>Exclusión mutua entre contenedores con Docker Compose</a:t>
            </a:r>
          </a:p>
        </p:txBody>
      </p:sp>
      <p:sp>
        <p:nvSpPr>
          <p:cNvPr id="5" name="CuadroTexto 4">
            <a:extLst>
              <a:ext uri="{FF2B5EF4-FFF2-40B4-BE49-F238E27FC236}">
                <a16:creationId xmlns:a16="http://schemas.microsoft.com/office/drawing/2014/main" id="{58F83C1C-4C09-8CF1-B866-016E0281FD78}"/>
              </a:ext>
            </a:extLst>
          </p:cNvPr>
          <p:cNvSpPr txBox="1"/>
          <p:nvPr/>
        </p:nvSpPr>
        <p:spPr>
          <a:xfrm>
            <a:off x="812800" y="4699000"/>
            <a:ext cx="7620000" cy="279400"/>
          </a:xfrm>
          <a:prstGeom prst="rect">
            <a:avLst/>
          </a:prstGeom>
          <a:noFill/>
        </p:spPr>
        <p:txBody>
          <a:bodyPr vert="horz" wrap="square" lIns="0" tIns="0" rIns="0" bIns="0" rtlCol="0" anchor="t">
            <a:noAutofit/>
          </a:bodyPr>
          <a:lstStyle/>
          <a:p>
            <a:r>
              <a:rPr lang="es-GT" sz="1600" b="1">
                <a:solidFill>
                  <a:srgbClr val="FFFFFF"/>
                </a:solidFill>
                <a:latin typeface="Calibri" panose="020F0502020204030204" pitchFamily="34" charset="0"/>
              </a:rPr>
              <a:t>Gabriel Pineda</a:t>
            </a:r>
          </a:p>
        </p:txBody>
      </p:sp>
      <p:sp>
        <p:nvSpPr>
          <p:cNvPr id="6" name="CuadroTexto 5">
            <a:extLst>
              <a:ext uri="{FF2B5EF4-FFF2-40B4-BE49-F238E27FC236}">
                <a16:creationId xmlns:a16="http://schemas.microsoft.com/office/drawing/2014/main" id="{3AD26A65-DD9A-282C-3BA8-C79E29E4B3C1}"/>
              </a:ext>
            </a:extLst>
          </p:cNvPr>
          <p:cNvSpPr txBox="1"/>
          <p:nvPr/>
        </p:nvSpPr>
        <p:spPr>
          <a:xfrm>
            <a:off x="812800" y="5003800"/>
            <a:ext cx="7620000" cy="279400"/>
          </a:xfrm>
          <a:prstGeom prst="rect">
            <a:avLst/>
          </a:prstGeom>
          <a:noFill/>
        </p:spPr>
        <p:txBody>
          <a:bodyPr vert="horz" wrap="square" lIns="0" tIns="0" rIns="0" bIns="0" rtlCol="0" anchor="t">
            <a:noAutofit/>
          </a:bodyPr>
          <a:lstStyle/>
          <a:p>
            <a:r>
              <a:rPr lang="es-GT" sz="1400">
                <a:solidFill>
                  <a:srgbClr val="AFC3DA"/>
                </a:solidFill>
                <a:latin typeface="Calibri" panose="020F0502020204030204" pitchFamily="34" charset="0"/>
              </a:rPr>
              <a:t>Universidad Mariano Gálvez de Guatemala · Octubre 2026</a:t>
            </a:r>
          </a:p>
        </p:txBody>
      </p:sp>
      <p:sp>
        <p:nvSpPr>
          <p:cNvPr id="7" name="Rectángulo: esquinas redondeadas 6">
            <a:extLst>
              <a:ext uri="{FF2B5EF4-FFF2-40B4-BE49-F238E27FC236}">
                <a16:creationId xmlns:a16="http://schemas.microsoft.com/office/drawing/2014/main" id="{27720C27-8C6C-A02E-0078-427CB608EC6C}"/>
              </a:ext>
            </a:extLst>
          </p:cNvPr>
          <p:cNvSpPr/>
          <p:nvPr/>
        </p:nvSpPr>
        <p:spPr>
          <a:xfrm>
            <a:off x="812800" y="5664200"/>
            <a:ext cx="1117600" cy="355600"/>
          </a:xfrm>
          <a:prstGeom prst="roundRect">
            <a:avLst>
              <a:gd name="adj" fmla="val 8000"/>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300" b="1">
                <a:solidFill>
                  <a:srgbClr val="AFC3DA"/>
                </a:solidFill>
                <a:latin typeface="Calibri" panose="020F0502020204030204" pitchFamily="34" charset="0"/>
              </a:rPr>
              <a:t>Docker</a:t>
            </a:r>
          </a:p>
        </p:txBody>
      </p:sp>
      <p:sp>
        <p:nvSpPr>
          <p:cNvPr id="8" name="Rectángulo: esquinas redondeadas 7">
            <a:extLst>
              <a:ext uri="{FF2B5EF4-FFF2-40B4-BE49-F238E27FC236}">
                <a16:creationId xmlns:a16="http://schemas.microsoft.com/office/drawing/2014/main" id="{FD80F8E3-60C1-7F7A-8B57-EF40E514AAD5}"/>
              </a:ext>
            </a:extLst>
          </p:cNvPr>
          <p:cNvSpPr/>
          <p:nvPr/>
        </p:nvSpPr>
        <p:spPr>
          <a:xfrm>
            <a:off x="2057400" y="5664200"/>
            <a:ext cx="1117600" cy="355600"/>
          </a:xfrm>
          <a:prstGeom prst="roundRect">
            <a:avLst>
              <a:gd name="adj" fmla="val 8000"/>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300" b="1">
                <a:solidFill>
                  <a:srgbClr val="AFC3DA"/>
                </a:solidFill>
                <a:latin typeface="Calibri" panose="020F0502020204030204" pitchFamily="34" charset="0"/>
              </a:rPr>
              <a:t>MySQL</a:t>
            </a:r>
          </a:p>
        </p:txBody>
      </p:sp>
      <p:sp>
        <p:nvSpPr>
          <p:cNvPr id="9" name="Rectángulo: esquinas redondeadas 8">
            <a:extLst>
              <a:ext uri="{FF2B5EF4-FFF2-40B4-BE49-F238E27FC236}">
                <a16:creationId xmlns:a16="http://schemas.microsoft.com/office/drawing/2014/main" id="{7D2B60BF-BBBF-6EF2-4060-50B67897B0EF}"/>
              </a:ext>
            </a:extLst>
          </p:cNvPr>
          <p:cNvSpPr/>
          <p:nvPr/>
        </p:nvSpPr>
        <p:spPr>
          <a:xfrm>
            <a:off x="3302000" y="5664200"/>
            <a:ext cx="1117600" cy="355600"/>
          </a:xfrm>
          <a:prstGeom prst="roundRect">
            <a:avLst>
              <a:gd name="adj" fmla="val 8000"/>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300" b="1">
                <a:solidFill>
                  <a:srgbClr val="AFC3DA"/>
                </a:solidFill>
                <a:latin typeface="Calibri" panose="020F0502020204030204" pitchFamily="34" charset="0"/>
              </a:rPr>
              <a:t>Redis</a:t>
            </a:r>
          </a:p>
        </p:txBody>
      </p:sp>
      <p:sp>
        <p:nvSpPr>
          <p:cNvPr id="10" name="Rectángulo: esquinas redondeadas 9">
            <a:extLst>
              <a:ext uri="{FF2B5EF4-FFF2-40B4-BE49-F238E27FC236}">
                <a16:creationId xmlns:a16="http://schemas.microsoft.com/office/drawing/2014/main" id="{BDAF2FCD-86DC-8A37-943D-9421E78FFE8E}"/>
              </a:ext>
            </a:extLst>
          </p:cNvPr>
          <p:cNvSpPr/>
          <p:nvPr/>
        </p:nvSpPr>
        <p:spPr>
          <a:xfrm>
            <a:off x="4546600" y="5664200"/>
            <a:ext cx="1117600" cy="355600"/>
          </a:xfrm>
          <a:prstGeom prst="roundRect">
            <a:avLst>
              <a:gd name="adj" fmla="val 8000"/>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300" b="1">
                <a:solidFill>
                  <a:srgbClr val="AFC3DA"/>
                </a:solidFill>
                <a:latin typeface="Calibri" panose="020F0502020204030204" pitchFamily="34" charset="0"/>
              </a:rPr>
              <a:t>Python</a:t>
            </a:r>
          </a:p>
        </p:txBody>
      </p:sp>
      <p:sp>
        <p:nvSpPr>
          <p:cNvPr id="11" name="Rectángulo: esquinas redondeadas 10">
            <a:extLst>
              <a:ext uri="{FF2B5EF4-FFF2-40B4-BE49-F238E27FC236}">
                <a16:creationId xmlns:a16="http://schemas.microsoft.com/office/drawing/2014/main" id="{6FF60AA5-19FE-22EF-3ECE-9C52F5CF92F4}"/>
              </a:ext>
            </a:extLst>
          </p:cNvPr>
          <p:cNvSpPr/>
          <p:nvPr/>
        </p:nvSpPr>
        <p:spPr>
          <a:xfrm>
            <a:off x="9271000" y="1206500"/>
            <a:ext cx="1905000" cy="4445000"/>
          </a:xfrm>
          <a:prstGeom prst="roundRect">
            <a:avLst>
              <a:gd name="adj" fmla="val 8000"/>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2" name="Elipse 11">
            <a:extLst>
              <a:ext uri="{FF2B5EF4-FFF2-40B4-BE49-F238E27FC236}">
                <a16:creationId xmlns:a16="http://schemas.microsoft.com/office/drawing/2014/main" id="{18A43D65-233F-D259-7068-C0666533C429}"/>
              </a:ext>
            </a:extLst>
          </p:cNvPr>
          <p:cNvSpPr/>
          <p:nvPr/>
        </p:nvSpPr>
        <p:spPr>
          <a:xfrm>
            <a:off x="9613900" y="1422400"/>
            <a:ext cx="1219200" cy="1219200"/>
          </a:xfrm>
          <a:prstGeom prst="ellipse">
            <a:avLst/>
          </a:prstGeom>
          <a:solidFill>
            <a:srgbClr val="D64545">
              <a:alpha val="2500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3" name="Elipse 12">
            <a:extLst>
              <a:ext uri="{FF2B5EF4-FFF2-40B4-BE49-F238E27FC236}">
                <a16:creationId xmlns:a16="http://schemas.microsoft.com/office/drawing/2014/main" id="{DD4EAA12-3F18-7255-CA8F-F2621CCCFEE1}"/>
              </a:ext>
            </a:extLst>
          </p:cNvPr>
          <p:cNvSpPr/>
          <p:nvPr/>
        </p:nvSpPr>
        <p:spPr>
          <a:xfrm>
            <a:off x="9613900" y="2819400"/>
            <a:ext cx="1219200" cy="1219200"/>
          </a:xfrm>
          <a:prstGeom prst="ellipse">
            <a:avLst/>
          </a:prstGeom>
          <a:solidFill>
            <a:srgbClr val="E8A33D">
              <a:alpha val="2500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4" name="Elipse 13">
            <a:extLst>
              <a:ext uri="{FF2B5EF4-FFF2-40B4-BE49-F238E27FC236}">
                <a16:creationId xmlns:a16="http://schemas.microsoft.com/office/drawing/2014/main" id="{489B0A74-8133-17A2-397B-DF9C109B8CE2}"/>
              </a:ext>
            </a:extLst>
          </p:cNvPr>
          <p:cNvSpPr/>
          <p:nvPr/>
        </p:nvSpPr>
        <p:spPr>
          <a:xfrm>
            <a:off x="9613900" y="4216400"/>
            <a:ext cx="1219200" cy="12192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Tree>
    <p:extLst>
      <p:ext uri="{BB962C8B-B14F-4D97-AF65-F5344CB8AC3E}">
        <p14:creationId xmlns:p14="http://schemas.microsoft.com/office/powerpoint/2010/main" val="2728789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9FECB29-7CAE-54DD-6F9D-C96E5890CDCC}"/>
              </a:ext>
            </a:extLst>
          </p:cNvPr>
          <p:cNvSpPr txBox="1"/>
          <p:nvPr/>
        </p:nvSpPr>
        <p:spPr>
          <a:xfrm>
            <a:off x="609600" y="406400"/>
            <a:ext cx="10033000" cy="635000"/>
          </a:xfrm>
          <a:prstGeom prst="rect">
            <a:avLst/>
          </a:prstGeom>
          <a:noFill/>
        </p:spPr>
        <p:txBody>
          <a:bodyPr vert="horz" wrap="square" lIns="0" tIns="0" rIns="0" bIns="0" rtlCol="0" anchor="ctr">
            <a:noAutofit/>
          </a:bodyPr>
          <a:lstStyle/>
          <a:p>
            <a:r>
              <a:rPr lang="es-GT" sz="3200" b="1">
                <a:solidFill>
                  <a:srgbClr val="1B2A41"/>
                </a:solidFill>
                <a:latin typeface="Calibri" panose="020F0502020204030204" pitchFamily="34" charset="0"/>
              </a:rPr>
              <a:t>El problema: dos consumidores, una misma fila</a:t>
            </a:r>
          </a:p>
        </p:txBody>
      </p:sp>
      <p:sp>
        <p:nvSpPr>
          <p:cNvPr id="3" name="Elipse 2">
            <a:extLst>
              <a:ext uri="{FF2B5EF4-FFF2-40B4-BE49-F238E27FC236}">
                <a16:creationId xmlns:a16="http://schemas.microsoft.com/office/drawing/2014/main" id="{65F53A9E-E65B-684B-DEEE-5B0069FF56F8}"/>
              </a:ext>
            </a:extLst>
          </p:cNvPr>
          <p:cNvSpPr/>
          <p:nvPr/>
        </p:nvSpPr>
        <p:spPr>
          <a:xfrm>
            <a:off x="11023600" y="635000"/>
            <a:ext cx="152400" cy="152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Elipse 3">
            <a:extLst>
              <a:ext uri="{FF2B5EF4-FFF2-40B4-BE49-F238E27FC236}">
                <a16:creationId xmlns:a16="http://schemas.microsoft.com/office/drawing/2014/main" id="{58908960-9876-147C-05C3-F9DFA4E8B8E0}"/>
              </a:ext>
            </a:extLst>
          </p:cNvPr>
          <p:cNvSpPr/>
          <p:nvPr/>
        </p:nvSpPr>
        <p:spPr>
          <a:xfrm>
            <a:off x="11252200" y="635000"/>
            <a:ext cx="152400" cy="1524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5" name="Elipse 4">
            <a:extLst>
              <a:ext uri="{FF2B5EF4-FFF2-40B4-BE49-F238E27FC236}">
                <a16:creationId xmlns:a16="http://schemas.microsoft.com/office/drawing/2014/main" id="{694095D9-0172-FC25-CB5B-9C8BF73D8C4B}"/>
              </a:ext>
            </a:extLst>
          </p:cNvPr>
          <p:cNvSpPr/>
          <p:nvPr/>
        </p:nvSpPr>
        <p:spPr>
          <a:xfrm>
            <a:off x="11480800" y="635000"/>
            <a:ext cx="152400" cy="152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Rectángulo: esquinas redondeadas 5">
            <a:extLst>
              <a:ext uri="{FF2B5EF4-FFF2-40B4-BE49-F238E27FC236}">
                <a16:creationId xmlns:a16="http://schemas.microsoft.com/office/drawing/2014/main" id="{96D84D21-AB01-73A9-990B-0D952007FA08}"/>
              </a:ext>
            </a:extLst>
          </p:cNvPr>
          <p:cNvSpPr/>
          <p:nvPr/>
        </p:nvSpPr>
        <p:spPr>
          <a:xfrm>
            <a:off x="762000" y="2540000"/>
            <a:ext cx="2286000" cy="1016000"/>
          </a:xfrm>
          <a:prstGeom prst="roundRect">
            <a:avLst>
              <a:gd name="adj" fmla="val 8000"/>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60960" rIns="101600" bIns="60960" rtlCol="0" anchor="ctr"/>
          <a:lstStyle/>
          <a:p>
            <a:pPr algn="ctr"/>
            <a:r>
              <a:rPr lang="es-GT" b="1">
                <a:solidFill>
                  <a:srgbClr val="FFFFFF"/>
                </a:solidFill>
                <a:latin typeface="Calibri" panose="020F0502020204030204" pitchFamily="34" charset="0"/>
              </a:rPr>
              <a:t>Productor</a:t>
            </a:r>
          </a:p>
          <a:p>
            <a:pPr algn="ctr"/>
            <a:r>
              <a:rPr lang="es-GT" sz="1200">
                <a:solidFill>
                  <a:srgbClr val="AFC3DA"/>
                </a:solidFill>
                <a:latin typeface="Calibri" panose="020F0502020204030204" pitchFamily="34" charset="0"/>
              </a:rPr>
              <a:t>inserta transacciones</a:t>
            </a:r>
          </a:p>
        </p:txBody>
      </p:sp>
      <p:cxnSp>
        <p:nvCxnSpPr>
          <p:cNvPr id="7" name="Conector recto 6">
            <a:extLst>
              <a:ext uri="{FF2B5EF4-FFF2-40B4-BE49-F238E27FC236}">
                <a16:creationId xmlns:a16="http://schemas.microsoft.com/office/drawing/2014/main" id="{160BB978-5529-089A-7340-58F2DCDF1EA6}"/>
              </a:ext>
            </a:extLst>
          </p:cNvPr>
          <p:cNvCxnSpPr/>
          <p:nvPr/>
        </p:nvCxnSpPr>
        <p:spPr>
          <a:xfrm>
            <a:off x="3048000" y="3048000"/>
            <a:ext cx="762000" cy="0"/>
          </a:xfrm>
          <a:prstGeom prst="line">
            <a:avLst/>
          </a:prstGeom>
          <a:ln w="25400">
            <a:solidFill>
              <a:srgbClr val="5B6B82"/>
            </a:solidFill>
            <a:tailEnd type="triangle"/>
          </a:ln>
        </p:spPr>
        <p:style>
          <a:lnRef idx="2">
            <a:schemeClr val="accent1"/>
          </a:lnRef>
          <a:fillRef idx="0">
            <a:schemeClr val="accent1"/>
          </a:fillRef>
          <a:effectRef idx="1">
            <a:schemeClr val="accent1"/>
          </a:effectRef>
          <a:fontRef idx="minor">
            <a:schemeClr val="tx1"/>
          </a:fontRef>
        </p:style>
      </p:cxnSp>
      <p:sp>
        <p:nvSpPr>
          <p:cNvPr id="8" name="Rectángulo: esquinas redondeadas 7">
            <a:extLst>
              <a:ext uri="{FF2B5EF4-FFF2-40B4-BE49-F238E27FC236}">
                <a16:creationId xmlns:a16="http://schemas.microsoft.com/office/drawing/2014/main" id="{F59E7639-0FAE-0B2B-FCB0-36B786F51640}"/>
              </a:ext>
            </a:extLst>
          </p:cNvPr>
          <p:cNvSpPr/>
          <p:nvPr/>
        </p:nvSpPr>
        <p:spPr>
          <a:xfrm>
            <a:off x="3810000" y="2286000"/>
            <a:ext cx="3302000" cy="15240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60960" rIns="101600" bIns="60960" rtlCol="0" anchor="ctr"/>
          <a:lstStyle/>
          <a:p>
            <a:pPr algn="ctr"/>
            <a:r>
              <a:rPr lang="es-GT" sz="1700" b="1">
                <a:solidFill>
                  <a:srgbClr val="1B2A41"/>
                </a:solidFill>
                <a:latin typeface="Calibri" panose="020F0502020204030204" pitchFamily="34" charset="0"/>
              </a:rPr>
              <a:t>MySQL · transacciones</a:t>
            </a:r>
          </a:p>
          <a:p>
            <a:pPr algn="ctr"/>
            <a:r>
              <a:rPr lang="es-GT" sz="1600">
                <a:solidFill>
                  <a:srgbClr val="D64545"/>
                </a:solidFill>
                <a:latin typeface="Calibri" panose="020F0502020204030204" pitchFamily="34" charset="0"/>
              </a:rPr>
              <a:t>id=7   PENDIENTE</a:t>
            </a:r>
          </a:p>
        </p:txBody>
      </p:sp>
      <p:sp>
        <p:nvSpPr>
          <p:cNvPr id="9" name="Rectángulo: esquinas redondeadas 8">
            <a:extLst>
              <a:ext uri="{FF2B5EF4-FFF2-40B4-BE49-F238E27FC236}">
                <a16:creationId xmlns:a16="http://schemas.microsoft.com/office/drawing/2014/main" id="{F6E9D43C-622F-66A7-250C-72AD516E7064}"/>
              </a:ext>
            </a:extLst>
          </p:cNvPr>
          <p:cNvSpPr/>
          <p:nvPr/>
        </p:nvSpPr>
        <p:spPr>
          <a:xfrm>
            <a:off x="8763000" y="1524000"/>
            <a:ext cx="2667000" cy="1016000"/>
          </a:xfrm>
          <a:prstGeom prst="roundRect">
            <a:avLst>
              <a:gd name="adj" fmla="val 8000"/>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60960" rIns="101600" bIns="60960" rtlCol="0" anchor="ctr"/>
          <a:lstStyle/>
          <a:p>
            <a:pPr algn="ctr"/>
            <a:r>
              <a:rPr lang="es-GT" b="1">
                <a:solidFill>
                  <a:srgbClr val="FFFFFF"/>
                </a:solidFill>
                <a:latin typeface="Calibri" panose="020F0502020204030204" pitchFamily="34" charset="0"/>
              </a:rPr>
              <a:t>Consumidor 1</a:t>
            </a:r>
          </a:p>
        </p:txBody>
      </p:sp>
      <p:sp>
        <p:nvSpPr>
          <p:cNvPr id="10" name="Rectángulo: esquinas redondeadas 9">
            <a:extLst>
              <a:ext uri="{FF2B5EF4-FFF2-40B4-BE49-F238E27FC236}">
                <a16:creationId xmlns:a16="http://schemas.microsoft.com/office/drawing/2014/main" id="{8F3E15F1-CD29-F0E6-A281-39935F68598A}"/>
              </a:ext>
            </a:extLst>
          </p:cNvPr>
          <p:cNvSpPr/>
          <p:nvPr/>
        </p:nvSpPr>
        <p:spPr>
          <a:xfrm>
            <a:off x="8763000" y="3556000"/>
            <a:ext cx="2667000" cy="1016000"/>
          </a:xfrm>
          <a:prstGeom prst="roundRect">
            <a:avLst>
              <a:gd name="adj" fmla="val 8000"/>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60960" rIns="101600" bIns="60960" rtlCol="0" anchor="ctr"/>
          <a:lstStyle/>
          <a:p>
            <a:pPr algn="ctr"/>
            <a:r>
              <a:rPr lang="es-GT" b="1">
                <a:solidFill>
                  <a:srgbClr val="FFFFFF"/>
                </a:solidFill>
                <a:latin typeface="Calibri" panose="020F0502020204030204" pitchFamily="34" charset="0"/>
              </a:rPr>
              <a:t>Consumidor 2</a:t>
            </a:r>
          </a:p>
        </p:txBody>
      </p:sp>
      <p:cxnSp>
        <p:nvCxnSpPr>
          <p:cNvPr id="11" name="Conector recto 10">
            <a:extLst>
              <a:ext uri="{FF2B5EF4-FFF2-40B4-BE49-F238E27FC236}">
                <a16:creationId xmlns:a16="http://schemas.microsoft.com/office/drawing/2014/main" id="{3DFA9AB6-78A9-92EC-7E52-D9B9908D06C8}"/>
              </a:ext>
            </a:extLst>
          </p:cNvPr>
          <p:cNvCxnSpPr/>
          <p:nvPr/>
        </p:nvCxnSpPr>
        <p:spPr>
          <a:xfrm flipV="1">
            <a:off x="7112000" y="2032000"/>
            <a:ext cx="1651000" cy="762000"/>
          </a:xfrm>
          <a:prstGeom prst="line">
            <a:avLst/>
          </a:prstGeom>
          <a:ln w="31750">
            <a:solidFill>
              <a:srgbClr val="D64545"/>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D33F2EA1-D2E7-7B22-310B-2D4D3BB99032}"/>
              </a:ext>
            </a:extLst>
          </p:cNvPr>
          <p:cNvCxnSpPr/>
          <p:nvPr/>
        </p:nvCxnSpPr>
        <p:spPr>
          <a:xfrm>
            <a:off x="7112000" y="3302000"/>
            <a:ext cx="1651000" cy="762000"/>
          </a:xfrm>
          <a:prstGeom prst="line">
            <a:avLst/>
          </a:prstGeom>
          <a:ln w="31750">
            <a:solidFill>
              <a:srgbClr val="D64545"/>
            </a:solidFill>
            <a:tailEnd type="triangle"/>
          </a:ln>
        </p:spPr>
        <p:style>
          <a:lnRef idx="2">
            <a:schemeClr val="accent1"/>
          </a:lnRef>
          <a:fillRef idx="0">
            <a:schemeClr val="accent1"/>
          </a:fillRef>
          <a:effectRef idx="1">
            <a:schemeClr val="accent1"/>
          </a:effectRef>
          <a:fontRef idx="minor">
            <a:schemeClr val="tx1"/>
          </a:fontRef>
        </p:style>
      </p:cxnSp>
      <p:sp>
        <p:nvSpPr>
          <p:cNvPr id="13" name="CuadroTexto 12">
            <a:extLst>
              <a:ext uri="{FF2B5EF4-FFF2-40B4-BE49-F238E27FC236}">
                <a16:creationId xmlns:a16="http://schemas.microsoft.com/office/drawing/2014/main" id="{44F59C8A-0D79-EFF0-D16C-8DFF884B35BF}"/>
              </a:ext>
            </a:extLst>
          </p:cNvPr>
          <p:cNvSpPr txBox="1"/>
          <p:nvPr/>
        </p:nvSpPr>
        <p:spPr>
          <a:xfrm>
            <a:off x="7264400" y="1905000"/>
            <a:ext cx="1524000" cy="254000"/>
          </a:xfrm>
          <a:prstGeom prst="rect">
            <a:avLst/>
          </a:prstGeom>
          <a:noFill/>
        </p:spPr>
        <p:txBody>
          <a:bodyPr vert="horz" wrap="square" lIns="0" tIns="0" rIns="0" bIns="0" rtlCol="0" anchor="t">
            <a:noAutofit/>
          </a:bodyPr>
          <a:lstStyle/>
          <a:p>
            <a:r>
              <a:rPr lang="es-GT" sz="1300" b="1">
                <a:solidFill>
                  <a:srgbClr val="D64545"/>
                </a:solidFill>
                <a:latin typeface="Calibri" panose="020F0502020204030204" pitchFamily="34" charset="0"/>
              </a:rPr>
              <a:t>lee id=7</a:t>
            </a:r>
          </a:p>
        </p:txBody>
      </p:sp>
      <p:sp>
        <p:nvSpPr>
          <p:cNvPr id="14" name="CuadroTexto 13">
            <a:extLst>
              <a:ext uri="{FF2B5EF4-FFF2-40B4-BE49-F238E27FC236}">
                <a16:creationId xmlns:a16="http://schemas.microsoft.com/office/drawing/2014/main" id="{343E12B0-1968-7CF1-47BC-FBA2F7D91EE3}"/>
              </a:ext>
            </a:extLst>
          </p:cNvPr>
          <p:cNvSpPr txBox="1"/>
          <p:nvPr/>
        </p:nvSpPr>
        <p:spPr>
          <a:xfrm>
            <a:off x="7264400" y="4038600"/>
            <a:ext cx="1524000" cy="254000"/>
          </a:xfrm>
          <a:prstGeom prst="rect">
            <a:avLst/>
          </a:prstGeom>
          <a:noFill/>
        </p:spPr>
        <p:txBody>
          <a:bodyPr vert="horz" wrap="square" lIns="0" tIns="0" rIns="0" bIns="0" rtlCol="0" anchor="t">
            <a:noAutofit/>
          </a:bodyPr>
          <a:lstStyle/>
          <a:p>
            <a:r>
              <a:rPr lang="es-GT" sz="1300" b="1">
                <a:solidFill>
                  <a:srgbClr val="D64545"/>
                </a:solidFill>
                <a:latin typeface="Calibri" panose="020F0502020204030204" pitchFamily="34" charset="0"/>
              </a:rPr>
              <a:t>lee id=7</a:t>
            </a:r>
          </a:p>
        </p:txBody>
      </p:sp>
      <p:sp>
        <p:nvSpPr>
          <p:cNvPr id="15" name="Rectángulo: esquinas redondeadas 14">
            <a:extLst>
              <a:ext uri="{FF2B5EF4-FFF2-40B4-BE49-F238E27FC236}">
                <a16:creationId xmlns:a16="http://schemas.microsoft.com/office/drawing/2014/main" id="{335221EE-3F91-CA17-4D50-8F83524CCA29}"/>
              </a:ext>
            </a:extLst>
          </p:cNvPr>
          <p:cNvSpPr/>
          <p:nvPr/>
        </p:nvSpPr>
        <p:spPr>
          <a:xfrm>
            <a:off x="609600" y="4902200"/>
            <a:ext cx="10972800" cy="1270000"/>
          </a:xfrm>
          <a:prstGeom prst="roundRect">
            <a:avLst>
              <a:gd name="adj" fmla="val 8000"/>
            </a:avLst>
          </a:prstGeom>
          <a:solidFill>
            <a:srgbClr val="FBEA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6" name="Elipse 15">
            <a:extLst>
              <a:ext uri="{FF2B5EF4-FFF2-40B4-BE49-F238E27FC236}">
                <a16:creationId xmlns:a16="http://schemas.microsoft.com/office/drawing/2014/main" id="{6910392C-9F77-3529-417C-65D5E0CCB638}"/>
              </a:ext>
            </a:extLst>
          </p:cNvPr>
          <p:cNvSpPr/>
          <p:nvPr/>
        </p:nvSpPr>
        <p:spPr>
          <a:xfrm>
            <a:off x="863600" y="5232400"/>
            <a:ext cx="609600" cy="6096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2600" b="1">
                <a:solidFill>
                  <a:srgbClr val="FFFFFF"/>
                </a:solidFill>
                <a:latin typeface="Calibri" panose="020F0502020204030204" pitchFamily="34" charset="0"/>
              </a:rPr>
              <a:t>!</a:t>
            </a:r>
          </a:p>
        </p:txBody>
      </p:sp>
      <p:sp>
        <p:nvSpPr>
          <p:cNvPr id="17" name="CuadroTexto 16">
            <a:extLst>
              <a:ext uri="{FF2B5EF4-FFF2-40B4-BE49-F238E27FC236}">
                <a16:creationId xmlns:a16="http://schemas.microsoft.com/office/drawing/2014/main" id="{A7ACE583-1FF9-9A00-C1FF-90EB7DC72656}"/>
              </a:ext>
            </a:extLst>
          </p:cNvPr>
          <p:cNvSpPr txBox="1"/>
          <p:nvPr/>
        </p:nvSpPr>
        <p:spPr>
          <a:xfrm>
            <a:off x="1727200" y="5054600"/>
            <a:ext cx="9525000" cy="965200"/>
          </a:xfrm>
          <a:prstGeom prst="rect">
            <a:avLst/>
          </a:prstGeom>
          <a:noFill/>
        </p:spPr>
        <p:txBody>
          <a:bodyPr vert="horz" wrap="square" lIns="0" tIns="0" rIns="0" bIns="0" rtlCol="0" anchor="ctr">
            <a:noAutofit/>
          </a:bodyPr>
          <a:lstStyle/>
          <a:p>
            <a:r>
              <a:rPr lang="es-GT" sz="1600">
                <a:solidFill>
                  <a:srgbClr val="1B2A41"/>
                </a:solidFill>
                <a:latin typeface="Calibri" panose="020F0502020204030204" pitchFamily="34" charset="0"/>
              </a:rPr>
              <a:t>Leer → procesar (1–3 s) → actualizar </a:t>
            </a:r>
            <a:r>
              <a:rPr lang="es-GT" sz="1600" b="1">
                <a:solidFill>
                  <a:srgbClr val="1B2A41"/>
                </a:solidFill>
                <a:latin typeface="Calibri" panose="020F0502020204030204" pitchFamily="34" charset="0"/>
              </a:rPr>
              <a:t>no es una operación atómica</a:t>
            </a:r>
            <a:r>
              <a:rPr lang="es-GT" sz="1600">
                <a:solidFill>
                  <a:srgbClr val="1B2A41"/>
                </a:solidFill>
                <a:latin typeface="Calibri" panose="020F0502020204030204" pitchFamily="34" charset="0"/>
              </a:rPr>
              <a:t>. Si los dos consumidores leen en ese intervalo, ambos procesan la misma transacción: en un banco, un depósito aplicado dos veces.</a:t>
            </a:r>
          </a:p>
        </p:txBody>
      </p:sp>
      <p:sp>
        <p:nvSpPr>
          <p:cNvPr id="18" name="CuadroTexto 17">
            <a:extLst>
              <a:ext uri="{FF2B5EF4-FFF2-40B4-BE49-F238E27FC236}">
                <a16:creationId xmlns:a16="http://schemas.microsoft.com/office/drawing/2014/main" id="{41E625E9-3188-1832-37E8-55626FD2E6F0}"/>
              </a:ext>
            </a:extLst>
          </p:cNvPr>
          <p:cNvSpPr txBox="1"/>
          <p:nvPr/>
        </p:nvSpPr>
        <p:spPr>
          <a:xfrm>
            <a:off x="609600" y="6451600"/>
            <a:ext cx="6604000" cy="228600"/>
          </a:xfrm>
          <a:prstGeom prst="rect">
            <a:avLst/>
          </a:prstGeom>
          <a:noFill/>
        </p:spPr>
        <p:txBody>
          <a:bodyPr vert="horz" wrap="square" lIns="0" tIns="0" rIns="0" bIns="0" rtlCol="0" anchor="t">
            <a:noAutofit/>
          </a:bodyPr>
          <a:lstStyle/>
          <a:p>
            <a:r>
              <a:rPr lang="es-GT" sz="1000">
                <a:solidFill>
                  <a:srgbClr val="5B6B82"/>
                </a:solidFill>
                <a:latin typeface="Calibri" panose="020F0502020204030204" pitchFamily="34" charset="0"/>
              </a:rPr>
              <a:t>Productor y consumidores con semáforo · Sistemas Operativos I</a:t>
            </a:r>
          </a:p>
        </p:txBody>
      </p:sp>
      <p:sp>
        <p:nvSpPr>
          <p:cNvPr id="19" name="CuadroTexto 18">
            <a:extLst>
              <a:ext uri="{FF2B5EF4-FFF2-40B4-BE49-F238E27FC236}">
                <a16:creationId xmlns:a16="http://schemas.microsoft.com/office/drawing/2014/main" id="{8F4E09F3-B3B0-19DF-93DB-E2AE61461E3A}"/>
              </a:ext>
            </a:extLst>
          </p:cNvPr>
          <p:cNvSpPr txBox="1"/>
          <p:nvPr/>
        </p:nvSpPr>
        <p:spPr>
          <a:xfrm>
            <a:off x="10312400" y="6451600"/>
            <a:ext cx="1270000" cy="228600"/>
          </a:xfrm>
          <a:prstGeom prst="rect">
            <a:avLst/>
          </a:prstGeom>
          <a:noFill/>
        </p:spPr>
        <p:txBody>
          <a:bodyPr vert="horz" wrap="square" lIns="0" tIns="0" rIns="0" bIns="0" rtlCol="0" anchor="t">
            <a:noAutofit/>
          </a:bodyPr>
          <a:lstStyle/>
          <a:p>
            <a:pPr algn="r"/>
            <a:r>
              <a:rPr lang="es-GT" sz="1000">
                <a:solidFill>
                  <a:srgbClr val="5B6B82"/>
                </a:solidFill>
                <a:latin typeface="Calibri" panose="020F0502020204030204" pitchFamily="34" charset="0"/>
              </a:rPr>
              <a:t>2</a:t>
            </a:r>
          </a:p>
        </p:txBody>
      </p:sp>
    </p:spTree>
    <p:extLst>
      <p:ext uri="{BB962C8B-B14F-4D97-AF65-F5344CB8AC3E}">
        <p14:creationId xmlns:p14="http://schemas.microsoft.com/office/powerpoint/2010/main" val="4098680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D2FB74B-7468-3B5F-A46C-88806AE3B31D}"/>
              </a:ext>
            </a:extLst>
          </p:cNvPr>
          <p:cNvSpPr txBox="1"/>
          <p:nvPr/>
        </p:nvSpPr>
        <p:spPr>
          <a:xfrm>
            <a:off x="609600" y="406400"/>
            <a:ext cx="10033000" cy="635000"/>
          </a:xfrm>
          <a:prstGeom prst="rect">
            <a:avLst/>
          </a:prstGeom>
          <a:noFill/>
        </p:spPr>
        <p:txBody>
          <a:bodyPr vert="horz" wrap="square" lIns="0" tIns="0" rIns="0" bIns="0" rtlCol="0" anchor="ctr">
            <a:noAutofit/>
          </a:bodyPr>
          <a:lstStyle/>
          <a:p>
            <a:r>
              <a:rPr lang="es-GT" sz="3200" b="1">
                <a:solidFill>
                  <a:srgbClr val="1B2A41"/>
                </a:solidFill>
                <a:latin typeface="Calibri" panose="020F0502020204030204" pitchFamily="34" charset="0"/>
              </a:rPr>
              <a:t>Objetivos del proyecto</a:t>
            </a:r>
          </a:p>
        </p:txBody>
      </p:sp>
      <p:sp>
        <p:nvSpPr>
          <p:cNvPr id="3" name="Elipse 2">
            <a:extLst>
              <a:ext uri="{FF2B5EF4-FFF2-40B4-BE49-F238E27FC236}">
                <a16:creationId xmlns:a16="http://schemas.microsoft.com/office/drawing/2014/main" id="{91A4F212-A1F1-83EE-E972-F132871ACB5A}"/>
              </a:ext>
            </a:extLst>
          </p:cNvPr>
          <p:cNvSpPr/>
          <p:nvPr/>
        </p:nvSpPr>
        <p:spPr>
          <a:xfrm>
            <a:off x="11023600" y="635000"/>
            <a:ext cx="152400" cy="152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Elipse 3">
            <a:extLst>
              <a:ext uri="{FF2B5EF4-FFF2-40B4-BE49-F238E27FC236}">
                <a16:creationId xmlns:a16="http://schemas.microsoft.com/office/drawing/2014/main" id="{8B96E945-D981-7849-AB22-31C10754D615}"/>
              </a:ext>
            </a:extLst>
          </p:cNvPr>
          <p:cNvSpPr/>
          <p:nvPr/>
        </p:nvSpPr>
        <p:spPr>
          <a:xfrm>
            <a:off x="11252200" y="635000"/>
            <a:ext cx="152400" cy="1524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5" name="Elipse 4">
            <a:extLst>
              <a:ext uri="{FF2B5EF4-FFF2-40B4-BE49-F238E27FC236}">
                <a16:creationId xmlns:a16="http://schemas.microsoft.com/office/drawing/2014/main" id="{634A6A7A-F619-1DB1-F447-5FE2C4F25768}"/>
              </a:ext>
            </a:extLst>
          </p:cNvPr>
          <p:cNvSpPr/>
          <p:nvPr/>
        </p:nvSpPr>
        <p:spPr>
          <a:xfrm>
            <a:off x="11480800" y="635000"/>
            <a:ext cx="152400" cy="152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Rectángulo: esquinas redondeadas 5">
            <a:extLst>
              <a:ext uri="{FF2B5EF4-FFF2-40B4-BE49-F238E27FC236}">
                <a16:creationId xmlns:a16="http://schemas.microsoft.com/office/drawing/2014/main" id="{A799EE4B-FD6F-4DA8-C992-8B8986F691DA}"/>
              </a:ext>
            </a:extLst>
          </p:cNvPr>
          <p:cNvSpPr/>
          <p:nvPr/>
        </p:nvSpPr>
        <p:spPr>
          <a:xfrm>
            <a:off x="609600" y="1422400"/>
            <a:ext cx="10972800" cy="8128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7" name="Elipse 6">
            <a:extLst>
              <a:ext uri="{FF2B5EF4-FFF2-40B4-BE49-F238E27FC236}">
                <a16:creationId xmlns:a16="http://schemas.microsoft.com/office/drawing/2014/main" id="{3CAF28DD-8A70-8D05-9225-B95EEBE3CC85}"/>
              </a:ext>
            </a:extLst>
          </p:cNvPr>
          <p:cNvSpPr/>
          <p:nvPr/>
        </p:nvSpPr>
        <p:spPr>
          <a:xfrm>
            <a:off x="812800" y="1574800"/>
            <a:ext cx="508000" cy="508000"/>
          </a:xfrm>
          <a:prstGeom prst="ellipse">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b="1">
                <a:solidFill>
                  <a:srgbClr val="FFFFFF"/>
                </a:solidFill>
                <a:latin typeface="Calibri" panose="020F0502020204030204" pitchFamily="34" charset="0"/>
              </a:rPr>
              <a:t>1</a:t>
            </a:r>
          </a:p>
        </p:txBody>
      </p:sp>
      <p:sp>
        <p:nvSpPr>
          <p:cNvPr id="8" name="CuadroTexto 7">
            <a:extLst>
              <a:ext uri="{FF2B5EF4-FFF2-40B4-BE49-F238E27FC236}">
                <a16:creationId xmlns:a16="http://schemas.microsoft.com/office/drawing/2014/main" id="{29FABCD3-736F-BFD1-16F0-35BFE08A0BBF}"/>
              </a:ext>
            </a:extLst>
          </p:cNvPr>
          <p:cNvSpPr txBox="1"/>
          <p:nvPr/>
        </p:nvSpPr>
        <p:spPr>
          <a:xfrm>
            <a:off x="1574800" y="1524000"/>
            <a:ext cx="9779000" cy="609600"/>
          </a:xfrm>
          <a:prstGeom prst="rect">
            <a:avLst/>
          </a:prstGeom>
          <a:noFill/>
        </p:spPr>
        <p:txBody>
          <a:bodyPr vert="horz" wrap="square" lIns="0" tIns="0" rIns="0" bIns="0" rtlCol="0" anchor="ctr">
            <a:noAutofit/>
          </a:bodyPr>
          <a:lstStyle/>
          <a:p>
            <a:r>
              <a:rPr lang="es-GT">
                <a:solidFill>
                  <a:srgbClr val="1B2A41"/>
                </a:solidFill>
                <a:latin typeface="Calibri" panose="020F0502020204030204" pitchFamily="34" charset="0"/>
              </a:rPr>
              <a:t>Infraestructura multicontenedor con </a:t>
            </a:r>
            <a:r>
              <a:rPr lang="es-GT" b="1">
                <a:solidFill>
                  <a:srgbClr val="1B2A41"/>
                </a:solidFill>
                <a:latin typeface="Calibri" panose="020F0502020204030204" pitchFamily="34" charset="0"/>
              </a:rPr>
              <a:t>Docker Compose</a:t>
            </a:r>
          </a:p>
        </p:txBody>
      </p:sp>
      <p:sp>
        <p:nvSpPr>
          <p:cNvPr id="9" name="Rectángulo: esquinas redondeadas 8">
            <a:extLst>
              <a:ext uri="{FF2B5EF4-FFF2-40B4-BE49-F238E27FC236}">
                <a16:creationId xmlns:a16="http://schemas.microsoft.com/office/drawing/2014/main" id="{7EE500EF-A113-0AC8-B835-1C71837130B6}"/>
              </a:ext>
            </a:extLst>
          </p:cNvPr>
          <p:cNvSpPr/>
          <p:nvPr/>
        </p:nvSpPr>
        <p:spPr>
          <a:xfrm>
            <a:off x="609600" y="2387600"/>
            <a:ext cx="10972800" cy="8128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0" name="Elipse 9">
            <a:extLst>
              <a:ext uri="{FF2B5EF4-FFF2-40B4-BE49-F238E27FC236}">
                <a16:creationId xmlns:a16="http://schemas.microsoft.com/office/drawing/2014/main" id="{41B9D408-BCB2-7263-2E61-54B436B22F7C}"/>
              </a:ext>
            </a:extLst>
          </p:cNvPr>
          <p:cNvSpPr/>
          <p:nvPr/>
        </p:nvSpPr>
        <p:spPr>
          <a:xfrm>
            <a:off x="812800" y="2540000"/>
            <a:ext cx="508000" cy="508000"/>
          </a:xfrm>
          <a:prstGeom prst="ellipse">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b="1">
                <a:solidFill>
                  <a:srgbClr val="FFFFFF"/>
                </a:solidFill>
                <a:latin typeface="Calibri" panose="020F0502020204030204" pitchFamily="34" charset="0"/>
              </a:rPr>
              <a:t>2</a:t>
            </a:r>
          </a:p>
        </p:txBody>
      </p:sp>
      <p:sp>
        <p:nvSpPr>
          <p:cNvPr id="11" name="CuadroTexto 10">
            <a:extLst>
              <a:ext uri="{FF2B5EF4-FFF2-40B4-BE49-F238E27FC236}">
                <a16:creationId xmlns:a16="http://schemas.microsoft.com/office/drawing/2014/main" id="{4BA85896-AA05-A636-D691-91B25A3B3EBE}"/>
              </a:ext>
            </a:extLst>
          </p:cNvPr>
          <p:cNvSpPr txBox="1"/>
          <p:nvPr/>
        </p:nvSpPr>
        <p:spPr>
          <a:xfrm>
            <a:off x="1574800" y="2489200"/>
            <a:ext cx="9779000" cy="609600"/>
          </a:xfrm>
          <a:prstGeom prst="rect">
            <a:avLst/>
          </a:prstGeom>
          <a:noFill/>
        </p:spPr>
        <p:txBody>
          <a:bodyPr vert="horz" wrap="square" lIns="0" tIns="0" rIns="0" bIns="0" rtlCol="0" anchor="ctr">
            <a:noAutofit/>
          </a:bodyPr>
          <a:lstStyle/>
          <a:p>
            <a:r>
              <a:rPr lang="es-GT">
                <a:solidFill>
                  <a:srgbClr val="1B2A41"/>
                </a:solidFill>
                <a:latin typeface="Calibri" panose="020F0502020204030204" pitchFamily="34" charset="0"/>
              </a:rPr>
              <a:t>Tabla transaccional en MySQL </a:t>
            </a:r>
            <a:r>
              <a:rPr lang="es-GT" b="1">
                <a:solidFill>
                  <a:srgbClr val="1B2A41"/>
                </a:solidFill>
                <a:latin typeface="Calibri" panose="020F0502020204030204" pitchFamily="34" charset="0"/>
              </a:rPr>
              <a:t>creada automáticamente</a:t>
            </a:r>
          </a:p>
        </p:txBody>
      </p:sp>
      <p:sp>
        <p:nvSpPr>
          <p:cNvPr id="12" name="Rectángulo: esquinas redondeadas 11">
            <a:extLst>
              <a:ext uri="{FF2B5EF4-FFF2-40B4-BE49-F238E27FC236}">
                <a16:creationId xmlns:a16="http://schemas.microsoft.com/office/drawing/2014/main" id="{59300AF8-8C3A-9B1E-A377-8F1AE17A5F7C}"/>
              </a:ext>
            </a:extLst>
          </p:cNvPr>
          <p:cNvSpPr/>
          <p:nvPr/>
        </p:nvSpPr>
        <p:spPr>
          <a:xfrm>
            <a:off x="609600" y="3352800"/>
            <a:ext cx="10972800" cy="8128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3" name="Elipse 12">
            <a:extLst>
              <a:ext uri="{FF2B5EF4-FFF2-40B4-BE49-F238E27FC236}">
                <a16:creationId xmlns:a16="http://schemas.microsoft.com/office/drawing/2014/main" id="{985F50C5-06DD-19A2-DEAC-69CFBBD95507}"/>
              </a:ext>
            </a:extLst>
          </p:cNvPr>
          <p:cNvSpPr/>
          <p:nvPr/>
        </p:nvSpPr>
        <p:spPr>
          <a:xfrm>
            <a:off x="812800" y="3505200"/>
            <a:ext cx="508000" cy="508000"/>
          </a:xfrm>
          <a:prstGeom prst="ellipse">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b="1">
                <a:solidFill>
                  <a:srgbClr val="FFFFFF"/>
                </a:solidFill>
                <a:latin typeface="Calibri" panose="020F0502020204030204" pitchFamily="34" charset="0"/>
              </a:rPr>
              <a:t>3</a:t>
            </a:r>
          </a:p>
        </p:txBody>
      </p:sp>
      <p:sp>
        <p:nvSpPr>
          <p:cNvPr id="14" name="CuadroTexto 13">
            <a:extLst>
              <a:ext uri="{FF2B5EF4-FFF2-40B4-BE49-F238E27FC236}">
                <a16:creationId xmlns:a16="http://schemas.microsoft.com/office/drawing/2014/main" id="{A4080D59-BD4E-C784-6B75-8605D385FF80}"/>
              </a:ext>
            </a:extLst>
          </p:cNvPr>
          <p:cNvSpPr txBox="1"/>
          <p:nvPr/>
        </p:nvSpPr>
        <p:spPr>
          <a:xfrm>
            <a:off x="1574800" y="3454400"/>
            <a:ext cx="9779000" cy="609600"/>
          </a:xfrm>
          <a:prstGeom prst="rect">
            <a:avLst/>
          </a:prstGeom>
          <a:noFill/>
        </p:spPr>
        <p:txBody>
          <a:bodyPr vert="horz" wrap="square" lIns="0" tIns="0" rIns="0" bIns="0" rtlCol="0" anchor="ctr">
            <a:noAutofit/>
          </a:bodyPr>
          <a:lstStyle/>
          <a:p>
            <a:r>
              <a:rPr lang="es-GT">
                <a:solidFill>
                  <a:srgbClr val="1B2A41"/>
                </a:solidFill>
                <a:latin typeface="Calibri" panose="020F0502020204030204" pitchFamily="34" charset="0"/>
              </a:rPr>
              <a:t>Patrón </a:t>
            </a:r>
            <a:r>
              <a:rPr lang="es-GT" b="1">
                <a:solidFill>
                  <a:srgbClr val="1B2A41"/>
                </a:solidFill>
                <a:latin typeface="Calibri" panose="020F0502020204030204" pitchFamily="34" charset="0"/>
              </a:rPr>
              <a:t>productor–consumidor</a:t>
            </a:r>
            <a:r>
              <a:rPr lang="es-GT">
                <a:solidFill>
                  <a:srgbClr val="1B2A41"/>
                </a:solidFill>
                <a:latin typeface="Calibri" panose="020F0502020204030204" pitchFamily="34" charset="0"/>
              </a:rPr>
              <a:t> usando la base de datos como canal</a:t>
            </a:r>
          </a:p>
        </p:txBody>
      </p:sp>
      <p:sp>
        <p:nvSpPr>
          <p:cNvPr id="15" name="Rectángulo: esquinas redondeadas 14">
            <a:extLst>
              <a:ext uri="{FF2B5EF4-FFF2-40B4-BE49-F238E27FC236}">
                <a16:creationId xmlns:a16="http://schemas.microsoft.com/office/drawing/2014/main" id="{9D01E025-C423-E793-3BD1-C127DDCA6080}"/>
              </a:ext>
            </a:extLst>
          </p:cNvPr>
          <p:cNvSpPr/>
          <p:nvPr/>
        </p:nvSpPr>
        <p:spPr>
          <a:xfrm>
            <a:off x="609600" y="4318000"/>
            <a:ext cx="10972800" cy="8128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6" name="Elipse 15">
            <a:extLst>
              <a:ext uri="{FF2B5EF4-FFF2-40B4-BE49-F238E27FC236}">
                <a16:creationId xmlns:a16="http://schemas.microsoft.com/office/drawing/2014/main" id="{3DC7F454-9982-EFFD-67DA-39AC38201F94}"/>
              </a:ext>
            </a:extLst>
          </p:cNvPr>
          <p:cNvSpPr/>
          <p:nvPr/>
        </p:nvSpPr>
        <p:spPr>
          <a:xfrm>
            <a:off x="812800" y="4470400"/>
            <a:ext cx="508000" cy="508000"/>
          </a:xfrm>
          <a:prstGeom prst="ellipse">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b="1">
                <a:solidFill>
                  <a:srgbClr val="FFFFFF"/>
                </a:solidFill>
                <a:latin typeface="Calibri" panose="020F0502020204030204" pitchFamily="34" charset="0"/>
              </a:rPr>
              <a:t>4</a:t>
            </a:r>
          </a:p>
        </p:txBody>
      </p:sp>
      <p:sp>
        <p:nvSpPr>
          <p:cNvPr id="17" name="CuadroTexto 16">
            <a:extLst>
              <a:ext uri="{FF2B5EF4-FFF2-40B4-BE49-F238E27FC236}">
                <a16:creationId xmlns:a16="http://schemas.microsoft.com/office/drawing/2014/main" id="{C427EEA7-339B-1157-B942-E7EDDCD14000}"/>
              </a:ext>
            </a:extLst>
          </p:cNvPr>
          <p:cNvSpPr txBox="1"/>
          <p:nvPr/>
        </p:nvSpPr>
        <p:spPr>
          <a:xfrm>
            <a:off x="1574800" y="4419600"/>
            <a:ext cx="9779000" cy="609600"/>
          </a:xfrm>
          <a:prstGeom prst="rect">
            <a:avLst/>
          </a:prstGeom>
          <a:noFill/>
        </p:spPr>
        <p:txBody>
          <a:bodyPr vert="horz" wrap="square" lIns="0" tIns="0" rIns="0" bIns="0" rtlCol="0" anchor="ctr">
            <a:noAutofit/>
          </a:bodyPr>
          <a:lstStyle/>
          <a:p>
            <a:r>
              <a:rPr lang="es-GT" b="1">
                <a:solidFill>
                  <a:srgbClr val="1B2A41"/>
                </a:solidFill>
                <a:latin typeface="Calibri" panose="020F0502020204030204" pitchFamily="34" charset="0"/>
              </a:rPr>
              <a:t>Semáforo (mutex) distribuido</a:t>
            </a:r>
            <a:r>
              <a:rPr lang="es-GT">
                <a:solidFill>
                  <a:srgbClr val="1B2A41"/>
                </a:solidFill>
                <a:latin typeface="Calibri" panose="020F0502020204030204" pitchFamily="34" charset="0"/>
              </a:rPr>
              <a:t> en Redis: SET NX EX y liberación segura</a:t>
            </a:r>
          </a:p>
        </p:txBody>
      </p:sp>
      <p:sp>
        <p:nvSpPr>
          <p:cNvPr id="18" name="Rectángulo: esquinas redondeadas 17">
            <a:extLst>
              <a:ext uri="{FF2B5EF4-FFF2-40B4-BE49-F238E27FC236}">
                <a16:creationId xmlns:a16="http://schemas.microsoft.com/office/drawing/2014/main" id="{63C5D6EB-B2EB-3C3E-85D2-382EA5B80C9F}"/>
              </a:ext>
            </a:extLst>
          </p:cNvPr>
          <p:cNvSpPr/>
          <p:nvPr/>
        </p:nvSpPr>
        <p:spPr>
          <a:xfrm>
            <a:off x="609600" y="5283200"/>
            <a:ext cx="10972800" cy="8128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9" name="Elipse 18">
            <a:extLst>
              <a:ext uri="{FF2B5EF4-FFF2-40B4-BE49-F238E27FC236}">
                <a16:creationId xmlns:a16="http://schemas.microsoft.com/office/drawing/2014/main" id="{C7DAECC6-67AF-3D24-51CC-33D2A48DBC65}"/>
              </a:ext>
            </a:extLst>
          </p:cNvPr>
          <p:cNvSpPr/>
          <p:nvPr/>
        </p:nvSpPr>
        <p:spPr>
          <a:xfrm>
            <a:off x="812800" y="5435600"/>
            <a:ext cx="508000" cy="508000"/>
          </a:xfrm>
          <a:prstGeom prst="ellipse">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b="1">
                <a:solidFill>
                  <a:srgbClr val="FFFFFF"/>
                </a:solidFill>
                <a:latin typeface="Calibri" panose="020F0502020204030204" pitchFamily="34" charset="0"/>
              </a:rPr>
              <a:t>5</a:t>
            </a:r>
          </a:p>
        </p:txBody>
      </p:sp>
      <p:sp>
        <p:nvSpPr>
          <p:cNvPr id="20" name="CuadroTexto 19">
            <a:extLst>
              <a:ext uri="{FF2B5EF4-FFF2-40B4-BE49-F238E27FC236}">
                <a16:creationId xmlns:a16="http://schemas.microsoft.com/office/drawing/2014/main" id="{2D473D10-55A6-867B-603C-41508FEFD913}"/>
              </a:ext>
            </a:extLst>
          </p:cNvPr>
          <p:cNvSpPr txBox="1"/>
          <p:nvPr/>
        </p:nvSpPr>
        <p:spPr>
          <a:xfrm>
            <a:off x="1574800" y="5384800"/>
            <a:ext cx="9779000" cy="609600"/>
          </a:xfrm>
          <a:prstGeom prst="rect">
            <a:avLst/>
          </a:prstGeom>
          <a:noFill/>
        </p:spPr>
        <p:txBody>
          <a:bodyPr vert="horz" wrap="square" lIns="0" tIns="0" rIns="0" bIns="0" rtlCol="0" anchor="ctr">
            <a:noAutofit/>
          </a:bodyPr>
          <a:lstStyle/>
          <a:p>
            <a:r>
              <a:rPr lang="es-GT">
                <a:solidFill>
                  <a:srgbClr val="1B2A41"/>
                </a:solidFill>
                <a:latin typeface="Calibri" panose="020F0502020204030204" pitchFamily="34" charset="0"/>
              </a:rPr>
              <a:t>Demostrar con evidencia qué pasa </a:t>
            </a:r>
            <a:r>
              <a:rPr lang="es-GT" b="1">
                <a:solidFill>
                  <a:srgbClr val="1B2A41"/>
                </a:solidFill>
                <a:latin typeface="Calibri" panose="020F0502020204030204" pitchFamily="34" charset="0"/>
              </a:rPr>
              <a:t>con y sin semáforo</a:t>
            </a:r>
          </a:p>
        </p:txBody>
      </p:sp>
      <p:sp>
        <p:nvSpPr>
          <p:cNvPr id="21" name="CuadroTexto 20">
            <a:extLst>
              <a:ext uri="{FF2B5EF4-FFF2-40B4-BE49-F238E27FC236}">
                <a16:creationId xmlns:a16="http://schemas.microsoft.com/office/drawing/2014/main" id="{CCBE9787-0501-3673-B7F7-A3E5A9495D53}"/>
              </a:ext>
            </a:extLst>
          </p:cNvPr>
          <p:cNvSpPr txBox="1"/>
          <p:nvPr/>
        </p:nvSpPr>
        <p:spPr>
          <a:xfrm>
            <a:off x="609600" y="6451600"/>
            <a:ext cx="6604000" cy="228600"/>
          </a:xfrm>
          <a:prstGeom prst="rect">
            <a:avLst/>
          </a:prstGeom>
          <a:noFill/>
        </p:spPr>
        <p:txBody>
          <a:bodyPr vert="horz" wrap="square" lIns="0" tIns="0" rIns="0" bIns="0" rtlCol="0" anchor="t">
            <a:noAutofit/>
          </a:bodyPr>
          <a:lstStyle/>
          <a:p>
            <a:r>
              <a:rPr lang="es-GT" sz="1000">
                <a:solidFill>
                  <a:srgbClr val="5B6B82"/>
                </a:solidFill>
                <a:latin typeface="Calibri" panose="020F0502020204030204" pitchFamily="34" charset="0"/>
              </a:rPr>
              <a:t>Productor y consumidores con semáforo · Sistemas Operativos I</a:t>
            </a:r>
          </a:p>
        </p:txBody>
      </p:sp>
      <p:sp>
        <p:nvSpPr>
          <p:cNvPr id="22" name="CuadroTexto 21">
            <a:extLst>
              <a:ext uri="{FF2B5EF4-FFF2-40B4-BE49-F238E27FC236}">
                <a16:creationId xmlns:a16="http://schemas.microsoft.com/office/drawing/2014/main" id="{E2113C66-CD2F-03F0-2795-6CDED3A0779A}"/>
              </a:ext>
            </a:extLst>
          </p:cNvPr>
          <p:cNvSpPr txBox="1"/>
          <p:nvPr/>
        </p:nvSpPr>
        <p:spPr>
          <a:xfrm>
            <a:off x="10312400" y="6451600"/>
            <a:ext cx="1270000" cy="228600"/>
          </a:xfrm>
          <a:prstGeom prst="rect">
            <a:avLst/>
          </a:prstGeom>
          <a:noFill/>
        </p:spPr>
        <p:txBody>
          <a:bodyPr vert="horz" wrap="square" lIns="0" tIns="0" rIns="0" bIns="0" rtlCol="0" anchor="t">
            <a:noAutofit/>
          </a:bodyPr>
          <a:lstStyle/>
          <a:p>
            <a:pPr algn="r"/>
            <a:r>
              <a:rPr lang="es-GT" sz="1000">
                <a:solidFill>
                  <a:srgbClr val="5B6B82"/>
                </a:solidFill>
                <a:latin typeface="Calibri" panose="020F0502020204030204" pitchFamily="34" charset="0"/>
              </a:rPr>
              <a:t>3</a:t>
            </a:r>
          </a:p>
        </p:txBody>
      </p:sp>
    </p:spTree>
    <p:extLst>
      <p:ext uri="{BB962C8B-B14F-4D97-AF65-F5344CB8AC3E}">
        <p14:creationId xmlns:p14="http://schemas.microsoft.com/office/powerpoint/2010/main" val="2195586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2E321DF-10F6-BDC5-60C0-EB424E540FFE}"/>
              </a:ext>
            </a:extLst>
          </p:cNvPr>
          <p:cNvSpPr txBox="1"/>
          <p:nvPr/>
        </p:nvSpPr>
        <p:spPr>
          <a:xfrm>
            <a:off x="609600" y="406400"/>
            <a:ext cx="10033000" cy="635000"/>
          </a:xfrm>
          <a:prstGeom prst="rect">
            <a:avLst/>
          </a:prstGeom>
          <a:noFill/>
        </p:spPr>
        <p:txBody>
          <a:bodyPr vert="horz" wrap="square" lIns="0" tIns="0" rIns="0" bIns="0" rtlCol="0" anchor="ctr">
            <a:noAutofit/>
          </a:bodyPr>
          <a:lstStyle/>
          <a:p>
            <a:r>
              <a:rPr lang="es-GT" sz="3200" b="1">
                <a:solidFill>
                  <a:srgbClr val="1B2A41"/>
                </a:solidFill>
                <a:latin typeface="Calibri" panose="020F0502020204030204" pitchFamily="34" charset="0"/>
              </a:rPr>
              <a:t>Arquitectura: 5 contenedores</a:t>
            </a:r>
          </a:p>
        </p:txBody>
      </p:sp>
      <p:sp>
        <p:nvSpPr>
          <p:cNvPr id="3" name="Elipse 2">
            <a:extLst>
              <a:ext uri="{FF2B5EF4-FFF2-40B4-BE49-F238E27FC236}">
                <a16:creationId xmlns:a16="http://schemas.microsoft.com/office/drawing/2014/main" id="{4D73EE20-557D-0F5A-54FC-C516E0B4B43C}"/>
              </a:ext>
            </a:extLst>
          </p:cNvPr>
          <p:cNvSpPr/>
          <p:nvPr/>
        </p:nvSpPr>
        <p:spPr>
          <a:xfrm>
            <a:off x="11023600" y="635000"/>
            <a:ext cx="152400" cy="152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Elipse 3">
            <a:extLst>
              <a:ext uri="{FF2B5EF4-FFF2-40B4-BE49-F238E27FC236}">
                <a16:creationId xmlns:a16="http://schemas.microsoft.com/office/drawing/2014/main" id="{4796FBD7-5B5E-2CA1-1DBA-0684962EBDD4}"/>
              </a:ext>
            </a:extLst>
          </p:cNvPr>
          <p:cNvSpPr/>
          <p:nvPr/>
        </p:nvSpPr>
        <p:spPr>
          <a:xfrm>
            <a:off x="11252200" y="635000"/>
            <a:ext cx="152400" cy="1524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5" name="Elipse 4">
            <a:extLst>
              <a:ext uri="{FF2B5EF4-FFF2-40B4-BE49-F238E27FC236}">
                <a16:creationId xmlns:a16="http://schemas.microsoft.com/office/drawing/2014/main" id="{2C7DAD61-27D4-C258-F2E8-6169D2430C7C}"/>
              </a:ext>
            </a:extLst>
          </p:cNvPr>
          <p:cNvSpPr/>
          <p:nvPr/>
        </p:nvSpPr>
        <p:spPr>
          <a:xfrm>
            <a:off x="11480800" y="635000"/>
            <a:ext cx="152400" cy="152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Rectángulo: esquinas redondeadas 5">
            <a:extLst>
              <a:ext uri="{FF2B5EF4-FFF2-40B4-BE49-F238E27FC236}">
                <a16:creationId xmlns:a16="http://schemas.microsoft.com/office/drawing/2014/main" id="{1EBB4D10-C79C-16C0-9508-FE93AAA11A91}"/>
              </a:ext>
            </a:extLst>
          </p:cNvPr>
          <p:cNvSpPr/>
          <p:nvPr/>
        </p:nvSpPr>
        <p:spPr>
          <a:xfrm>
            <a:off x="660400" y="2095500"/>
            <a:ext cx="2413000" cy="1143000"/>
          </a:xfrm>
          <a:prstGeom prst="roundRect">
            <a:avLst>
              <a:gd name="adj" fmla="val 8000"/>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60960" rIns="101600" bIns="60960" rtlCol="0" anchor="ctr"/>
          <a:lstStyle/>
          <a:p>
            <a:pPr algn="ctr"/>
            <a:r>
              <a:rPr lang="es-GT" b="1">
                <a:solidFill>
                  <a:srgbClr val="FFFFFF"/>
                </a:solidFill>
                <a:latin typeface="Calibri" panose="020F0502020204030204" pitchFamily="34" charset="0"/>
              </a:rPr>
              <a:t>productor</a:t>
            </a:r>
          </a:p>
          <a:p>
            <a:pPr algn="ctr"/>
            <a:r>
              <a:rPr lang="es-GT" sz="1200">
                <a:solidFill>
                  <a:srgbClr val="AFC3DA"/>
                </a:solidFill>
                <a:latin typeface="Calibri" panose="020F0502020204030204" pitchFamily="34" charset="0"/>
              </a:rPr>
              <a:t>python:3.12-slim</a:t>
            </a:r>
          </a:p>
        </p:txBody>
      </p:sp>
      <p:sp>
        <p:nvSpPr>
          <p:cNvPr id="7" name="Rectángulo: esquinas redondeadas 6">
            <a:extLst>
              <a:ext uri="{FF2B5EF4-FFF2-40B4-BE49-F238E27FC236}">
                <a16:creationId xmlns:a16="http://schemas.microsoft.com/office/drawing/2014/main" id="{B60043E5-B080-35E4-722C-EC9FE1B7BBED}"/>
              </a:ext>
            </a:extLst>
          </p:cNvPr>
          <p:cNvSpPr/>
          <p:nvPr/>
        </p:nvSpPr>
        <p:spPr>
          <a:xfrm>
            <a:off x="4318000" y="1905000"/>
            <a:ext cx="2921000" cy="1397000"/>
          </a:xfrm>
          <a:prstGeom prst="roundRect">
            <a:avLst>
              <a:gd name="adj" fmla="val 8000"/>
            </a:avLst>
          </a:prstGeom>
          <a:solidFill>
            <a:srgbClr val="EEF2F7"/>
          </a:solidFill>
          <a:ln w="15875">
            <a:solidFill>
              <a:srgbClr val="C5D0DE"/>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0960" rIns="101600" bIns="60960" rtlCol="0" anchor="ctr">
            <a:noAutofit/>
          </a:bodyPr>
          <a:lstStyle/>
          <a:p>
            <a:pPr algn="ctr"/>
            <a:r>
              <a:rPr lang="es-GT" sz="2000" b="1">
                <a:solidFill>
                  <a:srgbClr val="1B2A41"/>
                </a:solidFill>
                <a:latin typeface="Calibri" panose="020F0502020204030204" pitchFamily="34" charset="0"/>
              </a:rPr>
              <a:t>mysql</a:t>
            </a:r>
          </a:p>
          <a:p>
            <a:pPr algn="ctr"/>
            <a:r>
              <a:rPr lang="es-GT" sz="1200">
                <a:solidFill>
                  <a:srgbClr val="5B6B82"/>
                </a:solidFill>
                <a:latin typeface="Calibri" panose="020F0502020204030204" pitchFamily="34" charset="0"/>
              </a:rPr>
              <a:t>mysql:8 · tabla transacciones</a:t>
            </a:r>
          </a:p>
        </p:txBody>
      </p:sp>
      <p:sp>
        <p:nvSpPr>
          <p:cNvPr id="8" name="Rectángulo: esquinas redondeadas 7">
            <a:extLst>
              <a:ext uri="{FF2B5EF4-FFF2-40B4-BE49-F238E27FC236}">
                <a16:creationId xmlns:a16="http://schemas.microsoft.com/office/drawing/2014/main" id="{A0E4F535-3650-9F6E-3034-75DA9AFCA572}"/>
              </a:ext>
            </a:extLst>
          </p:cNvPr>
          <p:cNvSpPr/>
          <p:nvPr/>
        </p:nvSpPr>
        <p:spPr>
          <a:xfrm>
            <a:off x="4318000" y="4191000"/>
            <a:ext cx="2921000" cy="1397000"/>
          </a:xfrm>
          <a:prstGeom prst="roundRect">
            <a:avLst>
              <a:gd name="adj" fmla="val 8000"/>
            </a:avLst>
          </a:prstGeom>
          <a:solidFill>
            <a:srgbClr val="EEF2F7"/>
          </a:solidFill>
          <a:ln w="15875">
            <a:solidFill>
              <a:srgbClr val="C5D0DE"/>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0960" rIns="101600" bIns="60960" rtlCol="0" anchor="ctr">
            <a:noAutofit/>
          </a:bodyPr>
          <a:lstStyle/>
          <a:p>
            <a:pPr algn="ctr"/>
            <a:r>
              <a:rPr lang="es-GT" sz="2000" b="1">
                <a:solidFill>
                  <a:srgbClr val="1B2A41"/>
                </a:solidFill>
                <a:latin typeface="Calibri" panose="020F0502020204030204" pitchFamily="34" charset="0"/>
              </a:rPr>
              <a:t>redis</a:t>
            </a:r>
          </a:p>
          <a:p>
            <a:pPr algn="ctr"/>
            <a:r>
              <a:rPr lang="es-GT" sz="1200">
                <a:solidFill>
                  <a:srgbClr val="5B6B82"/>
                </a:solidFill>
                <a:latin typeface="Calibri" panose="020F0502020204030204" pitchFamily="34" charset="0"/>
              </a:rPr>
              <a:t>redis:7 · semáforo</a:t>
            </a:r>
          </a:p>
        </p:txBody>
      </p:sp>
      <p:sp>
        <p:nvSpPr>
          <p:cNvPr id="9" name="Rectángulo: esquinas redondeadas 8">
            <a:extLst>
              <a:ext uri="{FF2B5EF4-FFF2-40B4-BE49-F238E27FC236}">
                <a16:creationId xmlns:a16="http://schemas.microsoft.com/office/drawing/2014/main" id="{CB4130A2-473F-0B2E-FDAA-F98C20E0A876}"/>
              </a:ext>
            </a:extLst>
          </p:cNvPr>
          <p:cNvSpPr/>
          <p:nvPr/>
        </p:nvSpPr>
        <p:spPr>
          <a:xfrm>
            <a:off x="8255000" y="1524000"/>
            <a:ext cx="3327400" cy="4191000"/>
          </a:xfrm>
          <a:prstGeom prst="roundRect">
            <a:avLst>
              <a:gd name="adj" fmla="val 8000"/>
            </a:avLst>
          </a:prstGeom>
          <a:solidFill>
            <a:srgbClr val="F6F8FB"/>
          </a:solidFill>
          <a:ln w="15875">
            <a:solidFill>
              <a:srgbClr val="C5D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0" name="CuadroTexto 9">
            <a:extLst>
              <a:ext uri="{FF2B5EF4-FFF2-40B4-BE49-F238E27FC236}">
                <a16:creationId xmlns:a16="http://schemas.microsoft.com/office/drawing/2014/main" id="{77F81687-3D66-3BA9-A56D-63A976B89B28}"/>
              </a:ext>
            </a:extLst>
          </p:cNvPr>
          <p:cNvSpPr txBox="1"/>
          <p:nvPr/>
        </p:nvSpPr>
        <p:spPr>
          <a:xfrm>
            <a:off x="8458200" y="1651000"/>
            <a:ext cx="2921000" cy="254000"/>
          </a:xfrm>
          <a:prstGeom prst="rect">
            <a:avLst/>
          </a:prstGeom>
          <a:noFill/>
        </p:spPr>
        <p:txBody>
          <a:bodyPr vert="horz" wrap="square" lIns="0" tIns="0" rIns="0" bIns="0" rtlCol="0" anchor="t">
            <a:noAutofit/>
          </a:bodyPr>
          <a:lstStyle/>
          <a:p>
            <a:r>
              <a:rPr lang="es-GT" sz="1300" b="1">
                <a:solidFill>
                  <a:srgbClr val="5B6B82"/>
                </a:solidFill>
                <a:latin typeface="Calibri" panose="020F0502020204030204" pitchFamily="34" charset="0"/>
              </a:rPr>
              <a:t>Consumidores (misma imagen)</a:t>
            </a:r>
          </a:p>
        </p:txBody>
      </p:sp>
      <p:sp>
        <p:nvSpPr>
          <p:cNvPr id="11" name="Rectángulo: esquinas redondeadas 10">
            <a:extLst>
              <a:ext uri="{FF2B5EF4-FFF2-40B4-BE49-F238E27FC236}">
                <a16:creationId xmlns:a16="http://schemas.microsoft.com/office/drawing/2014/main" id="{56272747-5945-72B3-8D6E-DDA2E3BA77DB}"/>
              </a:ext>
            </a:extLst>
          </p:cNvPr>
          <p:cNvSpPr/>
          <p:nvPr/>
        </p:nvSpPr>
        <p:spPr>
          <a:xfrm>
            <a:off x="8509000" y="2159000"/>
            <a:ext cx="2819400" cy="1143000"/>
          </a:xfrm>
          <a:prstGeom prst="roundRect">
            <a:avLst>
              <a:gd name="adj" fmla="val 8000"/>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60960" rIns="101600" bIns="60960" rtlCol="0" anchor="ctr"/>
          <a:lstStyle/>
          <a:p>
            <a:pPr algn="ctr"/>
            <a:r>
              <a:rPr lang="es-GT" b="1">
                <a:solidFill>
                  <a:srgbClr val="FFFFFF"/>
                </a:solidFill>
                <a:latin typeface="Calibri" panose="020F0502020204030204" pitchFamily="34" charset="0"/>
              </a:rPr>
              <a:t>consumidor1</a:t>
            </a:r>
          </a:p>
          <a:p>
            <a:pPr algn="ctr"/>
            <a:r>
              <a:rPr lang="es-GT" sz="1100">
                <a:solidFill>
                  <a:srgbClr val="AFC3DA"/>
                </a:solidFill>
                <a:latin typeface="Calibri" panose="020F0502020204030204" pitchFamily="34" charset="0"/>
              </a:rPr>
              <a:t>ID_CONSUMIDOR=consumidor1</a:t>
            </a:r>
          </a:p>
        </p:txBody>
      </p:sp>
      <p:sp>
        <p:nvSpPr>
          <p:cNvPr id="12" name="Rectángulo: esquinas redondeadas 11">
            <a:extLst>
              <a:ext uri="{FF2B5EF4-FFF2-40B4-BE49-F238E27FC236}">
                <a16:creationId xmlns:a16="http://schemas.microsoft.com/office/drawing/2014/main" id="{5C9D8C75-2D4D-09FE-77C3-0D38753471E6}"/>
              </a:ext>
            </a:extLst>
          </p:cNvPr>
          <p:cNvSpPr/>
          <p:nvPr/>
        </p:nvSpPr>
        <p:spPr>
          <a:xfrm>
            <a:off x="8509000" y="4191000"/>
            <a:ext cx="2819400" cy="1143000"/>
          </a:xfrm>
          <a:prstGeom prst="roundRect">
            <a:avLst>
              <a:gd name="adj" fmla="val 8000"/>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60960" rIns="101600" bIns="60960" rtlCol="0" anchor="ctr"/>
          <a:lstStyle/>
          <a:p>
            <a:pPr algn="ctr"/>
            <a:r>
              <a:rPr lang="es-GT" b="1">
                <a:solidFill>
                  <a:srgbClr val="FFFFFF"/>
                </a:solidFill>
                <a:latin typeface="Calibri" panose="020F0502020204030204" pitchFamily="34" charset="0"/>
              </a:rPr>
              <a:t>consumidor2</a:t>
            </a:r>
          </a:p>
          <a:p>
            <a:pPr algn="ctr"/>
            <a:r>
              <a:rPr lang="es-GT" sz="1100">
                <a:solidFill>
                  <a:srgbClr val="AFC3DA"/>
                </a:solidFill>
                <a:latin typeface="Calibri" panose="020F0502020204030204" pitchFamily="34" charset="0"/>
              </a:rPr>
              <a:t>ID_CONSUMIDOR=consumidor2</a:t>
            </a:r>
          </a:p>
        </p:txBody>
      </p:sp>
      <p:cxnSp>
        <p:nvCxnSpPr>
          <p:cNvPr id="13" name="Conector recto 12">
            <a:extLst>
              <a:ext uri="{FF2B5EF4-FFF2-40B4-BE49-F238E27FC236}">
                <a16:creationId xmlns:a16="http://schemas.microsoft.com/office/drawing/2014/main" id="{B6D3DE97-665A-00FF-FF1B-410151AE910B}"/>
              </a:ext>
            </a:extLst>
          </p:cNvPr>
          <p:cNvCxnSpPr/>
          <p:nvPr/>
        </p:nvCxnSpPr>
        <p:spPr>
          <a:xfrm flipV="1">
            <a:off x="3073400" y="2603500"/>
            <a:ext cx="1244600" cy="63500"/>
          </a:xfrm>
          <a:prstGeom prst="line">
            <a:avLst/>
          </a:prstGeom>
          <a:ln w="31750">
            <a:solidFill>
              <a:srgbClr val="1F9D55"/>
            </a:solidFill>
            <a:tailEnd type="triangle"/>
          </a:ln>
        </p:spPr>
        <p:style>
          <a:lnRef idx="2">
            <a:schemeClr val="accent1"/>
          </a:lnRef>
          <a:fillRef idx="0">
            <a:schemeClr val="accent1"/>
          </a:fillRef>
          <a:effectRef idx="1">
            <a:schemeClr val="accent1"/>
          </a:effectRef>
          <a:fontRef idx="minor">
            <a:schemeClr val="tx1"/>
          </a:fontRef>
        </p:style>
      </p:cxnSp>
      <p:sp>
        <p:nvSpPr>
          <p:cNvPr id="14" name="CuadroTexto 13">
            <a:extLst>
              <a:ext uri="{FF2B5EF4-FFF2-40B4-BE49-F238E27FC236}">
                <a16:creationId xmlns:a16="http://schemas.microsoft.com/office/drawing/2014/main" id="{0F7F0377-5ECC-288F-D890-483D89FED42A}"/>
              </a:ext>
            </a:extLst>
          </p:cNvPr>
          <p:cNvSpPr txBox="1"/>
          <p:nvPr/>
        </p:nvSpPr>
        <p:spPr>
          <a:xfrm>
            <a:off x="2997200" y="2235200"/>
            <a:ext cx="1397000" cy="381000"/>
          </a:xfrm>
          <a:prstGeom prst="rect">
            <a:avLst/>
          </a:prstGeom>
          <a:noFill/>
        </p:spPr>
        <p:txBody>
          <a:bodyPr vert="horz" wrap="square" lIns="0" tIns="0" rIns="0" bIns="0" rtlCol="0" anchor="t">
            <a:noAutofit/>
          </a:bodyPr>
          <a:lstStyle/>
          <a:p>
            <a:pPr algn="ctr"/>
            <a:r>
              <a:rPr lang="es-GT" sz="1200" b="1">
                <a:solidFill>
                  <a:srgbClr val="1F9D55"/>
                </a:solidFill>
                <a:latin typeface="Calibri" panose="020F0502020204030204" pitchFamily="34" charset="0"/>
              </a:rPr>
              <a:t>INSERT PENDIENTE</a:t>
            </a:r>
          </a:p>
        </p:txBody>
      </p:sp>
      <p:cxnSp>
        <p:nvCxnSpPr>
          <p:cNvPr id="15" name="Conector recto 14">
            <a:extLst>
              <a:ext uri="{FF2B5EF4-FFF2-40B4-BE49-F238E27FC236}">
                <a16:creationId xmlns:a16="http://schemas.microsoft.com/office/drawing/2014/main" id="{7EBA6101-2965-A276-3BA1-BE2A17DAAD07}"/>
              </a:ext>
            </a:extLst>
          </p:cNvPr>
          <p:cNvCxnSpPr/>
          <p:nvPr/>
        </p:nvCxnSpPr>
        <p:spPr>
          <a:xfrm flipH="1">
            <a:off x="7239000" y="2603500"/>
            <a:ext cx="1016000" cy="0"/>
          </a:xfrm>
          <a:prstGeom prst="line">
            <a:avLst/>
          </a:prstGeom>
          <a:ln w="31750">
            <a:solidFill>
              <a:srgbClr val="1F9D55"/>
            </a:solidFill>
            <a:tailEnd type="triangle"/>
          </a:ln>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a16="http://schemas.microsoft.com/office/drawing/2014/main" id="{25764636-3208-F89B-9ED8-760B2B24DC84}"/>
              </a:ext>
            </a:extLst>
          </p:cNvPr>
          <p:cNvSpPr txBox="1"/>
          <p:nvPr/>
        </p:nvSpPr>
        <p:spPr>
          <a:xfrm>
            <a:off x="7289800" y="2235200"/>
            <a:ext cx="965200" cy="381000"/>
          </a:xfrm>
          <a:prstGeom prst="rect">
            <a:avLst/>
          </a:prstGeom>
          <a:noFill/>
        </p:spPr>
        <p:txBody>
          <a:bodyPr vert="horz" wrap="square" lIns="0" tIns="0" rIns="0" bIns="0" rtlCol="0" anchor="t">
            <a:noAutofit/>
          </a:bodyPr>
          <a:lstStyle/>
          <a:p>
            <a:pPr algn="ctr"/>
            <a:r>
              <a:rPr lang="es-GT" sz="1100" b="1">
                <a:solidFill>
                  <a:srgbClr val="1F9D55"/>
                </a:solidFill>
                <a:latin typeface="Calibri" panose="020F0502020204030204" pitchFamily="34" charset="0"/>
              </a:rPr>
              <a:t>SELECT / UPDATE</a:t>
            </a:r>
          </a:p>
        </p:txBody>
      </p:sp>
      <p:cxnSp>
        <p:nvCxnSpPr>
          <p:cNvPr id="17" name="Conector recto 16">
            <a:extLst>
              <a:ext uri="{FF2B5EF4-FFF2-40B4-BE49-F238E27FC236}">
                <a16:creationId xmlns:a16="http://schemas.microsoft.com/office/drawing/2014/main" id="{BB95EAB3-5701-9741-2077-36AD9AB9527A}"/>
              </a:ext>
            </a:extLst>
          </p:cNvPr>
          <p:cNvCxnSpPr/>
          <p:nvPr/>
        </p:nvCxnSpPr>
        <p:spPr>
          <a:xfrm flipH="1">
            <a:off x="7239000" y="4889500"/>
            <a:ext cx="1016000" cy="0"/>
          </a:xfrm>
          <a:prstGeom prst="line">
            <a:avLst/>
          </a:prstGeom>
          <a:ln w="31750">
            <a:solidFill>
              <a:srgbClr val="E8A33D"/>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8" name="CuadroTexto 17">
            <a:extLst>
              <a:ext uri="{FF2B5EF4-FFF2-40B4-BE49-F238E27FC236}">
                <a16:creationId xmlns:a16="http://schemas.microsoft.com/office/drawing/2014/main" id="{A9E20AA5-A7CE-687A-DB5B-6FE0568A6D38}"/>
              </a:ext>
            </a:extLst>
          </p:cNvPr>
          <p:cNvSpPr txBox="1"/>
          <p:nvPr/>
        </p:nvSpPr>
        <p:spPr>
          <a:xfrm>
            <a:off x="7289800" y="4521200"/>
            <a:ext cx="965200" cy="381000"/>
          </a:xfrm>
          <a:prstGeom prst="rect">
            <a:avLst/>
          </a:prstGeom>
          <a:noFill/>
        </p:spPr>
        <p:txBody>
          <a:bodyPr vert="horz" wrap="square" lIns="0" tIns="0" rIns="0" bIns="0" rtlCol="0" anchor="t">
            <a:noAutofit/>
          </a:bodyPr>
          <a:lstStyle/>
          <a:p>
            <a:pPr algn="ctr"/>
            <a:r>
              <a:rPr lang="es-GT" sz="1100" b="1">
                <a:solidFill>
                  <a:srgbClr val="E8A33D"/>
                </a:solidFill>
                <a:latin typeface="Calibri" panose="020F0502020204030204" pitchFamily="34" charset="0"/>
              </a:rPr>
              <a:t>SET NX / liberar</a:t>
            </a:r>
          </a:p>
        </p:txBody>
      </p:sp>
      <p:sp>
        <p:nvSpPr>
          <p:cNvPr id="19" name="CuadroTexto 18">
            <a:extLst>
              <a:ext uri="{FF2B5EF4-FFF2-40B4-BE49-F238E27FC236}">
                <a16:creationId xmlns:a16="http://schemas.microsoft.com/office/drawing/2014/main" id="{B2767A85-4F11-FEF7-CFD2-994BEC9BA72D}"/>
              </a:ext>
            </a:extLst>
          </p:cNvPr>
          <p:cNvSpPr txBox="1"/>
          <p:nvPr/>
        </p:nvSpPr>
        <p:spPr>
          <a:xfrm>
            <a:off x="609600" y="5918200"/>
            <a:ext cx="10972800" cy="304800"/>
          </a:xfrm>
          <a:prstGeom prst="rect">
            <a:avLst/>
          </a:prstGeom>
          <a:noFill/>
        </p:spPr>
        <p:txBody>
          <a:bodyPr vert="horz" wrap="square" lIns="0" tIns="0" rIns="0" bIns="0" rtlCol="0" anchor="t">
            <a:noAutofit/>
          </a:bodyPr>
          <a:lstStyle/>
          <a:p>
            <a:r>
              <a:rPr lang="es-GT" sz="1400">
                <a:solidFill>
                  <a:srgbClr val="5B6B82"/>
                </a:solidFill>
                <a:latin typeface="Calibri" panose="020F0502020204030204" pitchFamily="34" charset="0"/>
              </a:rPr>
              <a:t>Red interna de Docker Compose: los contenedores se encuentran por nombre de servicio (mysql, redis).</a:t>
            </a:r>
          </a:p>
        </p:txBody>
      </p:sp>
      <p:sp>
        <p:nvSpPr>
          <p:cNvPr id="20" name="CuadroTexto 19">
            <a:extLst>
              <a:ext uri="{FF2B5EF4-FFF2-40B4-BE49-F238E27FC236}">
                <a16:creationId xmlns:a16="http://schemas.microsoft.com/office/drawing/2014/main" id="{76B670B7-CF5F-D861-7229-B01464AC2BA3}"/>
              </a:ext>
            </a:extLst>
          </p:cNvPr>
          <p:cNvSpPr txBox="1"/>
          <p:nvPr/>
        </p:nvSpPr>
        <p:spPr>
          <a:xfrm>
            <a:off x="609600" y="6451600"/>
            <a:ext cx="6604000" cy="228600"/>
          </a:xfrm>
          <a:prstGeom prst="rect">
            <a:avLst/>
          </a:prstGeom>
          <a:noFill/>
        </p:spPr>
        <p:txBody>
          <a:bodyPr vert="horz" wrap="square" lIns="0" tIns="0" rIns="0" bIns="0" rtlCol="0" anchor="t">
            <a:noAutofit/>
          </a:bodyPr>
          <a:lstStyle/>
          <a:p>
            <a:r>
              <a:rPr lang="es-GT" sz="1000">
                <a:solidFill>
                  <a:srgbClr val="5B6B82"/>
                </a:solidFill>
                <a:latin typeface="Calibri" panose="020F0502020204030204" pitchFamily="34" charset="0"/>
              </a:rPr>
              <a:t>Productor y consumidores con semáforo · Sistemas Operativos I</a:t>
            </a:r>
          </a:p>
        </p:txBody>
      </p:sp>
      <p:sp>
        <p:nvSpPr>
          <p:cNvPr id="21" name="CuadroTexto 20">
            <a:extLst>
              <a:ext uri="{FF2B5EF4-FFF2-40B4-BE49-F238E27FC236}">
                <a16:creationId xmlns:a16="http://schemas.microsoft.com/office/drawing/2014/main" id="{105BE4C2-3207-F44F-A82C-F2947D7285DB}"/>
              </a:ext>
            </a:extLst>
          </p:cNvPr>
          <p:cNvSpPr txBox="1"/>
          <p:nvPr/>
        </p:nvSpPr>
        <p:spPr>
          <a:xfrm>
            <a:off x="10312400" y="6451600"/>
            <a:ext cx="1270000" cy="228600"/>
          </a:xfrm>
          <a:prstGeom prst="rect">
            <a:avLst/>
          </a:prstGeom>
          <a:noFill/>
        </p:spPr>
        <p:txBody>
          <a:bodyPr vert="horz" wrap="square" lIns="0" tIns="0" rIns="0" bIns="0" rtlCol="0" anchor="t">
            <a:noAutofit/>
          </a:bodyPr>
          <a:lstStyle/>
          <a:p>
            <a:pPr algn="r"/>
            <a:r>
              <a:rPr lang="es-GT" sz="1000">
                <a:solidFill>
                  <a:srgbClr val="5B6B82"/>
                </a:solidFill>
                <a:latin typeface="Calibri" panose="020F0502020204030204" pitchFamily="34" charset="0"/>
              </a:rPr>
              <a:t>4</a:t>
            </a:r>
          </a:p>
        </p:txBody>
      </p:sp>
    </p:spTree>
    <p:extLst>
      <p:ext uri="{BB962C8B-B14F-4D97-AF65-F5344CB8AC3E}">
        <p14:creationId xmlns:p14="http://schemas.microsoft.com/office/powerpoint/2010/main" val="3143652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98B3213-DF6F-965D-9982-636FF0B63C35}"/>
              </a:ext>
            </a:extLst>
          </p:cNvPr>
          <p:cNvSpPr txBox="1"/>
          <p:nvPr/>
        </p:nvSpPr>
        <p:spPr>
          <a:xfrm>
            <a:off x="609600" y="406400"/>
            <a:ext cx="10033000" cy="635000"/>
          </a:xfrm>
          <a:prstGeom prst="rect">
            <a:avLst/>
          </a:prstGeom>
          <a:noFill/>
        </p:spPr>
        <p:txBody>
          <a:bodyPr vert="horz" wrap="square" lIns="0" tIns="0" rIns="0" bIns="0" rtlCol="0" anchor="ctr">
            <a:noAutofit/>
          </a:bodyPr>
          <a:lstStyle/>
          <a:p>
            <a:r>
              <a:rPr lang="es-GT" sz="3200" b="1">
                <a:solidFill>
                  <a:srgbClr val="1B2A41"/>
                </a:solidFill>
                <a:latin typeface="Calibri" panose="020F0502020204030204" pitchFamily="34" charset="0"/>
              </a:rPr>
              <a:t>Infraestructura con Docker Compose</a:t>
            </a:r>
          </a:p>
        </p:txBody>
      </p:sp>
      <p:sp>
        <p:nvSpPr>
          <p:cNvPr id="3" name="Elipse 2">
            <a:extLst>
              <a:ext uri="{FF2B5EF4-FFF2-40B4-BE49-F238E27FC236}">
                <a16:creationId xmlns:a16="http://schemas.microsoft.com/office/drawing/2014/main" id="{F0E27203-4C76-6ABC-A6F8-30F5457BD2A0}"/>
              </a:ext>
            </a:extLst>
          </p:cNvPr>
          <p:cNvSpPr/>
          <p:nvPr/>
        </p:nvSpPr>
        <p:spPr>
          <a:xfrm>
            <a:off x="11023600" y="635000"/>
            <a:ext cx="152400" cy="152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Elipse 3">
            <a:extLst>
              <a:ext uri="{FF2B5EF4-FFF2-40B4-BE49-F238E27FC236}">
                <a16:creationId xmlns:a16="http://schemas.microsoft.com/office/drawing/2014/main" id="{D76F4C47-805B-DC2F-20E8-EB49E0C34EB4}"/>
              </a:ext>
            </a:extLst>
          </p:cNvPr>
          <p:cNvSpPr/>
          <p:nvPr/>
        </p:nvSpPr>
        <p:spPr>
          <a:xfrm>
            <a:off x="11252200" y="635000"/>
            <a:ext cx="152400" cy="1524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5" name="Elipse 4">
            <a:extLst>
              <a:ext uri="{FF2B5EF4-FFF2-40B4-BE49-F238E27FC236}">
                <a16:creationId xmlns:a16="http://schemas.microsoft.com/office/drawing/2014/main" id="{F168C092-1DB9-A1AE-F754-A23401A14912}"/>
              </a:ext>
            </a:extLst>
          </p:cNvPr>
          <p:cNvSpPr/>
          <p:nvPr/>
        </p:nvSpPr>
        <p:spPr>
          <a:xfrm>
            <a:off x="11480800" y="635000"/>
            <a:ext cx="152400" cy="152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Rectángulo: esquinas redondeadas 5">
            <a:extLst>
              <a:ext uri="{FF2B5EF4-FFF2-40B4-BE49-F238E27FC236}">
                <a16:creationId xmlns:a16="http://schemas.microsoft.com/office/drawing/2014/main" id="{EBEA3AF2-76AF-E551-829F-984A025EA7DC}"/>
              </a:ext>
            </a:extLst>
          </p:cNvPr>
          <p:cNvSpPr/>
          <p:nvPr/>
        </p:nvSpPr>
        <p:spPr>
          <a:xfrm>
            <a:off x="609600" y="1422400"/>
            <a:ext cx="6172200" cy="4775200"/>
          </a:xfrm>
          <a:prstGeom prst="roundRect">
            <a:avLst>
              <a:gd name="adj" fmla="val 8000"/>
            </a:avLst>
          </a:prstGeom>
          <a:solidFill>
            <a:srgbClr val="1523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06680" rIns="177800" bIns="106680" rtlCol="0" anchor="ctr"/>
          <a:lstStyle/>
          <a:p>
            <a:r>
              <a:rPr lang="es-GT" sz="1200">
                <a:solidFill>
                  <a:srgbClr val="D6E2F0"/>
                </a:solidFill>
                <a:latin typeface="Consolas" panose="020B0609020204030204" pitchFamily="49" charset="0"/>
              </a:rPr>
              <a:t>services:</a:t>
            </a:r>
          </a:p>
          <a:p>
            <a:r>
              <a:rPr lang="es-GT" sz="1200">
                <a:solidFill>
                  <a:srgbClr val="D6E2F0"/>
                </a:solidFill>
                <a:latin typeface="Consolas" panose="020B0609020204030204" pitchFamily="49" charset="0"/>
              </a:rPr>
              <a:t>  mysql:</a:t>
            </a:r>
          </a:p>
          <a:p>
            <a:r>
              <a:rPr lang="es-GT" sz="1200">
                <a:solidFill>
                  <a:srgbClr val="D6E2F0"/>
                </a:solidFill>
                <a:latin typeface="Consolas" panose="020B0609020204030204" pitchFamily="49" charset="0"/>
              </a:rPr>
              <a:t>    image: mysql:8</a:t>
            </a:r>
          </a:p>
          <a:p>
            <a:r>
              <a:rPr lang="es-GT" sz="1200">
                <a:solidFill>
                  <a:srgbClr val="D6E2F0"/>
                </a:solidFill>
                <a:latin typeface="Consolas" panose="020B0609020204030204" pitchFamily="49" charset="0"/>
              </a:rPr>
              <a:t>    env_file: .env</a:t>
            </a:r>
          </a:p>
          <a:p>
            <a:r>
              <a:rPr lang="es-GT" sz="1200">
                <a:solidFill>
                  <a:srgbClr val="D6E2F0"/>
                </a:solidFill>
                <a:latin typeface="Consolas" panose="020B0609020204030204" pitchFamily="49" charset="0"/>
              </a:rPr>
              <a:t>    volumes:</a:t>
            </a:r>
          </a:p>
          <a:p>
            <a:r>
              <a:rPr lang="es-GT" sz="1200">
                <a:solidFill>
                  <a:srgbClr val="D6E2F0"/>
                </a:solidFill>
                <a:latin typeface="Consolas" panose="020B0609020204030204" pitchFamily="49" charset="0"/>
              </a:rPr>
              <a:t>      - ./mysql/init.sql:/docker-entrypoint-initdb.d/</a:t>
            </a:r>
          </a:p>
          <a:p>
            <a:r>
              <a:rPr lang="es-GT" sz="1200">
                <a:solidFill>
                  <a:srgbClr val="D6E2F0"/>
                </a:solidFill>
                <a:latin typeface="Consolas" panose="020B0609020204030204" pitchFamily="49" charset="0"/>
              </a:rPr>
              <a:t>    </a:t>
            </a:r>
            <a:r>
              <a:rPr lang="es-GT" sz="1200" b="1">
                <a:solidFill>
                  <a:srgbClr val="E8A33D"/>
                </a:solidFill>
                <a:latin typeface="Consolas" panose="020B0609020204030204" pitchFamily="49" charset="0"/>
              </a:rPr>
              <a:t>healthcheck</a:t>
            </a:r>
            <a:r>
              <a:rPr lang="es-GT" sz="1200">
                <a:solidFill>
                  <a:srgbClr val="D6E2F0"/>
                </a:solidFill>
                <a:latin typeface="Consolas" panose="020B0609020204030204" pitchFamily="49" charset="0"/>
              </a:rPr>
              <a:t>:</a:t>
            </a:r>
          </a:p>
          <a:p>
            <a:r>
              <a:rPr lang="es-GT" sz="1200">
                <a:solidFill>
                  <a:srgbClr val="D6E2F0"/>
                </a:solidFill>
                <a:latin typeface="Consolas" panose="020B0609020204030204" pitchFamily="49" charset="0"/>
              </a:rPr>
              <a:t>      test: ["CMD", "mysqladmin", "ping", ...]</a:t>
            </a:r>
          </a:p>
          <a:p>
            <a:endParaRPr lang="es-GT" sz="1200">
              <a:solidFill>
                <a:srgbClr val="D6E2F0"/>
              </a:solidFill>
              <a:latin typeface="Consolas" panose="020B0609020204030204" pitchFamily="49" charset="0"/>
            </a:endParaRPr>
          </a:p>
          <a:p>
            <a:r>
              <a:rPr lang="es-GT" sz="1200">
                <a:solidFill>
                  <a:srgbClr val="D6E2F0"/>
                </a:solidFill>
                <a:latin typeface="Consolas" panose="020B0609020204030204" pitchFamily="49" charset="0"/>
              </a:rPr>
              <a:t>  consumidor1:</a:t>
            </a:r>
          </a:p>
          <a:p>
            <a:r>
              <a:rPr lang="es-GT" sz="1200">
                <a:solidFill>
                  <a:srgbClr val="D6E2F0"/>
                </a:solidFill>
                <a:latin typeface="Consolas" panose="020B0609020204030204" pitchFamily="49" charset="0"/>
              </a:rPr>
              <a:t>    build: ./consumidor</a:t>
            </a:r>
          </a:p>
          <a:p>
            <a:r>
              <a:rPr lang="es-GT" sz="1200">
                <a:solidFill>
                  <a:srgbClr val="D6E2F0"/>
                </a:solidFill>
                <a:latin typeface="Consolas" panose="020B0609020204030204" pitchFamily="49" charset="0"/>
              </a:rPr>
              <a:t>    environment:</a:t>
            </a:r>
          </a:p>
          <a:p>
            <a:r>
              <a:rPr lang="es-GT" sz="1200">
                <a:solidFill>
                  <a:srgbClr val="D6E2F0"/>
                </a:solidFill>
                <a:latin typeface="Consolas" panose="020B0609020204030204" pitchFamily="49" charset="0"/>
              </a:rPr>
              <a:t>      ID_CONSUMIDOR: consumidor1</a:t>
            </a:r>
          </a:p>
          <a:p>
            <a:r>
              <a:rPr lang="es-GT" sz="1200">
                <a:solidFill>
                  <a:srgbClr val="D6E2F0"/>
                </a:solidFill>
                <a:latin typeface="Consolas" panose="020B0609020204030204" pitchFamily="49" charset="0"/>
              </a:rPr>
              <a:t>    depends_on:</a:t>
            </a:r>
          </a:p>
          <a:p>
            <a:r>
              <a:rPr lang="es-GT" sz="1200">
                <a:solidFill>
                  <a:srgbClr val="D6E2F0"/>
                </a:solidFill>
                <a:latin typeface="Consolas" panose="020B0609020204030204" pitchFamily="49" charset="0"/>
              </a:rPr>
              <a:t>      mysql: { condition: </a:t>
            </a:r>
            <a:r>
              <a:rPr lang="es-GT" sz="1200" b="1">
                <a:solidFill>
                  <a:srgbClr val="1F9D55"/>
                </a:solidFill>
                <a:latin typeface="Consolas" panose="020B0609020204030204" pitchFamily="49" charset="0"/>
              </a:rPr>
              <a:t>service_healthy</a:t>
            </a:r>
            <a:r>
              <a:rPr lang="es-GT" sz="1200">
                <a:solidFill>
                  <a:srgbClr val="D6E2F0"/>
                </a:solidFill>
                <a:latin typeface="Consolas" panose="020B0609020204030204" pitchFamily="49" charset="0"/>
              </a:rPr>
              <a:t> }</a:t>
            </a:r>
          </a:p>
          <a:p>
            <a:r>
              <a:rPr lang="es-GT" sz="1200">
                <a:solidFill>
                  <a:srgbClr val="D6E2F0"/>
                </a:solidFill>
                <a:latin typeface="Consolas" panose="020B0609020204030204" pitchFamily="49" charset="0"/>
              </a:rPr>
              <a:t>      redis: { condition: </a:t>
            </a:r>
            <a:r>
              <a:rPr lang="es-GT" sz="1200" b="1">
                <a:solidFill>
                  <a:srgbClr val="1F9D55"/>
                </a:solidFill>
                <a:latin typeface="Consolas" panose="020B0609020204030204" pitchFamily="49" charset="0"/>
              </a:rPr>
              <a:t>service_healthy</a:t>
            </a:r>
            <a:r>
              <a:rPr lang="es-GT" sz="1200">
                <a:solidFill>
                  <a:srgbClr val="D6E2F0"/>
                </a:solidFill>
                <a:latin typeface="Consolas" panose="020B0609020204030204" pitchFamily="49" charset="0"/>
              </a:rPr>
              <a:t> }</a:t>
            </a:r>
          </a:p>
        </p:txBody>
      </p:sp>
      <p:sp>
        <p:nvSpPr>
          <p:cNvPr id="7" name="Rectángulo: esquinas redondeadas 6">
            <a:extLst>
              <a:ext uri="{FF2B5EF4-FFF2-40B4-BE49-F238E27FC236}">
                <a16:creationId xmlns:a16="http://schemas.microsoft.com/office/drawing/2014/main" id="{16870502-2BF1-EC97-51C2-1C28802605D4}"/>
              </a:ext>
            </a:extLst>
          </p:cNvPr>
          <p:cNvSpPr/>
          <p:nvPr/>
        </p:nvSpPr>
        <p:spPr>
          <a:xfrm>
            <a:off x="7086600" y="1422400"/>
            <a:ext cx="4495800" cy="10795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8" name="Elipse 7">
            <a:extLst>
              <a:ext uri="{FF2B5EF4-FFF2-40B4-BE49-F238E27FC236}">
                <a16:creationId xmlns:a16="http://schemas.microsoft.com/office/drawing/2014/main" id="{BE87F1B2-494B-35F3-4DC1-3E6A62B9E510}"/>
              </a:ext>
            </a:extLst>
          </p:cNvPr>
          <p:cNvSpPr/>
          <p:nvPr/>
        </p:nvSpPr>
        <p:spPr>
          <a:xfrm>
            <a:off x="7264400" y="1701800"/>
            <a:ext cx="508000" cy="5080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300" b="1">
                <a:solidFill>
                  <a:srgbClr val="FFFFFF"/>
                </a:solidFill>
                <a:latin typeface="Segoe UI Symbol" panose="020B0502040204020203" pitchFamily="34" charset="0"/>
              </a:rPr>
              <a:t>▶</a:t>
            </a:r>
          </a:p>
        </p:txBody>
      </p:sp>
      <p:sp>
        <p:nvSpPr>
          <p:cNvPr id="9" name="CuadroTexto 8">
            <a:extLst>
              <a:ext uri="{FF2B5EF4-FFF2-40B4-BE49-F238E27FC236}">
                <a16:creationId xmlns:a16="http://schemas.microsoft.com/office/drawing/2014/main" id="{9C780D09-1C33-2A93-44B2-DCF0808EDD86}"/>
              </a:ext>
            </a:extLst>
          </p:cNvPr>
          <p:cNvSpPr txBox="1"/>
          <p:nvPr/>
        </p:nvSpPr>
        <p:spPr>
          <a:xfrm>
            <a:off x="7950200" y="1574800"/>
            <a:ext cx="3479800" cy="279400"/>
          </a:xfrm>
          <a:prstGeom prst="rect">
            <a:avLst/>
          </a:prstGeom>
          <a:noFill/>
        </p:spPr>
        <p:txBody>
          <a:bodyPr vert="horz" wrap="square" lIns="0" tIns="0" rIns="0" bIns="0" rtlCol="0" anchor="t">
            <a:noAutofit/>
          </a:bodyPr>
          <a:lstStyle/>
          <a:p>
            <a:r>
              <a:rPr lang="es-GT" sz="1600" b="1">
                <a:solidFill>
                  <a:srgbClr val="1B2A41"/>
                </a:solidFill>
                <a:latin typeface="Calibri" panose="020F0502020204030204" pitchFamily="34" charset="0"/>
              </a:rPr>
              <a:t>Un solo comando</a:t>
            </a:r>
          </a:p>
        </p:txBody>
      </p:sp>
      <p:sp>
        <p:nvSpPr>
          <p:cNvPr id="10" name="CuadroTexto 9">
            <a:extLst>
              <a:ext uri="{FF2B5EF4-FFF2-40B4-BE49-F238E27FC236}">
                <a16:creationId xmlns:a16="http://schemas.microsoft.com/office/drawing/2014/main" id="{5ECC51DC-1327-16B7-005F-76B84DCF3CA9}"/>
              </a:ext>
            </a:extLst>
          </p:cNvPr>
          <p:cNvSpPr txBox="1"/>
          <p:nvPr/>
        </p:nvSpPr>
        <p:spPr>
          <a:xfrm>
            <a:off x="7950200" y="1879600"/>
            <a:ext cx="3479800" cy="533400"/>
          </a:xfrm>
          <a:prstGeom prst="rect">
            <a:avLst/>
          </a:prstGeom>
          <a:noFill/>
        </p:spPr>
        <p:txBody>
          <a:bodyPr vert="horz" wrap="square" lIns="0" tIns="0" rIns="0" bIns="0" rtlCol="0" anchor="t">
            <a:noAutofit/>
          </a:bodyPr>
          <a:lstStyle/>
          <a:p>
            <a:r>
              <a:rPr lang="en-US" sz="1400">
                <a:solidFill>
                  <a:srgbClr val="1B2A41"/>
                </a:solidFill>
                <a:latin typeface="Calibri" panose="020F0502020204030204" pitchFamily="34" charset="0"/>
              </a:rPr>
              <a:t>docker compose up -d --build levanta todo</a:t>
            </a:r>
            <a:endParaRPr lang="es-GT" sz="1400">
              <a:solidFill>
                <a:srgbClr val="1B2A41"/>
              </a:solidFill>
              <a:latin typeface="Calibri" panose="020F0502020204030204" pitchFamily="34" charset="0"/>
            </a:endParaRPr>
          </a:p>
        </p:txBody>
      </p:sp>
      <p:sp>
        <p:nvSpPr>
          <p:cNvPr id="11" name="Rectángulo: esquinas redondeadas 10">
            <a:extLst>
              <a:ext uri="{FF2B5EF4-FFF2-40B4-BE49-F238E27FC236}">
                <a16:creationId xmlns:a16="http://schemas.microsoft.com/office/drawing/2014/main" id="{BE9BBB2F-690A-B358-A32D-8F46EE88B044}"/>
              </a:ext>
            </a:extLst>
          </p:cNvPr>
          <p:cNvSpPr/>
          <p:nvPr/>
        </p:nvSpPr>
        <p:spPr>
          <a:xfrm>
            <a:off x="7086600" y="2654300"/>
            <a:ext cx="4495800" cy="10795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2" name="Elipse 11">
            <a:extLst>
              <a:ext uri="{FF2B5EF4-FFF2-40B4-BE49-F238E27FC236}">
                <a16:creationId xmlns:a16="http://schemas.microsoft.com/office/drawing/2014/main" id="{9FABE73B-90E3-662B-F8D5-4CF2BDB5EE81}"/>
              </a:ext>
            </a:extLst>
          </p:cNvPr>
          <p:cNvSpPr/>
          <p:nvPr/>
        </p:nvSpPr>
        <p:spPr>
          <a:xfrm>
            <a:off x="7264400" y="2933700"/>
            <a:ext cx="508000" cy="508000"/>
          </a:xfrm>
          <a:prstGeom prst="ellipse">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300" b="1">
                <a:solidFill>
                  <a:srgbClr val="FFFFFF"/>
                </a:solidFill>
                <a:latin typeface="Segoe UI Symbol" panose="020B0502040204020203" pitchFamily="34" charset="0"/>
              </a:rPr>
              <a:t>✓</a:t>
            </a:r>
          </a:p>
        </p:txBody>
      </p:sp>
      <p:sp>
        <p:nvSpPr>
          <p:cNvPr id="13" name="CuadroTexto 12">
            <a:extLst>
              <a:ext uri="{FF2B5EF4-FFF2-40B4-BE49-F238E27FC236}">
                <a16:creationId xmlns:a16="http://schemas.microsoft.com/office/drawing/2014/main" id="{610541E2-03E3-6D72-4219-F20E7AD39177}"/>
              </a:ext>
            </a:extLst>
          </p:cNvPr>
          <p:cNvSpPr txBox="1"/>
          <p:nvPr/>
        </p:nvSpPr>
        <p:spPr>
          <a:xfrm>
            <a:off x="7950200" y="2806700"/>
            <a:ext cx="3479800" cy="279400"/>
          </a:xfrm>
          <a:prstGeom prst="rect">
            <a:avLst/>
          </a:prstGeom>
          <a:noFill/>
        </p:spPr>
        <p:txBody>
          <a:bodyPr vert="horz" wrap="square" lIns="0" tIns="0" rIns="0" bIns="0" rtlCol="0" anchor="t">
            <a:noAutofit/>
          </a:bodyPr>
          <a:lstStyle/>
          <a:p>
            <a:r>
              <a:rPr lang="es-GT" sz="1600" b="1">
                <a:solidFill>
                  <a:srgbClr val="1B2A41"/>
                </a:solidFill>
                <a:latin typeface="Calibri" panose="020F0502020204030204" pitchFamily="34" charset="0"/>
              </a:rPr>
              <a:t>Healthchecks</a:t>
            </a:r>
          </a:p>
        </p:txBody>
      </p:sp>
      <p:sp>
        <p:nvSpPr>
          <p:cNvPr id="14" name="CuadroTexto 13">
            <a:extLst>
              <a:ext uri="{FF2B5EF4-FFF2-40B4-BE49-F238E27FC236}">
                <a16:creationId xmlns:a16="http://schemas.microsoft.com/office/drawing/2014/main" id="{ED1B1525-AE26-CDC0-2707-9F5002D868EB}"/>
              </a:ext>
            </a:extLst>
          </p:cNvPr>
          <p:cNvSpPr txBox="1"/>
          <p:nvPr/>
        </p:nvSpPr>
        <p:spPr>
          <a:xfrm>
            <a:off x="7950200" y="3111500"/>
            <a:ext cx="3479800" cy="5334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Las apps esperan a que MySQL y Redis estén healthy</a:t>
            </a:r>
          </a:p>
        </p:txBody>
      </p:sp>
      <p:sp>
        <p:nvSpPr>
          <p:cNvPr id="15" name="Rectángulo: esquinas redondeadas 14">
            <a:extLst>
              <a:ext uri="{FF2B5EF4-FFF2-40B4-BE49-F238E27FC236}">
                <a16:creationId xmlns:a16="http://schemas.microsoft.com/office/drawing/2014/main" id="{4F86677A-0527-7EDB-E40A-0DAE41CD94FD}"/>
              </a:ext>
            </a:extLst>
          </p:cNvPr>
          <p:cNvSpPr/>
          <p:nvPr/>
        </p:nvSpPr>
        <p:spPr>
          <a:xfrm>
            <a:off x="7086600" y="3886200"/>
            <a:ext cx="4495800" cy="10795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6" name="Elipse 15">
            <a:extLst>
              <a:ext uri="{FF2B5EF4-FFF2-40B4-BE49-F238E27FC236}">
                <a16:creationId xmlns:a16="http://schemas.microsoft.com/office/drawing/2014/main" id="{CFEDEE81-97AA-89F7-F6A0-FB32CD1120D8}"/>
              </a:ext>
            </a:extLst>
          </p:cNvPr>
          <p:cNvSpPr/>
          <p:nvPr/>
        </p:nvSpPr>
        <p:spPr>
          <a:xfrm>
            <a:off x="7264400" y="4165600"/>
            <a:ext cx="508000" cy="5080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300" b="1">
                <a:solidFill>
                  <a:srgbClr val="FFFFFF"/>
                </a:solidFill>
                <a:latin typeface="Segoe UI Symbol" panose="020B0502040204020203" pitchFamily="34" charset="0"/>
              </a:rPr>
              <a:t>SQL</a:t>
            </a:r>
          </a:p>
        </p:txBody>
      </p:sp>
      <p:sp>
        <p:nvSpPr>
          <p:cNvPr id="17" name="CuadroTexto 16">
            <a:extLst>
              <a:ext uri="{FF2B5EF4-FFF2-40B4-BE49-F238E27FC236}">
                <a16:creationId xmlns:a16="http://schemas.microsoft.com/office/drawing/2014/main" id="{83FEFF60-6CEB-A5D5-A563-8F5050809CC3}"/>
              </a:ext>
            </a:extLst>
          </p:cNvPr>
          <p:cNvSpPr txBox="1"/>
          <p:nvPr/>
        </p:nvSpPr>
        <p:spPr>
          <a:xfrm>
            <a:off x="7950200" y="4038600"/>
            <a:ext cx="3479800" cy="279400"/>
          </a:xfrm>
          <a:prstGeom prst="rect">
            <a:avLst/>
          </a:prstGeom>
          <a:noFill/>
        </p:spPr>
        <p:txBody>
          <a:bodyPr vert="horz" wrap="square" lIns="0" tIns="0" rIns="0" bIns="0" rtlCol="0" anchor="t">
            <a:noAutofit/>
          </a:bodyPr>
          <a:lstStyle/>
          <a:p>
            <a:r>
              <a:rPr lang="es-GT" sz="1600" b="1">
                <a:solidFill>
                  <a:srgbClr val="1B2A41"/>
                </a:solidFill>
                <a:latin typeface="Calibri" panose="020F0502020204030204" pitchFamily="34" charset="0"/>
              </a:rPr>
              <a:t>init.sql automático</a:t>
            </a:r>
          </a:p>
        </p:txBody>
      </p:sp>
      <p:sp>
        <p:nvSpPr>
          <p:cNvPr id="18" name="CuadroTexto 17">
            <a:extLst>
              <a:ext uri="{FF2B5EF4-FFF2-40B4-BE49-F238E27FC236}">
                <a16:creationId xmlns:a16="http://schemas.microsoft.com/office/drawing/2014/main" id="{2B4C6B63-7299-0D8E-7333-583906623278}"/>
              </a:ext>
            </a:extLst>
          </p:cNvPr>
          <p:cNvSpPr txBox="1"/>
          <p:nvPr/>
        </p:nvSpPr>
        <p:spPr>
          <a:xfrm>
            <a:off x="7950200" y="4343400"/>
            <a:ext cx="3479800" cy="5334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MySQL crea las tablas al arrancar por primera vez</a:t>
            </a:r>
          </a:p>
        </p:txBody>
      </p:sp>
      <p:sp>
        <p:nvSpPr>
          <p:cNvPr id="19" name="Rectángulo: esquinas redondeadas 18">
            <a:extLst>
              <a:ext uri="{FF2B5EF4-FFF2-40B4-BE49-F238E27FC236}">
                <a16:creationId xmlns:a16="http://schemas.microsoft.com/office/drawing/2014/main" id="{C34D71A5-4041-6232-FDC1-7572AD44876D}"/>
              </a:ext>
            </a:extLst>
          </p:cNvPr>
          <p:cNvSpPr/>
          <p:nvPr/>
        </p:nvSpPr>
        <p:spPr>
          <a:xfrm>
            <a:off x="7086600" y="5118100"/>
            <a:ext cx="4495800" cy="10795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20" name="Elipse 19">
            <a:extLst>
              <a:ext uri="{FF2B5EF4-FFF2-40B4-BE49-F238E27FC236}">
                <a16:creationId xmlns:a16="http://schemas.microsoft.com/office/drawing/2014/main" id="{3E0B3603-8792-4AA5-709D-A704934DAA98}"/>
              </a:ext>
            </a:extLst>
          </p:cNvPr>
          <p:cNvSpPr/>
          <p:nvPr/>
        </p:nvSpPr>
        <p:spPr>
          <a:xfrm>
            <a:off x="7264400" y="5397500"/>
            <a:ext cx="508000" cy="508000"/>
          </a:xfrm>
          <a:prstGeom prst="ellipse">
            <a:avLst/>
          </a:prstGeom>
          <a:solidFill>
            <a:srgbClr val="5B6B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300" b="1">
                <a:solidFill>
                  <a:srgbClr val="FFFFFF"/>
                </a:solidFill>
                <a:latin typeface="Segoe UI Symbol" panose="020B0502040204020203" pitchFamily="34" charset="0"/>
              </a:rPr>
              <a:t>.env</a:t>
            </a:r>
          </a:p>
        </p:txBody>
      </p:sp>
      <p:sp>
        <p:nvSpPr>
          <p:cNvPr id="21" name="CuadroTexto 20">
            <a:extLst>
              <a:ext uri="{FF2B5EF4-FFF2-40B4-BE49-F238E27FC236}">
                <a16:creationId xmlns:a16="http://schemas.microsoft.com/office/drawing/2014/main" id="{A35FFCD4-96F9-53E5-F764-1CEB383B1259}"/>
              </a:ext>
            </a:extLst>
          </p:cNvPr>
          <p:cNvSpPr txBox="1"/>
          <p:nvPr/>
        </p:nvSpPr>
        <p:spPr>
          <a:xfrm>
            <a:off x="7950200" y="5270500"/>
            <a:ext cx="3479800" cy="279400"/>
          </a:xfrm>
          <a:prstGeom prst="rect">
            <a:avLst/>
          </a:prstGeom>
          <a:noFill/>
        </p:spPr>
        <p:txBody>
          <a:bodyPr vert="horz" wrap="square" lIns="0" tIns="0" rIns="0" bIns="0" rtlCol="0" anchor="t">
            <a:noAutofit/>
          </a:bodyPr>
          <a:lstStyle/>
          <a:p>
            <a:r>
              <a:rPr lang="es-GT" sz="1600" b="1">
                <a:solidFill>
                  <a:srgbClr val="1B2A41"/>
                </a:solidFill>
                <a:latin typeface="Calibri" panose="020F0502020204030204" pitchFamily="34" charset="0"/>
              </a:rPr>
              <a:t>Configuración central</a:t>
            </a:r>
          </a:p>
        </p:txBody>
      </p:sp>
      <p:sp>
        <p:nvSpPr>
          <p:cNvPr id="22" name="CuadroTexto 21">
            <a:extLst>
              <a:ext uri="{FF2B5EF4-FFF2-40B4-BE49-F238E27FC236}">
                <a16:creationId xmlns:a16="http://schemas.microsoft.com/office/drawing/2014/main" id="{E5B3B732-4983-19BC-611C-A3B6075800FC}"/>
              </a:ext>
            </a:extLst>
          </p:cNvPr>
          <p:cNvSpPr txBox="1"/>
          <p:nvPr/>
        </p:nvSpPr>
        <p:spPr>
          <a:xfrm>
            <a:off x="7950200" y="5575300"/>
            <a:ext cx="3479800" cy="5334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Contraseñas y hosts en un solo archivo</a:t>
            </a:r>
          </a:p>
        </p:txBody>
      </p:sp>
      <p:sp>
        <p:nvSpPr>
          <p:cNvPr id="23" name="CuadroTexto 22">
            <a:extLst>
              <a:ext uri="{FF2B5EF4-FFF2-40B4-BE49-F238E27FC236}">
                <a16:creationId xmlns:a16="http://schemas.microsoft.com/office/drawing/2014/main" id="{A31FAD4A-3403-633E-6F74-10487711F463}"/>
              </a:ext>
            </a:extLst>
          </p:cNvPr>
          <p:cNvSpPr txBox="1"/>
          <p:nvPr/>
        </p:nvSpPr>
        <p:spPr>
          <a:xfrm>
            <a:off x="609600" y="6451600"/>
            <a:ext cx="6604000" cy="228600"/>
          </a:xfrm>
          <a:prstGeom prst="rect">
            <a:avLst/>
          </a:prstGeom>
          <a:noFill/>
        </p:spPr>
        <p:txBody>
          <a:bodyPr vert="horz" wrap="square" lIns="0" tIns="0" rIns="0" bIns="0" rtlCol="0" anchor="t">
            <a:noAutofit/>
          </a:bodyPr>
          <a:lstStyle/>
          <a:p>
            <a:r>
              <a:rPr lang="es-GT" sz="1000">
                <a:solidFill>
                  <a:srgbClr val="5B6B82"/>
                </a:solidFill>
                <a:latin typeface="Calibri" panose="020F0502020204030204" pitchFamily="34" charset="0"/>
              </a:rPr>
              <a:t>Productor y consumidores con semáforo · Sistemas Operativos I</a:t>
            </a:r>
          </a:p>
        </p:txBody>
      </p:sp>
      <p:sp>
        <p:nvSpPr>
          <p:cNvPr id="24" name="CuadroTexto 23">
            <a:extLst>
              <a:ext uri="{FF2B5EF4-FFF2-40B4-BE49-F238E27FC236}">
                <a16:creationId xmlns:a16="http://schemas.microsoft.com/office/drawing/2014/main" id="{7F68FD67-7A7D-29C4-5BDF-D64F47A646DC}"/>
              </a:ext>
            </a:extLst>
          </p:cNvPr>
          <p:cNvSpPr txBox="1"/>
          <p:nvPr/>
        </p:nvSpPr>
        <p:spPr>
          <a:xfrm>
            <a:off x="10312400" y="6451600"/>
            <a:ext cx="1270000" cy="228600"/>
          </a:xfrm>
          <a:prstGeom prst="rect">
            <a:avLst/>
          </a:prstGeom>
          <a:noFill/>
        </p:spPr>
        <p:txBody>
          <a:bodyPr vert="horz" wrap="square" lIns="0" tIns="0" rIns="0" bIns="0" rtlCol="0" anchor="t">
            <a:noAutofit/>
          </a:bodyPr>
          <a:lstStyle/>
          <a:p>
            <a:pPr algn="r"/>
            <a:r>
              <a:rPr lang="es-GT" sz="1000">
                <a:solidFill>
                  <a:srgbClr val="5B6B82"/>
                </a:solidFill>
                <a:latin typeface="Calibri" panose="020F0502020204030204" pitchFamily="34" charset="0"/>
              </a:rPr>
              <a:t>5</a:t>
            </a:r>
          </a:p>
        </p:txBody>
      </p:sp>
    </p:spTree>
    <p:extLst>
      <p:ext uri="{BB962C8B-B14F-4D97-AF65-F5344CB8AC3E}">
        <p14:creationId xmlns:p14="http://schemas.microsoft.com/office/powerpoint/2010/main" val="749739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ECBFD06-45AA-1C36-0E3A-E777019F3D8D}"/>
              </a:ext>
            </a:extLst>
          </p:cNvPr>
          <p:cNvSpPr txBox="1"/>
          <p:nvPr/>
        </p:nvSpPr>
        <p:spPr>
          <a:xfrm>
            <a:off x="609600" y="406400"/>
            <a:ext cx="10033000" cy="635000"/>
          </a:xfrm>
          <a:prstGeom prst="rect">
            <a:avLst/>
          </a:prstGeom>
          <a:noFill/>
        </p:spPr>
        <p:txBody>
          <a:bodyPr vert="horz" wrap="square" lIns="0" tIns="0" rIns="0" bIns="0" rtlCol="0" anchor="ctr">
            <a:noAutofit/>
          </a:bodyPr>
          <a:lstStyle/>
          <a:p>
            <a:r>
              <a:rPr lang="es-GT" sz="3200" b="1">
                <a:solidFill>
                  <a:srgbClr val="1B2A41"/>
                </a:solidFill>
                <a:latin typeface="Calibri" panose="020F0502020204030204" pitchFamily="34" charset="0"/>
              </a:rPr>
              <a:t>Modelo de datos</a:t>
            </a:r>
          </a:p>
        </p:txBody>
      </p:sp>
      <p:sp>
        <p:nvSpPr>
          <p:cNvPr id="3" name="Elipse 2">
            <a:extLst>
              <a:ext uri="{FF2B5EF4-FFF2-40B4-BE49-F238E27FC236}">
                <a16:creationId xmlns:a16="http://schemas.microsoft.com/office/drawing/2014/main" id="{D5255877-C8D8-FD7B-CA9E-938252660206}"/>
              </a:ext>
            </a:extLst>
          </p:cNvPr>
          <p:cNvSpPr/>
          <p:nvPr/>
        </p:nvSpPr>
        <p:spPr>
          <a:xfrm>
            <a:off x="11023600" y="635000"/>
            <a:ext cx="152400" cy="152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Elipse 3">
            <a:extLst>
              <a:ext uri="{FF2B5EF4-FFF2-40B4-BE49-F238E27FC236}">
                <a16:creationId xmlns:a16="http://schemas.microsoft.com/office/drawing/2014/main" id="{DBF32956-6719-FC1F-C1EB-50AB8052F6F1}"/>
              </a:ext>
            </a:extLst>
          </p:cNvPr>
          <p:cNvSpPr/>
          <p:nvPr/>
        </p:nvSpPr>
        <p:spPr>
          <a:xfrm>
            <a:off x="11252200" y="635000"/>
            <a:ext cx="152400" cy="1524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5" name="Elipse 4">
            <a:extLst>
              <a:ext uri="{FF2B5EF4-FFF2-40B4-BE49-F238E27FC236}">
                <a16:creationId xmlns:a16="http://schemas.microsoft.com/office/drawing/2014/main" id="{FF76CFBF-0DBB-9413-5E6F-4579866E289A}"/>
              </a:ext>
            </a:extLst>
          </p:cNvPr>
          <p:cNvSpPr/>
          <p:nvPr/>
        </p:nvSpPr>
        <p:spPr>
          <a:xfrm>
            <a:off x="11480800" y="635000"/>
            <a:ext cx="152400" cy="152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graphicFrame>
        <p:nvGraphicFramePr>
          <p:cNvPr id="6" name="Tabla 5">
            <a:extLst>
              <a:ext uri="{FF2B5EF4-FFF2-40B4-BE49-F238E27FC236}">
                <a16:creationId xmlns:a16="http://schemas.microsoft.com/office/drawing/2014/main" id="{046583ED-6479-A1B9-BE3C-177B31D9870F}"/>
              </a:ext>
            </a:extLst>
          </p:cNvPr>
          <p:cNvGraphicFramePr>
            <a:graphicFrameLocks noGrp="1"/>
          </p:cNvGraphicFramePr>
          <p:nvPr>
            <p:extLst>
              <p:ext uri="{D42A27DB-BD31-4B8C-83A1-F6EECF244321}">
                <p14:modId xmlns:p14="http://schemas.microsoft.com/office/powerpoint/2010/main" val="1603345146"/>
              </p:ext>
            </p:extLst>
          </p:nvPr>
        </p:nvGraphicFramePr>
        <p:xfrm>
          <a:off x="609600" y="1422400"/>
          <a:ext cx="7112000" cy="3810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3248084607"/>
                    </a:ext>
                  </a:extLst>
                </a:gridCol>
                <a:gridCol w="2667000">
                  <a:extLst>
                    <a:ext uri="{9D8B030D-6E8A-4147-A177-3AD203B41FA5}">
                      <a16:colId xmlns:a16="http://schemas.microsoft.com/office/drawing/2014/main" val="452470279"/>
                    </a:ext>
                  </a:extLst>
                </a:gridCol>
                <a:gridCol w="2540000">
                  <a:extLst>
                    <a:ext uri="{9D8B030D-6E8A-4147-A177-3AD203B41FA5}">
                      <a16:colId xmlns:a16="http://schemas.microsoft.com/office/drawing/2014/main" val="850432829"/>
                    </a:ext>
                  </a:extLst>
                </a:gridCol>
              </a:tblGrid>
              <a:tr h="406400">
                <a:tc>
                  <a:txBody>
                    <a:bodyPr/>
                    <a:lstStyle/>
                    <a:p>
                      <a:r>
                        <a:rPr lang="es-GT" sz="1400" b="1">
                          <a:solidFill>
                            <a:srgbClr val="FFFFFF"/>
                          </a:solidFill>
                          <a:latin typeface="Calibri" panose="020F0502020204030204" pitchFamily="34" charset="0"/>
                        </a:rPr>
                        <a:t>Columna</a:t>
                      </a:r>
                    </a:p>
                  </a:txBody>
                  <a:tcPr anchor="ctr">
                    <a:solidFill>
                      <a:srgbClr val="1B2A41"/>
                    </a:solidFill>
                  </a:tcPr>
                </a:tc>
                <a:tc>
                  <a:txBody>
                    <a:bodyPr/>
                    <a:lstStyle/>
                    <a:p>
                      <a:r>
                        <a:rPr lang="es-GT" sz="1400" b="1">
                          <a:solidFill>
                            <a:srgbClr val="FFFFFF"/>
                          </a:solidFill>
                          <a:latin typeface="Calibri" panose="020F0502020204030204" pitchFamily="34" charset="0"/>
                        </a:rPr>
                        <a:t>Tipo</a:t>
                      </a:r>
                    </a:p>
                  </a:txBody>
                  <a:tcPr anchor="ctr">
                    <a:solidFill>
                      <a:srgbClr val="1B2A41"/>
                    </a:solidFill>
                  </a:tcPr>
                </a:tc>
                <a:tc>
                  <a:txBody>
                    <a:bodyPr/>
                    <a:lstStyle/>
                    <a:p>
                      <a:r>
                        <a:rPr lang="es-GT" sz="1400" b="1">
                          <a:solidFill>
                            <a:srgbClr val="FFFFFF"/>
                          </a:solidFill>
                          <a:latin typeface="Calibri" panose="020F0502020204030204" pitchFamily="34" charset="0"/>
                        </a:rPr>
                        <a:t>Quién la llena</a:t>
                      </a:r>
                    </a:p>
                  </a:txBody>
                  <a:tcPr anchor="ctr">
                    <a:solidFill>
                      <a:srgbClr val="1B2A41"/>
                    </a:solidFill>
                  </a:tcPr>
                </a:tc>
                <a:extLst>
                  <a:ext uri="{0D108BD9-81ED-4DB2-BD59-A6C34878D82A}">
                    <a16:rowId xmlns:a16="http://schemas.microsoft.com/office/drawing/2014/main" val="4029059523"/>
                  </a:ext>
                </a:extLst>
              </a:tr>
              <a:tr h="406400">
                <a:tc>
                  <a:txBody>
                    <a:bodyPr/>
                    <a:lstStyle/>
                    <a:p>
                      <a:r>
                        <a:rPr lang="es-GT" sz="1400" b="0">
                          <a:solidFill>
                            <a:srgbClr val="1B2A41"/>
                          </a:solidFill>
                          <a:latin typeface="Consolas" panose="020B0609020204030204" pitchFamily="49" charset="0"/>
                        </a:rPr>
                        <a:t>id</a:t>
                      </a:r>
                    </a:p>
                  </a:txBody>
                  <a:tcPr anchor="ctr">
                    <a:solidFill>
                      <a:srgbClr val="FFFFFF"/>
                    </a:solidFill>
                  </a:tcPr>
                </a:tc>
                <a:tc>
                  <a:txBody>
                    <a:bodyPr/>
                    <a:lstStyle/>
                    <a:p>
                      <a:r>
                        <a:rPr lang="es-GT" sz="1400" b="0">
                          <a:solidFill>
                            <a:srgbClr val="1B2A41"/>
                          </a:solidFill>
                          <a:latin typeface="Calibri" panose="020F0502020204030204" pitchFamily="34" charset="0"/>
                        </a:rPr>
                        <a:t>INT AUTO_INCREMENT</a:t>
                      </a:r>
                    </a:p>
                  </a:txBody>
                  <a:tcPr anchor="ctr">
                    <a:solidFill>
                      <a:srgbClr val="FFFFFF"/>
                    </a:solidFill>
                  </a:tcPr>
                </a:tc>
                <a:tc>
                  <a:txBody>
                    <a:bodyPr/>
                    <a:lstStyle/>
                    <a:p>
                      <a:r>
                        <a:rPr lang="es-GT" sz="1400" b="0">
                          <a:solidFill>
                            <a:srgbClr val="1B2A41"/>
                          </a:solidFill>
                          <a:latin typeface="Calibri" panose="020F0502020204030204" pitchFamily="34" charset="0"/>
                        </a:rPr>
                        <a:t>MySQL</a:t>
                      </a:r>
                    </a:p>
                  </a:txBody>
                  <a:tcPr anchor="ctr">
                    <a:solidFill>
                      <a:srgbClr val="FFFFFF"/>
                    </a:solidFill>
                  </a:tcPr>
                </a:tc>
                <a:extLst>
                  <a:ext uri="{0D108BD9-81ED-4DB2-BD59-A6C34878D82A}">
                    <a16:rowId xmlns:a16="http://schemas.microsoft.com/office/drawing/2014/main" val="222513926"/>
                  </a:ext>
                </a:extLst>
              </a:tr>
              <a:tr h="406400">
                <a:tc>
                  <a:txBody>
                    <a:bodyPr/>
                    <a:lstStyle/>
                    <a:p>
                      <a:r>
                        <a:rPr lang="es-GT" sz="1400" b="0">
                          <a:solidFill>
                            <a:srgbClr val="1B2A41"/>
                          </a:solidFill>
                          <a:latin typeface="Consolas" panose="020B0609020204030204" pitchFamily="49" charset="0"/>
                        </a:rPr>
                        <a:t>cuenta</a:t>
                      </a:r>
                    </a:p>
                  </a:txBody>
                  <a:tcPr anchor="ctr">
                    <a:solidFill>
                      <a:srgbClr val="F4F6F9"/>
                    </a:solidFill>
                  </a:tcPr>
                </a:tc>
                <a:tc>
                  <a:txBody>
                    <a:bodyPr/>
                    <a:lstStyle/>
                    <a:p>
                      <a:r>
                        <a:rPr lang="es-GT" sz="1400" b="0">
                          <a:solidFill>
                            <a:srgbClr val="1B2A41"/>
                          </a:solidFill>
                          <a:latin typeface="Calibri" panose="020F0502020204030204" pitchFamily="34" charset="0"/>
                        </a:rPr>
                        <a:t>VARCHAR(20)</a:t>
                      </a:r>
                    </a:p>
                  </a:txBody>
                  <a:tcPr anchor="ctr">
                    <a:solidFill>
                      <a:srgbClr val="F4F6F9"/>
                    </a:solidFill>
                  </a:tcPr>
                </a:tc>
                <a:tc>
                  <a:txBody>
                    <a:bodyPr/>
                    <a:lstStyle/>
                    <a:p>
                      <a:r>
                        <a:rPr lang="es-GT" sz="1400" b="0">
                          <a:solidFill>
                            <a:srgbClr val="1B2A41"/>
                          </a:solidFill>
                          <a:latin typeface="Calibri" panose="020F0502020204030204" pitchFamily="34" charset="0"/>
                        </a:rPr>
                        <a:t>Productor</a:t>
                      </a:r>
                    </a:p>
                  </a:txBody>
                  <a:tcPr anchor="ctr">
                    <a:solidFill>
                      <a:srgbClr val="F4F6F9"/>
                    </a:solidFill>
                  </a:tcPr>
                </a:tc>
                <a:extLst>
                  <a:ext uri="{0D108BD9-81ED-4DB2-BD59-A6C34878D82A}">
                    <a16:rowId xmlns:a16="http://schemas.microsoft.com/office/drawing/2014/main" val="1565896116"/>
                  </a:ext>
                </a:extLst>
              </a:tr>
              <a:tr h="406400">
                <a:tc>
                  <a:txBody>
                    <a:bodyPr/>
                    <a:lstStyle/>
                    <a:p>
                      <a:r>
                        <a:rPr lang="es-GT" sz="1400" b="0">
                          <a:solidFill>
                            <a:srgbClr val="1B2A41"/>
                          </a:solidFill>
                          <a:latin typeface="Consolas" panose="020B0609020204030204" pitchFamily="49" charset="0"/>
                        </a:rPr>
                        <a:t>tipo</a:t>
                      </a:r>
                    </a:p>
                  </a:txBody>
                  <a:tcPr anchor="ctr">
                    <a:solidFill>
                      <a:srgbClr val="FFFFFF"/>
                    </a:solidFill>
                  </a:tcPr>
                </a:tc>
                <a:tc>
                  <a:txBody>
                    <a:bodyPr/>
                    <a:lstStyle/>
                    <a:p>
                      <a:r>
                        <a:rPr lang="es-GT" sz="1400" b="0">
                          <a:solidFill>
                            <a:srgbClr val="1B2A41"/>
                          </a:solidFill>
                          <a:latin typeface="Calibri" panose="020F0502020204030204" pitchFamily="34" charset="0"/>
                        </a:rPr>
                        <a:t>ENUM (3 tipos)</a:t>
                      </a:r>
                    </a:p>
                  </a:txBody>
                  <a:tcPr anchor="ctr">
                    <a:solidFill>
                      <a:srgbClr val="FFFFFF"/>
                    </a:solidFill>
                  </a:tcPr>
                </a:tc>
                <a:tc>
                  <a:txBody>
                    <a:bodyPr/>
                    <a:lstStyle/>
                    <a:p>
                      <a:r>
                        <a:rPr lang="es-GT" sz="1400" b="0">
                          <a:solidFill>
                            <a:srgbClr val="1B2A41"/>
                          </a:solidFill>
                          <a:latin typeface="Calibri" panose="020F0502020204030204" pitchFamily="34" charset="0"/>
                        </a:rPr>
                        <a:t>Productor</a:t>
                      </a:r>
                    </a:p>
                  </a:txBody>
                  <a:tcPr anchor="ctr">
                    <a:solidFill>
                      <a:srgbClr val="FFFFFF"/>
                    </a:solidFill>
                  </a:tcPr>
                </a:tc>
                <a:extLst>
                  <a:ext uri="{0D108BD9-81ED-4DB2-BD59-A6C34878D82A}">
                    <a16:rowId xmlns:a16="http://schemas.microsoft.com/office/drawing/2014/main" val="4056183473"/>
                  </a:ext>
                </a:extLst>
              </a:tr>
              <a:tr h="406400">
                <a:tc>
                  <a:txBody>
                    <a:bodyPr/>
                    <a:lstStyle/>
                    <a:p>
                      <a:r>
                        <a:rPr lang="es-GT" sz="1400" b="0">
                          <a:solidFill>
                            <a:srgbClr val="1B2A41"/>
                          </a:solidFill>
                          <a:latin typeface="Consolas" panose="020B0609020204030204" pitchFamily="49" charset="0"/>
                        </a:rPr>
                        <a:t>monto</a:t>
                      </a:r>
                    </a:p>
                  </a:txBody>
                  <a:tcPr anchor="ctr">
                    <a:solidFill>
                      <a:srgbClr val="F4F6F9"/>
                    </a:solidFill>
                  </a:tcPr>
                </a:tc>
                <a:tc>
                  <a:txBody>
                    <a:bodyPr/>
                    <a:lstStyle/>
                    <a:p>
                      <a:r>
                        <a:rPr lang="es-GT" sz="1400" b="0">
                          <a:solidFill>
                            <a:srgbClr val="1B2A41"/>
                          </a:solidFill>
                          <a:latin typeface="Calibri" panose="020F0502020204030204" pitchFamily="34" charset="0"/>
                        </a:rPr>
                        <a:t>DECIMAL(12,2)</a:t>
                      </a:r>
                    </a:p>
                  </a:txBody>
                  <a:tcPr anchor="ctr">
                    <a:solidFill>
                      <a:srgbClr val="F4F6F9"/>
                    </a:solidFill>
                  </a:tcPr>
                </a:tc>
                <a:tc>
                  <a:txBody>
                    <a:bodyPr/>
                    <a:lstStyle/>
                    <a:p>
                      <a:r>
                        <a:rPr lang="es-GT" sz="1400" b="0">
                          <a:solidFill>
                            <a:srgbClr val="1B2A41"/>
                          </a:solidFill>
                          <a:latin typeface="Calibri" panose="020F0502020204030204" pitchFamily="34" charset="0"/>
                        </a:rPr>
                        <a:t>Productor</a:t>
                      </a:r>
                    </a:p>
                  </a:txBody>
                  <a:tcPr anchor="ctr">
                    <a:solidFill>
                      <a:srgbClr val="F4F6F9"/>
                    </a:solidFill>
                  </a:tcPr>
                </a:tc>
                <a:extLst>
                  <a:ext uri="{0D108BD9-81ED-4DB2-BD59-A6C34878D82A}">
                    <a16:rowId xmlns:a16="http://schemas.microsoft.com/office/drawing/2014/main" val="3767728045"/>
                  </a:ext>
                </a:extLst>
              </a:tr>
              <a:tr h="406400">
                <a:tc>
                  <a:txBody>
                    <a:bodyPr/>
                    <a:lstStyle/>
                    <a:p>
                      <a:r>
                        <a:rPr lang="es-GT" sz="1400" b="1">
                          <a:solidFill>
                            <a:srgbClr val="1B2A41"/>
                          </a:solidFill>
                          <a:latin typeface="Consolas" panose="020B0609020204030204" pitchFamily="49" charset="0"/>
                        </a:rPr>
                        <a:t>estado</a:t>
                      </a:r>
                    </a:p>
                  </a:txBody>
                  <a:tcPr anchor="ctr">
                    <a:solidFill>
                      <a:srgbClr val="FDF3E3"/>
                    </a:solidFill>
                  </a:tcPr>
                </a:tc>
                <a:tc>
                  <a:txBody>
                    <a:bodyPr/>
                    <a:lstStyle/>
                    <a:p>
                      <a:r>
                        <a:rPr lang="es-GT" sz="1400" b="1">
                          <a:solidFill>
                            <a:srgbClr val="1B2A41"/>
                          </a:solidFill>
                          <a:latin typeface="Calibri" panose="020F0502020204030204" pitchFamily="34" charset="0"/>
                        </a:rPr>
                        <a:t>PENDIENTE / PROCESADO</a:t>
                      </a:r>
                    </a:p>
                  </a:txBody>
                  <a:tcPr anchor="ctr">
                    <a:solidFill>
                      <a:srgbClr val="FDF3E3"/>
                    </a:solidFill>
                  </a:tcPr>
                </a:tc>
                <a:tc>
                  <a:txBody>
                    <a:bodyPr/>
                    <a:lstStyle/>
                    <a:p>
                      <a:r>
                        <a:rPr lang="es-GT" sz="1400" b="1">
                          <a:solidFill>
                            <a:srgbClr val="1B2A41"/>
                          </a:solidFill>
                          <a:latin typeface="Calibri" panose="020F0502020204030204" pitchFamily="34" charset="0"/>
                        </a:rPr>
                        <a:t>Productor → Consumidor</a:t>
                      </a:r>
                    </a:p>
                  </a:txBody>
                  <a:tcPr anchor="ctr">
                    <a:solidFill>
                      <a:srgbClr val="FDF3E3"/>
                    </a:solidFill>
                  </a:tcPr>
                </a:tc>
                <a:extLst>
                  <a:ext uri="{0D108BD9-81ED-4DB2-BD59-A6C34878D82A}">
                    <a16:rowId xmlns:a16="http://schemas.microsoft.com/office/drawing/2014/main" val="1227675022"/>
                  </a:ext>
                </a:extLst>
              </a:tr>
              <a:tr h="406400">
                <a:tc>
                  <a:txBody>
                    <a:bodyPr/>
                    <a:lstStyle/>
                    <a:p>
                      <a:r>
                        <a:rPr lang="es-GT" sz="1400" b="0">
                          <a:solidFill>
                            <a:srgbClr val="1B2A41"/>
                          </a:solidFill>
                          <a:latin typeface="Consolas" panose="020B0609020204030204" pitchFamily="49" charset="0"/>
                        </a:rPr>
                        <a:t>creado_en</a:t>
                      </a:r>
                    </a:p>
                  </a:txBody>
                  <a:tcPr anchor="ctr">
                    <a:solidFill>
                      <a:srgbClr val="F4F6F9"/>
                    </a:solidFill>
                  </a:tcPr>
                </a:tc>
                <a:tc>
                  <a:txBody>
                    <a:bodyPr/>
                    <a:lstStyle/>
                    <a:p>
                      <a:r>
                        <a:rPr lang="es-GT" sz="1400" b="0">
                          <a:solidFill>
                            <a:srgbClr val="1B2A41"/>
                          </a:solidFill>
                          <a:latin typeface="Calibri" panose="020F0502020204030204" pitchFamily="34" charset="0"/>
                        </a:rPr>
                        <a:t>DATETIME</a:t>
                      </a:r>
                    </a:p>
                  </a:txBody>
                  <a:tcPr anchor="ctr">
                    <a:solidFill>
                      <a:srgbClr val="F4F6F9"/>
                    </a:solidFill>
                  </a:tcPr>
                </a:tc>
                <a:tc>
                  <a:txBody>
                    <a:bodyPr/>
                    <a:lstStyle/>
                    <a:p>
                      <a:r>
                        <a:rPr lang="es-GT" sz="1400" b="0">
                          <a:solidFill>
                            <a:srgbClr val="1B2A41"/>
                          </a:solidFill>
                          <a:latin typeface="Calibri" panose="020F0502020204030204" pitchFamily="34" charset="0"/>
                        </a:rPr>
                        <a:t>MySQL</a:t>
                      </a:r>
                    </a:p>
                  </a:txBody>
                  <a:tcPr anchor="ctr">
                    <a:solidFill>
                      <a:srgbClr val="F4F6F9"/>
                    </a:solidFill>
                  </a:tcPr>
                </a:tc>
                <a:extLst>
                  <a:ext uri="{0D108BD9-81ED-4DB2-BD59-A6C34878D82A}">
                    <a16:rowId xmlns:a16="http://schemas.microsoft.com/office/drawing/2014/main" val="3341360630"/>
                  </a:ext>
                </a:extLst>
              </a:tr>
              <a:tr h="406400">
                <a:tc>
                  <a:txBody>
                    <a:bodyPr/>
                    <a:lstStyle/>
                    <a:p>
                      <a:r>
                        <a:rPr lang="es-GT" sz="1400" b="0">
                          <a:solidFill>
                            <a:srgbClr val="1B2A41"/>
                          </a:solidFill>
                          <a:latin typeface="Consolas" panose="020B0609020204030204" pitchFamily="49" charset="0"/>
                        </a:rPr>
                        <a:t>procesado_en</a:t>
                      </a:r>
                    </a:p>
                  </a:txBody>
                  <a:tcPr anchor="ctr">
                    <a:solidFill>
                      <a:srgbClr val="FFFFFF"/>
                    </a:solidFill>
                  </a:tcPr>
                </a:tc>
                <a:tc>
                  <a:txBody>
                    <a:bodyPr/>
                    <a:lstStyle/>
                    <a:p>
                      <a:r>
                        <a:rPr lang="es-GT" sz="1400" b="0">
                          <a:solidFill>
                            <a:srgbClr val="1B2A41"/>
                          </a:solidFill>
                          <a:latin typeface="Calibri" panose="020F0502020204030204" pitchFamily="34" charset="0"/>
                        </a:rPr>
                        <a:t>DATETIME</a:t>
                      </a:r>
                    </a:p>
                  </a:txBody>
                  <a:tcPr anchor="ctr">
                    <a:solidFill>
                      <a:srgbClr val="FFFFFF"/>
                    </a:solidFill>
                  </a:tcPr>
                </a:tc>
                <a:tc>
                  <a:txBody>
                    <a:bodyPr/>
                    <a:lstStyle/>
                    <a:p>
                      <a:r>
                        <a:rPr lang="es-GT" sz="1400" b="0">
                          <a:solidFill>
                            <a:srgbClr val="1B2A41"/>
                          </a:solidFill>
                          <a:latin typeface="Calibri" panose="020F0502020204030204" pitchFamily="34" charset="0"/>
                        </a:rPr>
                        <a:t>Consumidor</a:t>
                      </a:r>
                    </a:p>
                  </a:txBody>
                  <a:tcPr anchor="ctr">
                    <a:solidFill>
                      <a:srgbClr val="FFFFFF"/>
                    </a:solidFill>
                  </a:tcPr>
                </a:tc>
                <a:extLst>
                  <a:ext uri="{0D108BD9-81ED-4DB2-BD59-A6C34878D82A}">
                    <a16:rowId xmlns:a16="http://schemas.microsoft.com/office/drawing/2014/main" val="487814733"/>
                  </a:ext>
                </a:extLst>
              </a:tr>
              <a:tr h="406400">
                <a:tc>
                  <a:txBody>
                    <a:bodyPr/>
                    <a:lstStyle/>
                    <a:p>
                      <a:r>
                        <a:rPr lang="es-GT" sz="1400" b="0">
                          <a:solidFill>
                            <a:srgbClr val="1B2A41"/>
                          </a:solidFill>
                          <a:latin typeface="Consolas" panose="020B0609020204030204" pitchFamily="49" charset="0"/>
                        </a:rPr>
                        <a:t>procesado_por</a:t>
                      </a:r>
                    </a:p>
                  </a:txBody>
                  <a:tcPr anchor="ctr">
                    <a:solidFill>
                      <a:srgbClr val="F4F6F9"/>
                    </a:solidFill>
                  </a:tcPr>
                </a:tc>
                <a:tc>
                  <a:txBody>
                    <a:bodyPr/>
                    <a:lstStyle/>
                    <a:p>
                      <a:r>
                        <a:rPr lang="es-GT" sz="1400" b="0">
                          <a:solidFill>
                            <a:srgbClr val="1B2A41"/>
                          </a:solidFill>
                          <a:latin typeface="Calibri" panose="020F0502020204030204" pitchFamily="34" charset="0"/>
                        </a:rPr>
                        <a:t>VARCHAR(50)</a:t>
                      </a:r>
                    </a:p>
                  </a:txBody>
                  <a:tcPr anchor="ctr">
                    <a:solidFill>
                      <a:srgbClr val="F4F6F9"/>
                    </a:solidFill>
                  </a:tcPr>
                </a:tc>
                <a:tc>
                  <a:txBody>
                    <a:bodyPr/>
                    <a:lstStyle/>
                    <a:p>
                      <a:r>
                        <a:rPr lang="es-GT" sz="1400" b="0">
                          <a:solidFill>
                            <a:srgbClr val="1B2A41"/>
                          </a:solidFill>
                          <a:latin typeface="Calibri" panose="020F0502020204030204" pitchFamily="34" charset="0"/>
                        </a:rPr>
                        <a:t>Consumidor</a:t>
                      </a:r>
                    </a:p>
                  </a:txBody>
                  <a:tcPr anchor="ctr">
                    <a:solidFill>
                      <a:srgbClr val="F4F6F9"/>
                    </a:solidFill>
                  </a:tcPr>
                </a:tc>
                <a:extLst>
                  <a:ext uri="{0D108BD9-81ED-4DB2-BD59-A6C34878D82A}">
                    <a16:rowId xmlns:a16="http://schemas.microsoft.com/office/drawing/2014/main" val="3775225785"/>
                  </a:ext>
                </a:extLst>
              </a:tr>
            </a:tbl>
          </a:graphicData>
        </a:graphic>
      </p:graphicFrame>
      <p:sp>
        <p:nvSpPr>
          <p:cNvPr id="7" name="Rectángulo: esquinas redondeadas 6">
            <a:extLst>
              <a:ext uri="{FF2B5EF4-FFF2-40B4-BE49-F238E27FC236}">
                <a16:creationId xmlns:a16="http://schemas.microsoft.com/office/drawing/2014/main" id="{71CE1DBD-B58F-765D-1B3C-92D31161FB43}"/>
              </a:ext>
            </a:extLst>
          </p:cNvPr>
          <p:cNvSpPr/>
          <p:nvPr/>
        </p:nvSpPr>
        <p:spPr>
          <a:xfrm>
            <a:off x="8026400" y="1422400"/>
            <a:ext cx="3556000" cy="3810000"/>
          </a:xfrm>
          <a:prstGeom prst="roundRect">
            <a:avLst>
              <a:gd name="adj" fmla="val 8000"/>
            </a:avLst>
          </a:prstGeom>
          <a:solidFill>
            <a:srgbClr val="E6F5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8" name="CuadroTexto 7">
            <a:extLst>
              <a:ext uri="{FF2B5EF4-FFF2-40B4-BE49-F238E27FC236}">
                <a16:creationId xmlns:a16="http://schemas.microsoft.com/office/drawing/2014/main" id="{A137E052-0AF9-B61C-9AF5-149824BAC22E}"/>
              </a:ext>
            </a:extLst>
          </p:cNvPr>
          <p:cNvSpPr txBox="1"/>
          <p:nvPr/>
        </p:nvSpPr>
        <p:spPr>
          <a:xfrm>
            <a:off x="8255000" y="1625600"/>
            <a:ext cx="3175000" cy="304800"/>
          </a:xfrm>
          <a:prstGeom prst="rect">
            <a:avLst/>
          </a:prstGeom>
          <a:noFill/>
        </p:spPr>
        <p:txBody>
          <a:bodyPr vert="horz" wrap="square" lIns="0" tIns="0" rIns="0" bIns="0" rtlCol="0" anchor="t">
            <a:noAutofit/>
          </a:bodyPr>
          <a:lstStyle/>
          <a:p>
            <a:r>
              <a:rPr lang="es-GT" sz="1700" b="1">
                <a:solidFill>
                  <a:srgbClr val="1F9D55"/>
                </a:solidFill>
                <a:latin typeface="Calibri" panose="020F0502020204030204" pitchFamily="34" charset="0"/>
              </a:rPr>
              <a:t>Bitácora: procesamientos</a:t>
            </a:r>
          </a:p>
        </p:txBody>
      </p:sp>
      <p:sp>
        <p:nvSpPr>
          <p:cNvPr id="9" name="CuadroTexto 8">
            <a:extLst>
              <a:ext uri="{FF2B5EF4-FFF2-40B4-BE49-F238E27FC236}">
                <a16:creationId xmlns:a16="http://schemas.microsoft.com/office/drawing/2014/main" id="{4DD15AD7-D2C0-CDC1-29B0-181003CE222E}"/>
              </a:ext>
            </a:extLst>
          </p:cNvPr>
          <p:cNvSpPr txBox="1"/>
          <p:nvPr/>
        </p:nvSpPr>
        <p:spPr>
          <a:xfrm>
            <a:off x="8255000" y="2057400"/>
            <a:ext cx="3149600" cy="3048000"/>
          </a:xfrm>
          <a:prstGeom prst="rect">
            <a:avLst/>
          </a:prstGeom>
          <a:noFill/>
        </p:spPr>
        <p:txBody>
          <a:bodyPr vert="horz" wrap="square" lIns="0" tIns="0" rIns="0" bIns="0" rtlCol="0" anchor="t">
            <a:noAutofit/>
          </a:bodyPr>
          <a:lstStyle/>
          <a:p>
            <a:pPr>
              <a:spcAft>
                <a:spcPts val="1000"/>
              </a:spcAft>
            </a:pPr>
            <a:r>
              <a:rPr lang="es-GT" sz="1400">
                <a:solidFill>
                  <a:srgbClr val="1B2A41"/>
                </a:solidFill>
                <a:latin typeface="Calibri" panose="020F0502020204030204" pitchFamily="34" charset="0"/>
              </a:rPr>
              <a:t>Una fila cada vez que un consumidor procesa una transacción.</a:t>
            </a:r>
          </a:p>
          <a:p>
            <a:pPr>
              <a:spcAft>
                <a:spcPts val="1000"/>
              </a:spcAft>
            </a:pPr>
            <a:r>
              <a:rPr lang="es-GT" sz="1400">
                <a:solidFill>
                  <a:srgbClr val="1B2A41"/>
                </a:solidFill>
                <a:latin typeface="Calibri" panose="020F0502020204030204" pitchFamily="34" charset="0"/>
              </a:rPr>
              <a:t>Si un transaccion_id aparece dos veces, hubo duplicado.</a:t>
            </a:r>
          </a:p>
          <a:p>
            <a:pPr>
              <a:spcAft>
                <a:spcPts val="1000"/>
              </a:spcAft>
            </a:pPr>
            <a:r>
              <a:rPr lang="es-GT" sz="1400">
                <a:solidFill>
                  <a:srgbClr val="1B2A41"/>
                </a:solidFill>
                <a:latin typeface="Calibri" panose="020F0502020204030204" pitchFamily="34" charset="0"/>
              </a:rPr>
              <a:t>Sin ella el error queda oculto: el segundo UPDATE sobrescribe al primero.</a:t>
            </a:r>
          </a:p>
        </p:txBody>
      </p:sp>
      <p:sp>
        <p:nvSpPr>
          <p:cNvPr id="10" name="CuadroTexto 9">
            <a:extLst>
              <a:ext uri="{FF2B5EF4-FFF2-40B4-BE49-F238E27FC236}">
                <a16:creationId xmlns:a16="http://schemas.microsoft.com/office/drawing/2014/main" id="{C5271787-0836-CE3C-E100-04692807D980}"/>
              </a:ext>
            </a:extLst>
          </p:cNvPr>
          <p:cNvSpPr txBox="1"/>
          <p:nvPr/>
        </p:nvSpPr>
        <p:spPr>
          <a:xfrm>
            <a:off x="609600" y="5461000"/>
            <a:ext cx="10972800" cy="508000"/>
          </a:xfrm>
          <a:prstGeom prst="rect">
            <a:avLst/>
          </a:prstGeom>
          <a:noFill/>
        </p:spPr>
        <p:txBody>
          <a:bodyPr vert="horz" wrap="square" lIns="0" tIns="0" rIns="0" bIns="0" rtlCol="0" anchor="t">
            <a:noAutofit/>
          </a:bodyPr>
          <a:lstStyle/>
          <a:p>
            <a:r>
              <a:rPr lang="es-GT" sz="1500">
                <a:solidFill>
                  <a:srgbClr val="5B6B82"/>
                </a:solidFill>
                <a:latin typeface="Calibri" panose="020F0502020204030204" pitchFamily="34" charset="0"/>
              </a:rPr>
              <a:t>La columna estado es el canal entre productor y consumidores: PENDIENTE → PROCESADO.</a:t>
            </a:r>
          </a:p>
        </p:txBody>
      </p:sp>
      <p:sp>
        <p:nvSpPr>
          <p:cNvPr id="11" name="CuadroTexto 10">
            <a:extLst>
              <a:ext uri="{FF2B5EF4-FFF2-40B4-BE49-F238E27FC236}">
                <a16:creationId xmlns:a16="http://schemas.microsoft.com/office/drawing/2014/main" id="{3F411903-6673-6EC6-9AB8-9D169A8CE2EF}"/>
              </a:ext>
            </a:extLst>
          </p:cNvPr>
          <p:cNvSpPr txBox="1"/>
          <p:nvPr/>
        </p:nvSpPr>
        <p:spPr>
          <a:xfrm>
            <a:off x="609600" y="6451600"/>
            <a:ext cx="6604000" cy="228600"/>
          </a:xfrm>
          <a:prstGeom prst="rect">
            <a:avLst/>
          </a:prstGeom>
          <a:noFill/>
        </p:spPr>
        <p:txBody>
          <a:bodyPr vert="horz" wrap="square" lIns="0" tIns="0" rIns="0" bIns="0" rtlCol="0" anchor="t">
            <a:noAutofit/>
          </a:bodyPr>
          <a:lstStyle/>
          <a:p>
            <a:r>
              <a:rPr lang="es-GT" sz="1000">
                <a:solidFill>
                  <a:srgbClr val="5B6B82"/>
                </a:solidFill>
                <a:latin typeface="Calibri" panose="020F0502020204030204" pitchFamily="34" charset="0"/>
              </a:rPr>
              <a:t>Productor y consumidores con semáforo · Sistemas Operativos I</a:t>
            </a:r>
          </a:p>
        </p:txBody>
      </p:sp>
      <p:sp>
        <p:nvSpPr>
          <p:cNvPr id="12" name="CuadroTexto 11">
            <a:extLst>
              <a:ext uri="{FF2B5EF4-FFF2-40B4-BE49-F238E27FC236}">
                <a16:creationId xmlns:a16="http://schemas.microsoft.com/office/drawing/2014/main" id="{96C637B0-4081-41F4-1716-6BC5FBED79AA}"/>
              </a:ext>
            </a:extLst>
          </p:cNvPr>
          <p:cNvSpPr txBox="1"/>
          <p:nvPr/>
        </p:nvSpPr>
        <p:spPr>
          <a:xfrm>
            <a:off x="10312400" y="6451600"/>
            <a:ext cx="1270000" cy="228600"/>
          </a:xfrm>
          <a:prstGeom prst="rect">
            <a:avLst/>
          </a:prstGeom>
          <a:noFill/>
        </p:spPr>
        <p:txBody>
          <a:bodyPr vert="horz" wrap="square" lIns="0" tIns="0" rIns="0" bIns="0" rtlCol="0" anchor="t">
            <a:noAutofit/>
          </a:bodyPr>
          <a:lstStyle/>
          <a:p>
            <a:pPr algn="r"/>
            <a:r>
              <a:rPr lang="es-GT" sz="1000">
                <a:solidFill>
                  <a:srgbClr val="5B6B82"/>
                </a:solidFill>
                <a:latin typeface="Calibri" panose="020F0502020204030204" pitchFamily="34" charset="0"/>
              </a:rPr>
              <a:t>6</a:t>
            </a:r>
          </a:p>
        </p:txBody>
      </p:sp>
    </p:spTree>
    <p:extLst>
      <p:ext uri="{BB962C8B-B14F-4D97-AF65-F5344CB8AC3E}">
        <p14:creationId xmlns:p14="http://schemas.microsoft.com/office/powerpoint/2010/main" val="694625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5399125-96D0-9E65-478A-AB09F27FC024}"/>
              </a:ext>
            </a:extLst>
          </p:cNvPr>
          <p:cNvSpPr txBox="1"/>
          <p:nvPr/>
        </p:nvSpPr>
        <p:spPr>
          <a:xfrm>
            <a:off x="609600" y="406400"/>
            <a:ext cx="10033000" cy="635000"/>
          </a:xfrm>
          <a:prstGeom prst="rect">
            <a:avLst/>
          </a:prstGeom>
          <a:noFill/>
        </p:spPr>
        <p:txBody>
          <a:bodyPr vert="horz" wrap="square" lIns="0" tIns="0" rIns="0" bIns="0" rtlCol="0" anchor="ctr">
            <a:noAutofit/>
          </a:bodyPr>
          <a:lstStyle/>
          <a:p>
            <a:r>
              <a:rPr lang="es-GT" sz="3200" b="1">
                <a:solidFill>
                  <a:srgbClr val="1B2A41"/>
                </a:solidFill>
                <a:latin typeface="Calibri" panose="020F0502020204030204" pitchFamily="34" charset="0"/>
              </a:rPr>
              <a:t>Productor: genera transacciones PENDIENTE</a:t>
            </a:r>
          </a:p>
        </p:txBody>
      </p:sp>
      <p:sp>
        <p:nvSpPr>
          <p:cNvPr id="3" name="Elipse 2">
            <a:extLst>
              <a:ext uri="{FF2B5EF4-FFF2-40B4-BE49-F238E27FC236}">
                <a16:creationId xmlns:a16="http://schemas.microsoft.com/office/drawing/2014/main" id="{04BD8B1A-9358-89C9-0C37-8A9ED9B59676}"/>
              </a:ext>
            </a:extLst>
          </p:cNvPr>
          <p:cNvSpPr/>
          <p:nvPr/>
        </p:nvSpPr>
        <p:spPr>
          <a:xfrm>
            <a:off x="11023600" y="635000"/>
            <a:ext cx="152400" cy="152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Elipse 3">
            <a:extLst>
              <a:ext uri="{FF2B5EF4-FFF2-40B4-BE49-F238E27FC236}">
                <a16:creationId xmlns:a16="http://schemas.microsoft.com/office/drawing/2014/main" id="{FD6BE0E5-D701-4AD9-88C5-7579C3178698}"/>
              </a:ext>
            </a:extLst>
          </p:cNvPr>
          <p:cNvSpPr/>
          <p:nvPr/>
        </p:nvSpPr>
        <p:spPr>
          <a:xfrm>
            <a:off x="11252200" y="635000"/>
            <a:ext cx="152400" cy="1524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5" name="Elipse 4">
            <a:extLst>
              <a:ext uri="{FF2B5EF4-FFF2-40B4-BE49-F238E27FC236}">
                <a16:creationId xmlns:a16="http://schemas.microsoft.com/office/drawing/2014/main" id="{3CBE7037-7BFC-F34A-367A-EF78693BD208}"/>
              </a:ext>
            </a:extLst>
          </p:cNvPr>
          <p:cNvSpPr/>
          <p:nvPr/>
        </p:nvSpPr>
        <p:spPr>
          <a:xfrm>
            <a:off x="11480800" y="635000"/>
            <a:ext cx="152400" cy="152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Rectángulo: esquinas redondeadas 5">
            <a:extLst>
              <a:ext uri="{FF2B5EF4-FFF2-40B4-BE49-F238E27FC236}">
                <a16:creationId xmlns:a16="http://schemas.microsoft.com/office/drawing/2014/main" id="{488B0647-5473-4E27-8D28-B74FA2AB04AF}"/>
              </a:ext>
            </a:extLst>
          </p:cNvPr>
          <p:cNvSpPr/>
          <p:nvPr/>
        </p:nvSpPr>
        <p:spPr>
          <a:xfrm>
            <a:off x="609600" y="1422400"/>
            <a:ext cx="2514600" cy="19050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7" name="Elipse 6">
            <a:extLst>
              <a:ext uri="{FF2B5EF4-FFF2-40B4-BE49-F238E27FC236}">
                <a16:creationId xmlns:a16="http://schemas.microsoft.com/office/drawing/2014/main" id="{02B5CB5E-9751-0BED-3571-AAEDF53D44AA}"/>
              </a:ext>
            </a:extLst>
          </p:cNvPr>
          <p:cNvSpPr/>
          <p:nvPr/>
        </p:nvSpPr>
        <p:spPr>
          <a:xfrm>
            <a:off x="812800" y="1625600"/>
            <a:ext cx="508000" cy="5080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b="1">
                <a:solidFill>
                  <a:srgbClr val="FFFFFF"/>
                </a:solidFill>
                <a:latin typeface="Calibri" panose="020F0502020204030204" pitchFamily="34" charset="0"/>
              </a:rPr>
              <a:t>1</a:t>
            </a:r>
          </a:p>
        </p:txBody>
      </p:sp>
      <p:sp>
        <p:nvSpPr>
          <p:cNvPr id="8" name="CuadroTexto 7">
            <a:extLst>
              <a:ext uri="{FF2B5EF4-FFF2-40B4-BE49-F238E27FC236}">
                <a16:creationId xmlns:a16="http://schemas.microsoft.com/office/drawing/2014/main" id="{D1E9FF2C-71BA-4707-B15D-968A044D1E12}"/>
              </a:ext>
            </a:extLst>
          </p:cNvPr>
          <p:cNvSpPr txBox="1"/>
          <p:nvPr/>
        </p:nvSpPr>
        <p:spPr>
          <a:xfrm>
            <a:off x="812800" y="2286000"/>
            <a:ext cx="2108200" cy="304800"/>
          </a:xfrm>
          <a:prstGeom prst="rect">
            <a:avLst/>
          </a:prstGeom>
          <a:noFill/>
        </p:spPr>
        <p:txBody>
          <a:bodyPr vert="horz" wrap="square" lIns="0" tIns="0" rIns="0" bIns="0" rtlCol="0" anchor="t">
            <a:noAutofit/>
          </a:bodyPr>
          <a:lstStyle/>
          <a:p>
            <a:r>
              <a:rPr lang="es-GT" sz="1700" b="1">
                <a:solidFill>
                  <a:srgbClr val="1B2A41"/>
                </a:solidFill>
                <a:latin typeface="Calibri" panose="020F0502020204030204" pitchFamily="34" charset="0"/>
              </a:rPr>
              <a:t>Genera datos</a:t>
            </a:r>
          </a:p>
        </p:txBody>
      </p:sp>
      <p:sp>
        <p:nvSpPr>
          <p:cNvPr id="9" name="CuadroTexto 8">
            <a:extLst>
              <a:ext uri="{FF2B5EF4-FFF2-40B4-BE49-F238E27FC236}">
                <a16:creationId xmlns:a16="http://schemas.microsoft.com/office/drawing/2014/main" id="{289F1E0B-5F4A-394D-0D8C-5C889C9A2A71}"/>
              </a:ext>
            </a:extLst>
          </p:cNvPr>
          <p:cNvSpPr txBox="1"/>
          <p:nvPr/>
        </p:nvSpPr>
        <p:spPr>
          <a:xfrm>
            <a:off x="812800" y="2616200"/>
            <a:ext cx="2108200" cy="6350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Cuenta, tipo y monto aleatorios</a:t>
            </a:r>
          </a:p>
        </p:txBody>
      </p:sp>
      <p:cxnSp>
        <p:nvCxnSpPr>
          <p:cNvPr id="10" name="Conector recto 9">
            <a:extLst>
              <a:ext uri="{FF2B5EF4-FFF2-40B4-BE49-F238E27FC236}">
                <a16:creationId xmlns:a16="http://schemas.microsoft.com/office/drawing/2014/main" id="{C6B51B98-D37A-8EEC-906E-596995D2855A}"/>
              </a:ext>
            </a:extLst>
          </p:cNvPr>
          <p:cNvCxnSpPr/>
          <p:nvPr/>
        </p:nvCxnSpPr>
        <p:spPr>
          <a:xfrm>
            <a:off x="3149600" y="2374900"/>
            <a:ext cx="254000" cy="0"/>
          </a:xfrm>
          <a:prstGeom prst="line">
            <a:avLst/>
          </a:prstGeom>
          <a:ln w="25400">
            <a:solidFill>
              <a:srgbClr val="5B6B82"/>
            </a:solidFill>
            <a:tailEnd type="triangle"/>
          </a:ln>
        </p:spPr>
        <p:style>
          <a:lnRef idx="2">
            <a:schemeClr val="accent1"/>
          </a:lnRef>
          <a:fillRef idx="0">
            <a:schemeClr val="accent1"/>
          </a:fillRef>
          <a:effectRef idx="1">
            <a:schemeClr val="accent1"/>
          </a:effectRef>
          <a:fontRef idx="minor">
            <a:schemeClr val="tx1"/>
          </a:fontRef>
        </p:style>
      </p:cxnSp>
      <p:sp>
        <p:nvSpPr>
          <p:cNvPr id="11" name="Rectángulo: esquinas redondeadas 10">
            <a:extLst>
              <a:ext uri="{FF2B5EF4-FFF2-40B4-BE49-F238E27FC236}">
                <a16:creationId xmlns:a16="http://schemas.microsoft.com/office/drawing/2014/main" id="{37A4018D-B5EA-D429-72E5-8E8E200038A7}"/>
              </a:ext>
            </a:extLst>
          </p:cNvPr>
          <p:cNvSpPr/>
          <p:nvPr/>
        </p:nvSpPr>
        <p:spPr>
          <a:xfrm>
            <a:off x="3429000" y="1422400"/>
            <a:ext cx="2514600" cy="19050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2" name="Elipse 11">
            <a:extLst>
              <a:ext uri="{FF2B5EF4-FFF2-40B4-BE49-F238E27FC236}">
                <a16:creationId xmlns:a16="http://schemas.microsoft.com/office/drawing/2014/main" id="{9EE1E661-0C82-26B8-AA22-15A5FD36F3A0}"/>
              </a:ext>
            </a:extLst>
          </p:cNvPr>
          <p:cNvSpPr/>
          <p:nvPr/>
        </p:nvSpPr>
        <p:spPr>
          <a:xfrm>
            <a:off x="3632200" y="1625600"/>
            <a:ext cx="508000" cy="5080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b="1">
                <a:solidFill>
                  <a:srgbClr val="FFFFFF"/>
                </a:solidFill>
                <a:latin typeface="Calibri" panose="020F0502020204030204" pitchFamily="34" charset="0"/>
              </a:rPr>
              <a:t>2</a:t>
            </a:r>
          </a:p>
        </p:txBody>
      </p:sp>
      <p:sp>
        <p:nvSpPr>
          <p:cNvPr id="13" name="CuadroTexto 12">
            <a:extLst>
              <a:ext uri="{FF2B5EF4-FFF2-40B4-BE49-F238E27FC236}">
                <a16:creationId xmlns:a16="http://schemas.microsoft.com/office/drawing/2014/main" id="{5EBD191D-3C3A-CDF3-6235-E8A783864143}"/>
              </a:ext>
            </a:extLst>
          </p:cNvPr>
          <p:cNvSpPr txBox="1"/>
          <p:nvPr/>
        </p:nvSpPr>
        <p:spPr>
          <a:xfrm>
            <a:off x="3632200" y="2286000"/>
            <a:ext cx="2108200" cy="304800"/>
          </a:xfrm>
          <a:prstGeom prst="rect">
            <a:avLst/>
          </a:prstGeom>
          <a:noFill/>
        </p:spPr>
        <p:txBody>
          <a:bodyPr vert="horz" wrap="square" lIns="0" tIns="0" rIns="0" bIns="0" rtlCol="0" anchor="t">
            <a:noAutofit/>
          </a:bodyPr>
          <a:lstStyle/>
          <a:p>
            <a:r>
              <a:rPr lang="es-GT" sz="1700" b="1">
                <a:solidFill>
                  <a:srgbClr val="1B2A41"/>
                </a:solidFill>
                <a:latin typeface="Calibri" panose="020F0502020204030204" pitchFamily="34" charset="0"/>
              </a:rPr>
              <a:t>Inserta</a:t>
            </a:r>
          </a:p>
        </p:txBody>
      </p:sp>
      <p:sp>
        <p:nvSpPr>
          <p:cNvPr id="14" name="CuadroTexto 13">
            <a:extLst>
              <a:ext uri="{FF2B5EF4-FFF2-40B4-BE49-F238E27FC236}">
                <a16:creationId xmlns:a16="http://schemas.microsoft.com/office/drawing/2014/main" id="{ED0C6FA1-AB7C-B282-F875-FAD2154ADDAA}"/>
              </a:ext>
            </a:extLst>
          </p:cNvPr>
          <p:cNvSpPr txBox="1"/>
          <p:nvPr/>
        </p:nvSpPr>
        <p:spPr>
          <a:xfrm>
            <a:off x="3632200" y="2616200"/>
            <a:ext cx="2108200" cy="6350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INSERT con estado PENDIENTE</a:t>
            </a:r>
          </a:p>
        </p:txBody>
      </p:sp>
      <p:cxnSp>
        <p:nvCxnSpPr>
          <p:cNvPr id="15" name="Conector recto 14">
            <a:extLst>
              <a:ext uri="{FF2B5EF4-FFF2-40B4-BE49-F238E27FC236}">
                <a16:creationId xmlns:a16="http://schemas.microsoft.com/office/drawing/2014/main" id="{4A323906-52A7-5E52-12FD-CE08BCDDD7E7}"/>
              </a:ext>
            </a:extLst>
          </p:cNvPr>
          <p:cNvCxnSpPr/>
          <p:nvPr/>
        </p:nvCxnSpPr>
        <p:spPr>
          <a:xfrm>
            <a:off x="5969000" y="2374900"/>
            <a:ext cx="254000" cy="0"/>
          </a:xfrm>
          <a:prstGeom prst="line">
            <a:avLst/>
          </a:prstGeom>
          <a:ln w="25400">
            <a:solidFill>
              <a:srgbClr val="5B6B82"/>
            </a:solidFill>
            <a:tailEnd type="triangle"/>
          </a:ln>
        </p:spPr>
        <p:style>
          <a:lnRef idx="2">
            <a:schemeClr val="accent1"/>
          </a:lnRef>
          <a:fillRef idx="0">
            <a:schemeClr val="accent1"/>
          </a:fillRef>
          <a:effectRef idx="1">
            <a:schemeClr val="accent1"/>
          </a:effectRef>
          <a:fontRef idx="minor">
            <a:schemeClr val="tx1"/>
          </a:fontRef>
        </p:style>
      </p:cxnSp>
      <p:sp>
        <p:nvSpPr>
          <p:cNvPr id="16" name="Rectángulo: esquinas redondeadas 15">
            <a:extLst>
              <a:ext uri="{FF2B5EF4-FFF2-40B4-BE49-F238E27FC236}">
                <a16:creationId xmlns:a16="http://schemas.microsoft.com/office/drawing/2014/main" id="{E325B8BF-066F-96BC-C740-AD688B451CC6}"/>
              </a:ext>
            </a:extLst>
          </p:cNvPr>
          <p:cNvSpPr/>
          <p:nvPr/>
        </p:nvSpPr>
        <p:spPr>
          <a:xfrm>
            <a:off x="6248400" y="1422400"/>
            <a:ext cx="2514600" cy="19050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7" name="Elipse 16">
            <a:extLst>
              <a:ext uri="{FF2B5EF4-FFF2-40B4-BE49-F238E27FC236}">
                <a16:creationId xmlns:a16="http://schemas.microsoft.com/office/drawing/2014/main" id="{2AE38124-5CA9-9779-A6B6-17A663C84D0A}"/>
              </a:ext>
            </a:extLst>
          </p:cNvPr>
          <p:cNvSpPr/>
          <p:nvPr/>
        </p:nvSpPr>
        <p:spPr>
          <a:xfrm>
            <a:off x="6451600" y="1625600"/>
            <a:ext cx="508000" cy="5080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b="1">
                <a:solidFill>
                  <a:srgbClr val="FFFFFF"/>
                </a:solidFill>
                <a:latin typeface="Calibri" panose="020F0502020204030204" pitchFamily="34" charset="0"/>
              </a:rPr>
              <a:t>3</a:t>
            </a:r>
          </a:p>
        </p:txBody>
      </p:sp>
      <p:sp>
        <p:nvSpPr>
          <p:cNvPr id="18" name="CuadroTexto 17">
            <a:extLst>
              <a:ext uri="{FF2B5EF4-FFF2-40B4-BE49-F238E27FC236}">
                <a16:creationId xmlns:a16="http://schemas.microsoft.com/office/drawing/2014/main" id="{FCE863DF-0571-C2B9-94D7-040C6149FD58}"/>
              </a:ext>
            </a:extLst>
          </p:cNvPr>
          <p:cNvSpPr txBox="1"/>
          <p:nvPr/>
        </p:nvSpPr>
        <p:spPr>
          <a:xfrm>
            <a:off x="6451600" y="2286000"/>
            <a:ext cx="2108200" cy="304800"/>
          </a:xfrm>
          <a:prstGeom prst="rect">
            <a:avLst/>
          </a:prstGeom>
          <a:noFill/>
        </p:spPr>
        <p:txBody>
          <a:bodyPr vert="horz" wrap="square" lIns="0" tIns="0" rIns="0" bIns="0" rtlCol="0" anchor="t">
            <a:noAutofit/>
          </a:bodyPr>
          <a:lstStyle/>
          <a:p>
            <a:r>
              <a:rPr lang="es-GT" sz="1700" b="1">
                <a:solidFill>
                  <a:srgbClr val="1B2A41"/>
                </a:solidFill>
                <a:latin typeface="Calibri" panose="020F0502020204030204" pitchFamily="34" charset="0"/>
              </a:rPr>
              <a:t>Registra</a:t>
            </a:r>
          </a:p>
        </p:txBody>
      </p:sp>
      <p:sp>
        <p:nvSpPr>
          <p:cNvPr id="19" name="CuadroTexto 18">
            <a:extLst>
              <a:ext uri="{FF2B5EF4-FFF2-40B4-BE49-F238E27FC236}">
                <a16:creationId xmlns:a16="http://schemas.microsoft.com/office/drawing/2014/main" id="{3AF9FF1A-B68A-C792-E103-14C783E5481C}"/>
              </a:ext>
            </a:extLst>
          </p:cNvPr>
          <p:cNvSpPr txBox="1"/>
          <p:nvPr/>
        </p:nvSpPr>
        <p:spPr>
          <a:xfrm>
            <a:off x="6451600" y="2616200"/>
            <a:ext cx="2108200" cy="6350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Imprime hora e id en el log</a:t>
            </a:r>
          </a:p>
        </p:txBody>
      </p:sp>
      <p:cxnSp>
        <p:nvCxnSpPr>
          <p:cNvPr id="20" name="Conector recto 19">
            <a:extLst>
              <a:ext uri="{FF2B5EF4-FFF2-40B4-BE49-F238E27FC236}">
                <a16:creationId xmlns:a16="http://schemas.microsoft.com/office/drawing/2014/main" id="{B3E9E5E8-B4D1-9619-2730-F84EA7385949}"/>
              </a:ext>
            </a:extLst>
          </p:cNvPr>
          <p:cNvCxnSpPr/>
          <p:nvPr/>
        </p:nvCxnSpPr>
        <p:spPr>
          <a:xfrm>
            <a:off x="8788400" y="2374900"/>
            <a:ext cx="254000" cy="0"/>
          </a:xfrm>
          <a:prstGeom prst="line">
            <a:avLst/>
          </a:prstGeom>
          <a:ln w="25400">
            <a:solidFill>
              <a:srgbClr val="5B6B82"/>
            </a:solidFill>
            <a:tailEnd type="triangle"/>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44473BCB-F18C-E16D-A368-954BD86FF556}"/>
              </a:ext>
            </a:extLst>
          </p:cNvPr>
          <p:cNvSpPr/>
          <p:nvPr/>
        </p:nvSpPr>
        <p:spPr>
          <a:xfrm>
            <a:off x="9067800" y="1422400"/>
            <a:ext cx="2514600" cy="19050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22" name="Elipse 21">
            <a:extLst>
              <a:ext uri="{FF2B5EF4-FFF2-40B4-BE49-F238E27FC236}">
                <a16:creationId xmlns:a16="http://schemas.microsoft.com/office/drawing/2014/main" id="{2F6961AB-8A1B-3AA7-C87E-040ED5EB8DA5}"/>
              </a:ext>
            </a:extLst>
          </p:cNvPr>
          <p:cNvSpPr/>
          <p:nvPr/>
        </p:nvSpPr>
        <p:spPr>
          <a:xfrm>
            <a:off x="9271000" y="1625600"/>
            <a:ext cx="508000" cy="5080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b="1">
                <a:solidFill>
                  <a:srgbClr val="FFFFFF"/>
                </a:solidFill>
                <a:latin typeface="Calibri" panose="020F0502020204030204" pitchFamily="34" charset="0"/>
              </a:rPr>
              <a:t>4</a:t>
            </a:r>
          </a:p>
        </p:txBody>
      </p:sp>
      <p:sp>
        <p:nvSpPr>
          <p:cNvPr id="23" name="CuadroTexto 22">
            <a:extLst>
              <a:ext uri="{FF2B5EF4-FFF2-40B4-BE49-F238E27FC236}">
                <a16:creationId xmlns:a16="http://schemas.microsoft.com/office/drawing/2014/main" id="{6017C9A9-FCFF-DB85-AAB7-6C32DB4EB752}"/>
              </a:ext>
            </a:extLst>
          </p:cNvPr>
          <p:cNvSpPr txBox="1"/>
          <p:nvPr/>
        </p:nvSpPr>
        <p:spPr>
          <a:xfrm>
            <a:off x="9271000" y="2286000"/>
            <a:ext cx="2108200" cy="304800"/>
          </a:xfrm>
          <a:prstGeom prst="rect">
            <a:avLst/>
          </a:prstGeom>
          <a:noFill/>
        </p:spPr>
        <p:txBody>
          <a:bodyPr vert="horz" wrap="square" lIns="0" tIns="0" rIns="0" bIns="0" rtlCol="0" anchor="t">
            <a:noAutofit/>
          </a:bodyPr>
          <a:lstStyle/>
          <a:p>
            <a:r>
              <a:rPr lang="es-GT" sz="1700" b="1">
                <a:solidFill>
                  <a:srgbClr val="1B2A41"/>
                </a:solidFill>
                <a:latin typeface="Calibri" panose="020F0502020204030204" pitchFamily="34" charset="0"/>
              </a:rPr>
              <a:t>Espera</a:t>
            </a:r>
          </a:p>
        </p:txBody>
      </p:sp>
      <p:sp>
        <p:nvSpPr>
          <p:cNvPr id="24" name="CuadroTexto 23">
            <a:extLst>
              <a:ext uri="{FF2B5EF4-FFF2-40B4-BE49-F238E27FC236}">
                <a16:creationId xmlns:a16="http://schemas.microsoft.com/office/drawing/2014/main" id="{9624A3AB-990E-34C9-13EC-0EA608B561AC}"/>
              </a:ext>
            </a:extLst>
          </p:cNvPr>
          <p:cNvSpPr txBox="1"/>
          <p:nvPr/>
        </p:nvSpPr>
        <p:spPr>
          <a:xfrm>
            <a:off x="9271000" y="2616200"/>
            <a:ext cx="2108200" cy="6350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1 a 2 s aleatorios y repite</a:t>
            </a:r>
          </a:p>
        </p:txBody>
      </p:sp>
      <p:sp>
        <p:nvSpPr>
          <p:cNvPr id="25" name="Rectángulo: esquinas redondeadas 24">
            <a:extLst>
              <a:ext uri="{FF2B5EF4-FFF2-40B4-BE49-F238E27FC236}">
                <a16:creationId xmlns:a16="http://schemas.microsoft.com/office/drawing/2014/main" id="{E5DC7A65-7D1D-968F-F0EB-7256D5339A9F}"/>
              </a:ext>
            </a:extLst>
          </p:cNvPr>
          <p:cNvSpPr/>
          <p:nvPr/>
        </p:nvSpPr>
        <p:spPr>
          <a:xfrm>
            <a:off x="609600" y="3581400"/>
            <a:ext cx="10972800" cy="1219200"/>
          </a:xfrm>
          <a:prstGeom prst="roundRect">
            <a:avLst>
              <a:gd name="adj" fmla="val 8000"/>
            </a:avLst>
          </a:prstGeom>
          <a:solidFill>
            <a:srgbClr val="1523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06680" rIns="177800" bIns="106680" rtlCol="0" anchor="ctr"/>
          <a:lstStyle/>
          <a:p>
            <a:r>
              <a:rPr lang="es-GT" sz="1250">
                <a:solidFill>
                  <a:srgbClr val="D6E2F0"/>
                </a:solidFill>
                <a:latin typeface="Consolas" panose="020B0609020204030204" pitchFamily="49" charset="0"/>
              </a:rPr>
              <a:t>[22:12:06.362] PRODUCTOR | insertada id=1  | 1007-1563 DEPOSITO  Q 3301.26 | </a:t>
            </a:r>
            <a:r>
              <a:rPr lang="es-GT" sz="1250" b="1">
                <a:solidFill>
                  <a:srgbClr val="E8A33D"/>
                </a:solidFill>
                <a:latin typeface="Consolas" panose="020B0609020204030204" pitchFamily="49" charset="0"/>
              </a:rPr>
              <a:t>PENDIENTE</a:t>
            </a:r>
          </a:p>
          <a:p>
            <a:r>
              <a:rPr lang="es-GT" sz="1250">
                <a:solidFill>
                  <a:srgbClr val="D6E2F0"/>
                </a:solidFill>
                <a:latin typeface="Consolas" panose="020B0609020204030204" pitchFamily="49" charset="0"/>
              </a:rPr>
              <a:t>[22:12:08.101] PRODUCTOR | insertada id=2  | 1002-1701 RETIRO    Q 1400.72 | </a:t>
            </a:r>
            <a:r>
              <a:rPr lang="es-GT" sz="1250" b="1">
                <a:solidFill>
                  <a:srgbClr val="E8A33D"/>
                </a:solidFill>
                <a:latin typeface="Consolas" panose="020B0609020204030204" pitchFamily="49" charset="0"/>
              </a:rPr>
              <a:t>PENDIENTE</a:t>
            </a:r>
          </a:p>
          <a:p>
            <a:r>
              <a:rPr lang="es-GT" sz="1250">
                <a:solidFill>
                  <a:srgbClr val="D6E2F0"/>
                </a:solidFill>
                <a:latin typeface="Consolas" panose="020B0609020204030204" pitchFamily="49" charset="0"/>
              </a:rPr>
              <a:t>[22:12:10.003] PRODUCTOR | insertada id=3  | 1008-1927 DEPOSITO  Q  575.68 | </a:t>
            </a:r>
            <a:r>
              <a:rPr lang="es-GT" sz="1250" b="1">
                <a:solidFill>
                  <a:srgbClr val="E8A33D"/>
                </a:solidFill>
                <a:latin typeface="Consolas" panose="020B0609020204030204" pitchFamily="49" charset="0"/>
              </a:rPr>
              <a:t>PENDIENTE</a:t>
            </a:r>
          </a:p>
        </p:txBody>
      </p:sp>
      <p:sp>
        <p:nvSpPr>
          <p:cNvPr id="26" name="Rectángulo: esquinas redondeadas 25">
            <a:extLst>
              <a:ext uri="{FF2B5EF4-FFF2-40B4-BE49-F238E27FC236}">
                <a16:creationId xmlns:a16="http://schemas.microsoft.com/office/drawing/2014/main" id="{AAEC02F4-AABA-F9FA-05A5-C243B513BF02}"/>
              </a:ext>
            </a:extLst>
          </p:cNvPr>
          <p:cNvSpPr/>
          <p:nvPr/>
        </p:nvSpPr>
        <p:spPr>
          <a:xfrm>
            <a:off x="609600" y="5054600"/>
            <a:ext cx="10972800" cy="1066800"/>
          </a:xfrm>
          <a:prstGeom prst="roundRect">
            <a:avLst>
              <a:gd name="adj" fmla="val 8000"/>
            </a:avLst>
          </a:prstGeom>
          <a:solidFill>
            <a:srgbClr val="E6F5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27" name="Elipse 26">
            <a:extLst>
              <a:ext uri="{FF2B5EF4-FFF2-40B4-BE49-F238E27FC236}">
                <a16:creationId xmlns:a16="http://schemas.microsoft.com/office/drawing/2014/main" id="{21C880DB-9126-E8A9-255F-1D5B9FF860E8}"/>
              </a:ext>
            </a:extLst>
          </p:cNvPr>
          <p:cNvSpPr/>
          <p:nvPr/>
        </p:nvSpPr>
        <p:spPr>
          <a:xfrm>
            <a:off x="863600" y="5308600"/>
            <a:ext cx="558800" cy="5588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2000" b="1">
                <a:solidFill>
                  <a:srgbClr val="FFFFFF"/>
                </a:solidFill>
                <a:latin typeface="Segoe UI Symbol" panose="020B0502040204020203" pitchFamily="34" charset="0"/>
              </a:rPr>
              <a:t>✓</a:t>
            </a:r>
          </a:p>
        </p:txBody>
      </p:sp>
      <p:sp>
        <p:nvSpPr>
          <p:cNvPr id="28" name="CuadroTexto 27">
            <a:extLst>
              <a:ext uri="{FF2B5EF4-FFF2-40B4-BE49-F238E27FC236}">
                <a16:creationId xmlns:a16="http://schemas.microsoft.com/office/drawing/2014/main" id="{0CC3AAB8-9E5F-DD4F-5188-E07063C4DD46}"/>
              </a:ext>
            </a:extLst>
          </p:cNvPr>
          <p:cNvSpPr txBox="1"/>
          <p:nvPr/>
        </p:nvSpPr>
        <p:spPr>
          <a:xfrm>
            <a:off x="1651000" y="5130800"/>
            <a:ext cx="9652000" cy="914400"/>
          </a:xfrm>
          <a:prstGeom prst="rect">
            <a:avLst/>
          </a:prstGeom>
          <a:noFill/>
        </p:spPr>
        <p:txBody>
          <a:bodyPr vert="horz" wrap="square" lIns="0" tIns="0" rIns="0" bIns="0" rtlCol="0" anchor="ctr">
            <a:noAutofit/>
          </a:bodyPr>
          <a:lstStyle/>
          <a:p>
            <a:r>
              <a:rPr lang="es-GT" sz="1600" b="1">
                <a:solidFill>
                  <a:srgbClr val="1B2A41"/>
                </a:solidFill>
                <a:latin typeface="Calibri" panose="020F0502020204030204" pitchFamily="34" charset="0"/>
              </a:rPr>
              <a:t>No usa el semáforo</a:t>
            </a:r>
            <a:r>
              <a:rPr lang="es-GT" sz="1600">
                <a:solidFill>
                  <a:srgbClr val="1B2A41"/>
                </a:solidFill>
                <a:latin typeface="Calibri" panose="020F0502020204030204" pitchFamily="34" charset="0"/>
              </a:rPr>
              <a:t>: solo inserta filas nuevas y nunca modifica las existentes. MySQL asigna los id de forma segura con AUTO_INCREMENT.</a:t>
            </a:r>
          </a:p>
        </p:txBody>
      </p:sp>
      <p:sp>
        <p:nvSpPr>
          <p:cNvPr id="29" name="CuadroTexto 28">
            <a:extLst>
              <a:ext uri="{FF2B5EF4-FFF2-40B4-BE49-F238E27FC236}">
                <a16:creationId xmlns:a16="http://schemas.microsoft.com/office/drawing/2014/main" id="{C0947A80-C256-5D6C-F311-938D25E27214}"/>
              </a:ext>
            </a:extLst>
          </p:cNvPr>
          <p:cNvSpPr txBox="1"/>
          <p:nvPr/>
        </p:nvSpPr>
        <p:spPr>
          <a:xfrm>
            <a:off x="609600" y="6451600"/>
            <a:ext cx="6604000" cy="228600"/>
          </a:xfrm>
          <a:prstGeom prst="rect">
            <a:avLst/>
          </a:prstGeom>
          <a:noFill/>
        </p:spPr>
        <p:txBody>
          <a:bodyPr vert="horz" wrap="square" lIns="0" tIns="0" rIns="0" bIns="0" rtlCol="0" anchor="t">
            <a:noAutofit/>
          </a:bodyPr>
          <a:lstStyle/>
          <a:p>
            <a:r>
              <a:rPr lang="es-GT" sz="1000">
                <a:solidFill>
                  <a:srgbClr val="5B6B82"/>
                </a:solidFill>
                <a:latin typeface="Calibri" panose="020F0502020204030204" pitchFamily="34" charset="0"/>
              </a:rPr>
              <a:t>Productor y consumidores con semáforo · Sistemas Operativos I</a:t>
            </a:r>
          </a:p>
        </p:txBody>
      </p:sp>
      <p:sp>
        <p:nvSpPr>
          <p:cNvPr id="30" name="CuadroTexto 29">
            <a:extLst>
              <a:ext uri="{FF2B5EF4-FFF2-40B4-BE49-F238E27FC236}">
                <a16:creationId xmlns:a16="http://schemas.microsoft.com/office/drawing/2014/main" id="{F793CA49-46DA-05FE-08AA-CFE3BB04A4B1}"/>
              </a:ext>
            </a:extLst>
          </p:cNvPr>
          <p:cNvSpPr txBox="1"/>
          <p:nvPr/>
        </p:nvSpPr>
        <p:spPr>
          <a:xfrm>
            <a:off x="10312400" y="6451600"/>
            <a:ext cx="1270000" cy="228600"/>
          </a:xfrm>
          <a:prstGeom prst="rect">
            <a:avLst/>
          </a:prstGeom>
          <a:noFill/>
        </p:spPr>
        <p:txBody>
          <a:bodyPr vert="horz" wrap="square" lIns="0" tIns="0" rIns="0" bIns="0" rtlCol="0" anchor="t">
            <a:noAutofit/>
          </a:bodyPr>
          <a:lstStyle/>
          <a:p>
            <a:pPr algn="r"/>
            <a:r>
              <a:rPr lang="es-GT" sz="1000">
                <a:solidFill>
                  <a:srgbClr val="5B6B82"/>
                </a:solidFill>
                <a:latin typeface="Calibri" panose="020F0502020204030204" pitchFamily="34" charset="0"/>
              </a:rPr>
              <a:t>7</a:t>
            </a:r>
          </a:p>
        </p:txBody>
      </p:sp>
    </p:spTree>
    <p:extLst>
      <p:ext uri="{BB962C8B-B14F-4D97-AF65-F5344CB8AC3E}">
        <p14:creationId xmlns:p14="http://schemas.microsoft.com/office/powerpoint/2010/main" val="3418032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9FE9318-2B43-0F70-DCF7-993D7D5C45DC}"/>
              </a:ext>
            </a:extLst>
          </p:cNvPr>
          <p:cNvSpPr txBox="1"/>
          <p:nvPr/>
        </p:nvSpPr>
        <p:spPr>
          <a:xfrm>
            <a:off x="609600" y="406400"/>
            <a:ext cx="10033000" cy="635000"/>
          </a:xfrm>
          <a:prstGeom prst="rect">
            <a:avLst/>
          </a:prstGeom>
          <a:noFill/>
        </p:spPr>
        <p:txBody>
          <a:bodyPr vert="horz" wrap="square" lIns="0" tIns="0" rIns="0" bIns="0" rtlCol="0" anchor="ctr">
            <a:noAutofit/>
          </a:bodyPr>
          <a:lstStyle/>
          <a:p>
            <a:r>
              <a:rPr lang="es-GT" sz="3200" b="1">
                <a:solidFill>
                  <a:srgbClr val="1B2A41"/>
                </a:solidFill>
                <a:latin typeface="Calibri" panose="020F0502020204030204" pitchFamily="34" charset="0"/>
              </a:rPr>
              <a:t>Consumidor: el ciclo con semáforo</a:t>
            </a:r>
          </a:p>
        </p:txBody>
      </p:sp>
      <p:sp>
        <p:nvSpPr>
          <p:cNvPr id="3" name="Elipse 2">
            <a:extLst>
              <a:ext uri="{FF2B5EF4-FFF2-40B4-BE49-F238E27FC236}">
                <a16:creationId xmlns:a16="http://schemas.microsoft.com/office/drawing/2014/main" id="{C6740784-9366-7C07-A15F-843B396E84E5}"/>
              </a:ext>
            </a:extLst>
          </p:cNvPr>
          <p:cNvSpPr/>
          <p:nvPr/>
        </p:nvSpPr>
        <p:spPr>
          <a:xfrm>
            <a:off x="11023600" y="635000"/>
            <a:ext cx="152400" cy="152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Elipse 3">
            <a:extLst>
              <a:ext uri="{FF2B5EF4-FFF2-40B4-BE49-F238E27FC236}">
                <a16:creationId xmlns:a16="http://schemas.microsoft.com/office/drawing/2014/main" id="{5578EE1A-892B-001C-C8F4-66016C9749DB}"/>
              </a:ext>
            </a:extLst>
          </p:cNvPr>
          <p:cNvSpPr/>
          <p:nvPr/>
        </p:nvSpPr>
        <p:spPr>
          <a:xfrm>
            <a:off x="11252200" y="635000"/>
            <a:ext cx="152400" cy="1524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5" name="Elipse 4">
            <a:extLst>
              <a:ext uri="{FF2B5EF4-FFF2-40B4-BE49-F238E27FC236}">
                <a16:creationId xmlns:a16="http://schemas.microsoft.com/office/drawing/2014/main" id="{330CB5F9-1D68-69CE-1634-96E2953F8ECD}"/>
              </a:ext>
            </a:extLst>
          </p:cNvPr>
          <p:cNvSpPr/>
          <p:nvPr/>
        </p:nvSpPr>
        <p:spPr>
          <a:xfrm>
            <a:off x="11480800" y="635000"/>
            <a:ext cx="152400" cy="152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Rectángulo: esquinas redondeadas 5">
            <a:extLst>
              <a:ext uri="{FF2B5EF4-FFF2-40B4-BE49-F238E27FC236}">
                <a16:creationId xmlns:a16="http://schemas.microsoft.com/office/drawing/2014/main" id="{9F7E6F75-572F-B698-21D6-076DD88291AB}"/>
              </a:ext>
            </a:extLst>
          </p:cNvPr>
          <p:cNvSpPr/>
          <p:nvPr/>
        </p:nvSpPr>
        <p:spPr>
          <a:xfrm>
            <a:off x="5461000" y="1422400"/>
            <a:ext cx="6121400" cy="3048000"/>
          </a:xfrm>
          <a:prstGeom prst="roundRect">
            <a:avLst>
              <a:gd name="adj" fmla="val 8000"/>
            </a:avLst>
          </a:prstGeom>
          <a:solidFill>
            <a:srgbClr val="E6F5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7" name="CuadroTexto 6">
            <a:extLst>
              <a:ext uri="{FF2B5EF4-FFF2-40B4-BE49-F238E27FC236}">
                <a16:creationId xmlns:a16="http://schemas.microsoft.com/office/drawing/2014/main" id="{E4F421C4-CB15-5A76-E385-E2EB6A4D45C4}"/>
              </a:ext>
            </a:extLst>
          </p:cNvPr>
          <p:cNvSpPr txBox="1"/>
          <p:nvPr/>
        </p:nvSpPr>
        <p:spPr>
          <a:xfrm>
            <a:off x="5664200" y="1524000"/>
            <a:ext cx="5715000" cy="254000"/>
          </a:xfrm>
          <a:prstGeom prst="rect">
            <a:avLst/>
          </a:prstGeom>
          <a:noFill/>
        </p:spPr>
        <p:txBody>
          <a:bodyPr vert="horz" wrap="square" lIns="0" tIns="0" rIns="0" bIns="0" rtlCol="0" anchor="t">
            <a:noAutofit/>
          </a:bodyPr>
          <a:lstStyle/>
          <a:p>
            <a:r>
              <a:rPr lang="es-GT" sz="1300" b="1">
                <a:solidFill>
                  <a:srgbClr val="1F9D55"/>
                </a:solidFill>
                <a:latin typeface="Calibri" panose="020F0502020204030204" pitchFamily="34" charset="0"/>
              </a:rPr>
              <a:t>SECCIÓN CRÍTICA · un consumidor a la vez</a:t>
            </a:r>
          </a:p>
        </p:txBody>
      </p:sp>
      <p:sp>
        <p:nvSpPr>
          <p:cNvPr id="8" name="Rectángulo: esquinas redondeadas 7">
            <a:extLst>
              <a:ext uri="{FF2B5EF4-FFF2-40B4-BE49-F238E27FC236}">
                <a16:creationId xmlns:a16="http://schemas.microsoft.com/office/drawing/2014/main" id="{1C141804-2036-14ED-CA35-372218E718A8}"/>
              </a:ext>
            </a:extLst>
          </p:cNvPr>
          <p:cNvSpPr/>
          <p:nvPr/>
        </p:nvSpPr>
        <p:spPr>
          <a:xfrm>
            <a:off x="609600" y="2032000"/>
            <a:ext cx="2286000" cy="812800"/>
          </a:xfrm>
          <a:prstGeom prst="roundRect">
            <a:avLst>
              <a:gd name="adj" fmla="val 8000"/>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s-GT" sz="1500" b="1">
                <a:solidFill>
                  <a:srgbClr val="FFFFFF"/>
                </a:solidFill>
                <a:latin typeface="Calibri" panose="020F0502020204030204" pitchFamily="34" charset="0"/>
              </a:rPr>
              <a:t>Adquirir semáforo</a:t>
            </a:r>
          </a:p>
          <a:p>
            <a:pPr algn="ctr"/>
            <a:r>
              <a:rPr lang="es-GT" sz="1200">
                <a:solidFill>
                  <a:srgbClr val="AFC3DA"/>
                </a:solidFill>
                <a:latin typeface="Calibri" panose="020F0502020204030204" pitchFamily="34" charset="0"/>
              </a:rPr>
              <a:t>SET NX EX 10</a:t>
            </a:r>
          </a:p>
        </p:txBody>
      </p:sp>
      <p:sp>
        <p:nvSpPr>
          <p:cNvPr id="9" name="Rombo 8">
            <a:extLst>
              <a:ext uri="{FF2B5EF4-FFF2-40B4-BE49-F238E27FC236}">
                <a16:creationId xmlns:a16="http://schemas.microsoft.com/office/drawing/2014/main" id="{DDC8080C-6B48-8174-47A3-44DD812B2703}"/>
              </a:ext>
            </a:extLst>
          </p:cNvPr>
          <p:cNvSpPr/>
          <p:nvPr/>
        </p:nvSpPr>
        <p:spPr>
          <a:xfrm>
            <a:off x="3276600" y="1866900"/>
            <a:ext cx="1828800" cy="1143000"/>
          </a:xfrm>
          <a:prstGeom prst="diamond">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400" b="1">
                <a:solidFill>
                  <a:srgbClr val="FFFFFF"/>
                </a:solidFill>
                <a:latin typeface="Calibri" panose="020F0502020204030204" pitchFamily="34" charset="0"/>
              </a:rPr>
              <a:t>¿Lo obtuvo?</a:t>
            </a:r>
          </a:p>
        </p:txBody>
      </p:sp>
      <p:sp>
        <p:nvSpPr>
          <p:cNvPr id="10" name="Rectángulo: esquinas redondeadas 9">
            <a:extLst>
              <a:ext uri="{FF2B5EF4-FFF2-40B4-BE49-F238E27FC236}">
                <a16:creationId xmlns:a16="http://schemas.microsoft.com/office/drawing/2014/main" id="{CD7343C4-76D8-7FB1-4E73-ADCDE392447C}"/>
              </a:ext>
            </a:extLst>
          </p:cNvPr>
          <p:cNvSpPr/>
          <p:nvPr/>
        </p:nvSpPr>
        <p:spPr>
          <a:xfrm>
            <a:off x="5715000" y="2032000"/>
            <a:ext cx="2540000" cy="812800"/>
          </a:xfrm>
          <a:prstGeom prst="roundRect">
            <a:avLst>
              <a:gd name="adj" fmla="val 8000"/>
            </a:avLst>
          </a:prstGeom>
          <a:solidFill>
            <a:srgbClr val="FFFFFF"/>
          </a:solidFill>
          <a:ln w="15875">
            <a:solidFill>
              <a:srgbClr val="A9D9B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45720" rIns="76200" bIns="45720" rtlCol="0" anchor="ctr">
            <a:noAutofit/>
          </a:bodyPr>
          <a:lstStyle/>
          <a:p>
            <a:pPr algn="ctr"/>
            <a:r>
              <a:rPr lang="es-GT" sz="1400" b="1">
                <a:solidFill>
                  <a:srgbClr val="1B2A41"/>
                </a:solidFill>
                <a:latin typeface="Calibri" panose="020F0502020204030204" pitchFamily="34" charset="0"/>
              </a:rPr>
              <a:t>Seleccionar la</a:t>
            </a:r>
          </a:p>
          <a:p>
            <a:pPr algn="ctr"/>
            <a:r>
              <a:rPr lang="es-GT" sz="1400" b="1">
                <a:solidFill>
                  <a:srgbClr val="1B2A41"/>
                </a:solidFill>
                <a:latin typeface="Calibri" panose="020F0502020204030204" pitchFamily="34" charset="0"/>
              </a:rPr>
              <a:t>PENDIENTE más antigua</a:t>
            </a:r>
          </a:p>
        </p:txBody>
      </p:sp>
      <p:sp>
        <p:nvSpPr>
          <p:cNvPr id="11" name="Rectángulo: esquinas redondeadas 10">
            <a:extLst>
              <a:ext uri="{FF2B5EF4-FFF2-40B4-BE49-F238E27FC236}">
                <a16:creationId xmlns:a16="http://schemas.microsoft.com/office/drawing/2014/main" id="{B4A8CA6F-BCBD-AC08-A62D-7BC1E3694ABD}"/>
              </a:ext>
            </a:extLst>
          </p:cNvPr>
          <p:cNvSpPr/>
          <p:nvPr/>
        </p:nvSpPr>
        <p:spPr>
          <a:xfrm>
            <a:off x="8788400" y="2032000"/>
            <a:ext cx="2540000" cy="812800"/>
          </a:xfrm>
          <a:prstGeom prst="roundRect">
            <a:avLst>
              <a:gd name="adj" fmla="val 8000"/>
            </a:avLst>
          </a:prstGeom>
          <a:solidFill>
            <a:srgbClr val="FFFFFF"/>
          </a:solidFill>
          <a:ln w="15875">
            <a:solidFill>
              <a:srgbClr val="A9D9B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45720" rIns="76200" bIns="45720" rtlCol="0" anchor="ctr">
            <a:noAutofit/>
          </a:bodyPr>
          <a:lstStyle/>
          <a:p>
            <a:pPr algn="ctr"/>
            <a:r>
              <a:rPr lang="pt-BR" sz="1400" b="1">
                <a:solidFill>
                  <a:srgbClr val="1B2A41"/>
                </a:solidFill>
                <a:latin typeface="Calibri" panose="020F0502020204030204" pitchFamily="34" charset="0"/>
              </a:rPr>
              <a:t>Procesar</a:t>
            </a:r>
          </a:p>
          <a:p>
            <a:pPr algn="ctr"/>
            <a:r>
              <a:rPr lang="pt-BR" sz="1400" b="1">
                <a:solidFill>
                  <a:srgbClr val="1B2A41"/>
                </a:solidFill>
                <a:latin typeface="Calibri" panose="020F0502020204030204" pitchFamily="34" charset="0"/>
              </a:rPr>
              <a:t>(1 a 3 s)</a:t>
            </a:r>
            <a:endParaRPr lang="es-GT" sz="1400" b="1">
              <a:solidFill>
                <a:srgbClr val="1B2A41"/>
              </a:solidFill>
              <a:latin typeface="Calibri" panose="020F0502020204030204" pitchFamily="34" charset="0"/>
            </a:endParaRPr>
          </a:p>
        </p:txBody>
      </p:sp>
      <p:sp>
        <p:nvSpPr>
          <p:cNvPr id="12" name="Rectángulo: esquinas redondeadas 11">
            <a:extLst>
              <a:ext uri="{FF2B5EF4-FFF2-40B4-BE49-F238E27FC236}">
                <a16:creationId xmlns:a16="http://schemas.microsoft.com/office/drawing/2014/main" id="{5B4D1B24-BCBA-F23A-A211-098E288355E0}"/>
              </a:ext>
            </a:extLst>
          </p:cNvPr>
          <p:cNvSpPr/>
          <p:nvPr/>
        </p:nvSpPr>
        <p:spPr>
          <a:xfrm>
            <a:off x="8788400" y="3403600"/>
            <a:ext cx="2540000" cy="812800"/>
          </a:xfrm>
          <a:prstGeom prst="roundRect">
            <a:avLst>
              <a:gd name="adj" fmla="val 8000"/>
            </a:avLst>
          </a:prstGeom>
          <a:solidFill>
            <a:srgbClr val="FFFFFF"/>
          </a:solidFill>
          <a:ln w="15875">
            <a:solidFill>
              <a:srgbClr val="A9D9B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45720" rIns="76200" bIns="45720" rtlCol="0" anchor="ctr">
            <a:noAutofit/>
          </a:bodyPr>
          <a:lstStyle/>
          <a:p>
            <a:pPr algn="ctr"/>
            <a:r>
              <a:rPr lang="es-GT" sz="1400" b="1">
                <a:solidFill>
                  <a:srgbClr val="1B2A41"/>
                </a:solidFill>
                <a:latin typeface="Calibri" panose="020F0502020204030204" pitchFamily="34" charset="0"/>
              </a:rPr>
              <a:t>Actualizar a</a:t>
            </a:r>
          </a:p>
          <a:p>
            <a:pPr algn="ctr"/>
            <a:r>
              <a:rPr lang="es-GT" sz="1400" b="1">
                <a:solidFill>
                  <a:srgbClr val="1B2A41"/>
                </a:solidFill>
                <a:latin typeface="Calibri" panose="020F0502020204030204" pitchFamily="34" charset="0"/>
              </a:rPr>
              <a:t>PROCESADO</a:t>
            </a:r>
          </a:p>
        </p:txBody>
      </p:sp>
      <p:sp>
        <p:nvSpPr>
          <p:cNvPr id="13" name="Rectángulo: esquinas redondeadas 12">
            <a:extLst>
              <a:ext uri="{FF2B5EF4-FFF2-40B4-BE49-F238E27FC236}">
                <a16:creationId xmlns:a16="http://schemas.microsoft.com/office/drawing/2014/main" id="{88068870-C77C-F947-2C93-C32E39EF3A49}"/>
              </a:ext>
            </a:extLst>
          </p:cNvPr>
          <p:cNvSpPr/>
          <p:nvPr/>
        </p:nvSpPr>
        <p:spPr>
          <a:xfrm>
            <a:off x="5715000" y="3403600"/>
            <a:ext cx="2540000" cy="812800"/>
          </a:xfrm>
          <a:prstGeom prst="roundRect">
            <a:avLst>
              <a:gd name="adj" fmla="val 8000"/>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s-GT" sz="1400" b="1">
                <a:solidFill>
                  <a:srgbClr val="FFFFFF"/>
                </a:solidFill>
                <a:latin typeface="Calibri" panose="020F0502020204030204" pitchFamily="34" charset="0"/>
              </a:rPr>
              <a:t>Liberar semáforo</a:t>
            </a:r>
          </a:p>
          <a:p>
            <a:pPr algn="ctr"/>
            <a:r>
              <a:rPr lang="es-GT" sz="1400" b="1">
                <a:solidFill>
                  <a:srgbClr val="FFFFFF"/>
                </a:solidFill>
                <a:latin typeface="Calibri" panose="020F0502020204030204" pitchFamily="34" charset="0"/>
              </a:rPr>
              <a:t>(solo si soy el dueño)</a:t>
            </a:r>
          </a:p>
        </p:txBody>
      </p:sp>
      <p:sp>
        <p:nvSpPr>
          <p:cNvPr id="14" name="Rectángulo: esquinas redondeadas 13">
            <a:extLst>
              <a:ext uri="{FF2B5EF4-FFF2-40B4-BE49-F238E27FC236}">
                <a16:creationId xmlns:a16="http://schemas.microsoft.com/office/drawing/2014/main" id="{F56E2243-37D6-FD94-FF86-10F09BB75EC5}"/>
              </a:ext>
            </a:extLst>
          </p:cNvPr>
          <p:cNvSpPr/>
          <p:nvPr/>
        </p:nvSpPr>
        <p:spPr>
          <a:xfrm>
            <a:off x="3048000" y="4826000"/>
            <a:ext cx="2286000" cy="812800"/>
          </a:xfrm>
          <a:prstGeom prst="roundRect">
            <a:avLst>
              <a:gd name="adj" fmla="val 8000"/>
            </a:avLst>
          </a:prstGeom>
          <a:solidFill>
            <a:srgbClr val="FBEA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s-GT" sz="1500" b="1">
                <a:solidFill>
                  <a:srgbClr val="D64545"/>
                </a:solidFill>
                <a:latin typeface="Calibri" panose="020F0502020204030204" pitchFamily="34" charset="0"/>
              </a:rPr>
              <a:t>ESPERAR</a:t>
            </a:r>
          </a:p>
          <a:p>
            <a:pPr algn="ctr"/>
            <a:r>
              <a:rPr lang="es-GT" sz="1200">
                <a:solidFill>
                  <a:srgbClr val="1B2A41"/>
                </a:solidFill>
                <a:latin typeface="Calibri" panose="020F0502020204030204" pitchFamily="34" charset="0"/>
              </a:rPr>
              <a:t>reintenta en 0.3–0.6 s</a:t>
            </a:r>
          </a:p>
        </p:txBody>
      </p:sp>
      <p:cxnSp>
        <p:nvCxnSpPr>
          <p:cNvPr id="15" name="Conector recto 14">
            <a:extLst>
              <a:ext uri="{FF2B5EF4-FFF2-40B4-BE49-F238E27FC236}">
                <a16:creationId xmlns:a16="http://schemas.microsoft.com/office/drawing/2014/main" id="{8B39EFA4-6FAF-86C7-FD2F-9DB522435FA6}"/>
              </a:ext>
            </a:extLst>
          </p:cNvPr>
          <p:cNvCxnSpPr/>
          <p:nvPr/>
        </p:nvCxnSpPr>
        <p:spPr>
          <a:xfrm>
            <a:off x="2895600" y="2438400"/>
            <a:ext cx="381000" cy="0"/>
          </a:xfrm>
          <a:prstGeom prst="line">
            <a:avLst/>
          </a:prstGeom>
          <a:ln w="25400">
            <a:solidFill>
              <a:srgbClr val="5B6B82"/>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15">
            <a:extLst>
              <a:ext uri="{FF2B5EF4-FFF2-40B4-BE49-F238E27FC236}">
                <a16:creationId xmlns:a16="http://schemas.microsoft.com/office/drawing/2014/main" id="{148F4C79-CFC4-2ABC-1B90-F7F375138564}"/>
              </a:ext>
            </a:extLst>
          </p:cNvPr>
          <p:cNvCxnSpPr/>
          <p:nvPr/>
        </p:nvCxnSpPr>
        <p:spPr>
          <a:xfrm>
            <a:off x="5105400" y="2438400"/>
            <a:ext cx="609600" cy="0"/>
          </a:xfrm>
          <a:prstGeom prst="line">
            <a:avLst/>
          </a:prstGeom>
          <a:ln w="31750">
            <a:solidFill>
              <a:srgbClr val="1F9D55"/>
            </a:solidFill>
            <a:tailEnd type="triangle"/>
          </a:ln>
        </p:spPr>
        <p:style>
          <a:lnRef idx="2">
            <a:schemeClr val="accent1"/>
          </a:lnRef>
          <a:fillRef idx="0">
            <a:schemeClr val="accent1"/>
          </a:fillRef>
          <a:effectRef idx="1">
            <a:schemeClr val="accent1"/>
          </a:effectRef>
          <a:fontRef idx="minor">
            <a:schemeClr val="tx1"/>
          </a:fontRef>
        </p:style>
      </p:cxnSp>
      <p:sp>
        <p:nvSpPr>
          <p:cNvPr id="17" name="CuadroTexto 16">
            <a:extLst>
              <a:ext uri="{FF2B5EF4-FFF2-40B4-BE49-F238E27FC236}">
                <a16:creationId xmlns:a16="http://schemas.microsoft.com/office/drawing/2014/main" id="{1E8B34AB-E4AB-4713-210E-3EBF1CF27EB5}"/>
              </a:ext>
            </a:extLst>
          </p:cNvPr>
          <p:cNvSpPr txBox="1"/>
          <p:nvPr/>
        </p:nvSpPr>
        <p:spPr>
          <a:xfrm>
            <a:off x="5156200" y="2133600"/>
            <a:ext cx="508000" cy="254000"/>
          </a:xfrm>
          <a:prstGeom prst="rect">
            <a:avLst/>
          </a:prstGeom>
          <a:noFill/>
        </p:spPr>
        <p:txBody>
          <a:bodyPr vert="horz" wrap="square" lIns="0" tIns="0" rIns="0" bIns="0" rtlCol="0" anchor="t">
            <a:noAutofit/>
          </a:bodyPr>
          <a:lstStyle/>
          <a:p>
            <a:r>
              <a:rPr lang="es-GT" sz="1300" b="1">
                <a:solidFill>
                  <a:srgbClr val="1F9D55"/>
                </a:solidFill>
                <a:latin typeface="Calibri" panose="020F0502020204030204" pitchFamily="34" charset="0"/>
              </a:rPr>
              <a:t>Sí</a:t>
            </a:r>
          </a:p>
        </p:txBody>
      </p:sp>
      <p:cxnSp>
        <p:nvCxnSpPr>
          <p:cNvPr id="18" name="Conector recto 17">
            <a:extLst>
              <a:ext uri="{FF2B5EF4-FFF2-40B4-BE49-F238E27FC236}">
                <a16:creationId xmlns:a16="http://schemas.microsoft.com/office/drawing/2014/main" id="{90AF42E4-1EAE-53C1-5416-C9025BF14F51}"/>
              </a:ext>
            </a:extLst>
          </p:cNvPr>
          <p:cNvCxnSpPr/>
          <p:nvPr/>
        </p:nvCxnSpPr>
        <p:spPr>
          <a:xfrm>
            <a:off x="8255000" y="2438400"/>
            <a:ext cx="533400" cy="0"/>
          </a:xfrm>
          <a:prstGeom prst="line">
            <a:avLst/>
          </a:prstGeom>
          <a:ln w="25400">
            <a:solidFill>
              <a:srgbClr val="5B6B82"/>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id="{B3AE1E03-9343-DBAC-3142-37800A3559C8}"/>
              </a:ext>
            </a:extLst>
          </p:cNvPr>
          <p:cNvCxnSpPr/>
          <p:nvPr/>
        </p:nvCxnSpPr>
        <p:spPr>
          <a:xfrm>
            <a:off x="10058400" y="2844800"/>
            <a:ext cx="0" cy="558800"/>
          </a:xfrm>
          <a:prstGeom prst="line">
            <a:avLst/>
          </a:prstGeom>
          <a:ln w="25400">
            <a:solidFill>
              <a:srgbClr val="5B6B82"/>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a16="http://schemas.microsoft.com/office/drawing/2014/main" id="{5246188B-99F0-EDBC-9833-7D16C00D7BCC}"/>
              </a:ext>
            </a:extLst>
          </p:cNvPr>
          <p:cNvCxnSpPr/>
          <p:nvPr/>
        </p:nvCxnSpPr>
        <p:spPr>
          <a:xfrm flipH="1">
            <a:off x="8255000" y="3810000"/>
            <a:ext cx="533400" cy="0"/>
          </a:xfrm>
          <a:prstGeom prst="line">
            <a:avLst/>
          </a:prstGeom>
          <a:ln w="25400">
            <a:solidFill>
              <a:srgbClr val="5B6B82"/>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208B4A20-09A9-B1D2-B29A-F39F92172159}"/>
              </a:ext>
            </a:extLst>
          </p:cNvPr>
          <p:cNvCxnSpPr/>
          <p:nvPr/>
        </p:nvCxnSpPr>
        <p:spPr>
          <a:xfrm>
            <a:off x="4191000" y="3009900"/>
            <a:ext cx="0" cy="1816100"/>
          </a:xfrm>
          <a:prstGeom prst="line">
            <a:avLst/>
          </a:prstGeom>
          <a:ln w="31750">
            <a:solidFill>
              <a:srgbClr val="D64545"/>
            </a:solidFill>
            <a:tailEnd type="triangle"/>
          </a:ln>
        </p:spPr>
        <p:style>
          <a:lnRef idx="2">
            <a:schemeClr val="accent1"/>
          </a:lnRef>
          <a:fillRef idx="0">
            <a:schemeClr val="accent1"/>
          </a:fillRef>
          <a:effectRef idx="1">
            <a:schemeClr val="accent1"/>
          </a:effectRef>
          <a:fontRef idx="minor">
            <a:schemeClr val="tx1"/>
          </a:fontRef>
        </p:style>
      </p:cxnSp>
      <p:sp>
        <p:nvSpPr>
          <p:cNvPr id="22" name="CuadroTexto 21">
            <a:extLst>
              <a:ext uri="{FF2B5EF4-FFF2-40B4-BE49-F238E27FC236}">
                <a16:creationId xmlns:a16="http://schemas.microsoft.com/office/drawing/2014/main" id="{CCEB7065-3078-9096-CEB4-E5272A4ECE0D}"/>
              </a:ext>
            </a:extLst>
          </p:cNvPr>
          <p:cNvSpPr txBox="1"/>
          <p:nvPr/>
        </p:nvSpPr>
        <p:spPr>
          <a:xfrm>
            <a:off x="4292600" y="3683000"/>
            <a:ext cx="508000" cy="254000"/>
          </a:xfrm>
          <a:prstGeom prst="rect">
            <a:avLst/>
          </a:prstGeom>
          <a:noFill/>
        </p:spPr>
        <p:txBody>
          <a:bodyPr vert="horz" wrap="square" lIns="0" tIns="0" rIns="0" bIns="0" rtlCol="0" anchor="t">
            <a:noAutofit/>
          </a:bodyPr>
          <a:lstStyle/>
          <a:p>
            <a:r>
              <a:rPr lang="es-GT" sz="1300" b="1">
                <a:solidFill>
                  <a:srgbClr val="D64545"/>
                </a:solidFill>
                <a:latin typeface="Calibri" panose="020F0502020204030204" pitchFamily="34" charset="0"/>
              </a:rPr>
              <a:t>No</a:t>
            </a:r>
          </a:p>
        </p:txBody>
      </p:sp>
      <p:cxnSp>
        <p:nvCxnSpPr>
          <p:cNvPr id="23" name="Conector recto 22">
            <a:extLst>
              <a:ext uri="{FF2B5EF4-FFF2-40B4-BE49-F238E27FC236}">
                <a16:creationId xmlns:a16="http://schemas.microsoft.com/office/drawing/2014/main" id="{EAC3613E-2D7F-9E97-1EDD-9EAFB9B6A26D}"/>
              </a:ext>
            </a:extLst>
          </p:cNvPr>
          <p:cNvCxnSpPr/>
          <p:nvPr/>
        </p:nvCxnSpPr>
        <p:spPr>
          <a:xfrm flipH="1">
            <a:off x="1905000" y="5232400"/>
            <a:ext cx="1143000" cy="0"/>
          </a:xfrm>
          <a:prstGeom prst="line">
            <a:avLst/>
          </a:prstGeom>
          <a:ln w="22225">
            <a:solidFill>
              <a:srgbClr val="D64545"/>
            </a:solidFill>
          </a:ln>
        </p:spPr>
        <p:style>
          <a:lnRef idx="2">
            <a:schemeClr val="accent1"/>
          </a:lnRef>
          <a:fillRef idx="0">
            <a:schemeClr val="accent1"/>
          </a:fillRef>
          <a:effectRef idx="1">
            <a:schemeClr val="accent1"/>
          </a:effectRef>
          <a:fontRef idx="minor">
            <a:schemeClr val="tx1"/>
          </a:fontRef>
        </p:style>
      </p:cxnSp>
      <p:cxnSp>
        <p:nvCxnSpPr>
          <p:cNvPr id="24" name="Conector recto 23">
            <a:extLst>
              <a:ext uri="{FF2B5EF4-FFF2-40B4-BE49-F238E27FC236}">
                <a16:creationId xmlns:a16="http://schemas.microsoft.com/office/drawing/2014/main" id="{A3488247-B64F-9CB2-8EB8-4D910A586DEF}"/>
              </a:ext>
            </a:extLst>
          </p:cNvPr>
          <p:cNvCxnSpPr/>
          <p:nvPr/>
        </p:nvCxnSpPr>
        <p:spPr>
          <a:xfrm flipV="1">
            <a:off x="1905000" y="2844800"/>
            <a:ext cx="0" cy="2387600"/>
          </a:xfrm>
          <a:prstGeom prst="line">
            <a:avLst/>
          </a:prstGeom>
          <a:ln w="22225">
            <a:solidFill>
              <a:srgbClr val="D64545"/>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id="{2F1357A9-D347-F97C-23D4-4B0CD64A0C2B}"/>
              </a:ext>
            </a:extLst>
          </p:cNvPr>
          <p:cNvCxnSpPr/>
          <p:nvPr/>
        </p:nvCxnSpPr>
        <p:spPr>
          <a:xfrm>
            <a:off x="6985000" y="4216400"/>
            <a:ext cx="0" cy="1752600"/>
          </a:xfrm>
          <a:prstGeom prst="line">
            <a:avLst/>
          </a:prstGeom>
          <a:ln w="22225">
            <a:solidFill>
              <a:srgbClr val="1F9D55"/>
            </a:solidFill>
          </a:ln>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a16="http://schemas.microsoft.com/office/drawing/2014/main" id="{FAB26BAE-C916-F945-EA93-E1AE4323984D}"/>
              </a:ext>
            </a:extLst>
          </p:cNvPr>
          <p:cNvCxnSpPr/>
          <p:nvPr/>
        </p:nvCxnSpPr>
        <p:spPr>
          <a:xfrm flipH="1">
            <a:off x="1143000" y="5969000"/>
            <a:ext cx="5842000" cy="0"/>
          </a:xfrm>
          <a:prstGeom prst="line">
            <a:avLst/>
          </a:prstGeom>
          <a:ln w="22225">
            <a:solidFill>
              <a:srgbClr val="1F9D55"/>
            </a:solidFill>
          </a:ln>
        </p:spPr>
        <p:style>
          <a:lnRef idx="2">
            <a:schemeClr val="accent1"/>
          </a:lnRef>
          <a:fillRef idx="0">
            <a:schemeClr val="accent1"/>
          </a:fillRef>
          <a:effectRef idx="1">
            <a:schemeClr val="accent1"/>
          </a:effectRef>
          <a:fontRef idx="minor">
            <a:schemeClr val="tx1"/>
          </a:fontRef>
        </p:style>
      </p:cxnSp>
      <p:cxnSp>
        <p:nvCxnSpPr>
          <p:cNvPr id="27" name="Conector recto 26">
            <a:extLst>
              <a:ext uri="{FF2B5EF4-FFF2-40B4-BE49-F238E27FC236}">
                <a16:creationId xmlns:a16="http://schemas.microsoft.com/office/drawing/2014/main" id="{89772BA8-D7E8-4F99-9A4E-892D8317634A}"/>
              </a:ext>
            </a:extLst>
          </p:cNvPr>
          <p:cNvCxnSpPr/>
          <p:nvPr/>
        </p:nvCxnSpPr>
        <p:spPr>
          <a:xfrm flipV="1">
            <a:off x="1143000" y="2844800"/>
            <a:ext cx="0" cy="3124200"/>
          </a:xfrm>
          <a:prstGeom prst="line">
            <a:avLst/>
          </a:prstGeom>
          <a:ln w="22225">
            <a:solidFill>
              <a:srgbClr val="1F9D55"/>
            </a:solidFill>
            <a:tailEnd type="triangle"/>
          </a:ln>
        </p:spPr>
        <p:style>
          <a:lnRef idx="2">
            <a:schemeClr val="accent1"/>
          </a:lnRef>
          <a:fillRef idx="0">
            <a:schemeClr val="accent1"/>
          </a:fillRef>
          <a:effectRef idx="1">
            <a:schemeClr val="accent1"/>
          </a:effectRef>
          <a:fontRef idx="minor">
            <a:schemeClr val="tx1"/>
          </a:fontRef>
        </p:style>
      </p:cxnSp>
      <p:sp>
        <p:nvSpPr>
          <p:cNvPr id="28" name="CuadroTexto 27">
            <a:extLst>
              <a:ext uri="{FF2B5EF4-FFF2-40B4-BE49-F238E27FC236}">
                <a16:creationId xmlns:a16="http://schemas.microsoft.com/office/drawing/2014/main" id="{217BC8D5-B230-3369-F462-D78247FFF0A8}"/>
              </a:ext>
            </a:extLst>
          </p:cNvPr>
          <p:cNvSpPr txBox="1"/>
          <p:nvPr/>
        </p:nvSpPr>
        <p:spPr>
          <a:xfrm>
            <a:off x="5588000" y="5689600"/>
            <a:ext cx="1270000" cy="254000"/>
          </a:xfrm>
          <a:prstGeom prst="rect">
            <a:avLst/>
          </a:prstGeom>
          <a:noFill/>
        </p:spPr>
        <p:txBody>
          <a:bodyPr vert="horz" wrap="square" lIns="0" tIns="0" rIns="0" bIns="0" rtlCol="0" anchor="t">
            <a:noAutofit/>
          </a:bodyPr>
          <a:lstStyle/>
          <a:p>
            <a:r>
              <a:rPr lang="es-GT" sz="1200" b="1">
                <a:solidFill>
                  <a:srgbClr val="1F9D55"/>
                </a:solidFill>
                <a:latin typeface="Calibri" panose="020F0502020204030204" pitchFamily="34" charset="0"/>
              </a:rPr>
              <a:t>repite</a:t>
            </a:r>
          </a:p>
        </p:txBody>
      </p:sp>
      <p:sp>
        <p:nvSpPr>
          <p:cNvPr id="29" name="CuadroTexto 28">
            <a:extLst>
              <a:ext uri="{FF2B5EF4-FFF2-40B4-BE49-F238E27FC236}">
                <a16:creationId xmlns:a16="http://schemas.microsoft.com/office/drawing/2014/main" id="{A55CB5F9-9B8F-02DC-ACC5-0509A628612B}"/>
              </a:ext>
            </a:extLst>
          </p:cNvPr>
          <p:cNvSpPr txBox="1"/>
          <p:nvPr/>
        </p:nvSpPr>
        <p:spPr>
          <a:xfrm>
            <a:off x="8788400" y="4724400"/>
            <a:ext cx="2794000" cy="889000"/>
          </a:xfrm>
          <a:prstGeom prst="rect">
            <a:avLst/>
          </a:prstGeom>
          <a:noFill/>
        </p:spPr>
        <p:txBody>
          <a:bodyPr vert="horz" wrap="square" lIns="0" tIns="0" rIns="0" bIns="0" rtlCol="0" anchor="t">
            <a:noAutofit/>
          </a:bodyPr>
          <a:lstStyle/>
          <a:p>
            <a:r>
              <a:rPr lang="es-GT" sz="1400">
                <a:solidFill>
                  <a:srgbClr val="5B6B82"/>
                </a:solidFill>
                <a:latin typeface="Calibri" panose="020F0502020204030204" pitchFamily="34" charset="0"/>
              </a:rPr>
              <a:t>Si no hay pendientes, libera el semáforo y espera 2 s.</a:t>
            </a:r>
          </a:p>
        </p:txBody>
      </p:sp>
      <p:sp>
        <p:nvSpPr>
          <p:cNvPr id="30" name="CuadroTexto 29">
            <a:extLst>
              <a:ext uri="{FF2B5EF4-FFF2-40B4-BE49-F238E27FC236}">
                <a16:creationId xmlns:a16="http://schemas.microsoft.com/office/drawing/2014/main" id="{0B915C29-F87A-352D-3540-AC3A79D2C6BB}"/>
              </a:ext>
            </a:extLst>
          </p:cNvPr>
          <p:cNvSpPr txBox="1"/>
          <p:nvPr/>
        </p:nvSpPr>
        <p:spPr>
          <a:xfrm>
            <a:off x="609600" y="6451600"/>
            <a:ext cx="6604000" cy="228600"/>
          </a:xfrm>
          <a:prstGeom prst="rect">
            <a:avLst/>
          </a:prstGeom>
          <a:noFill/>
        </p:spPr>
        <p:txBody>
          <a:bodyPr vert="horz" wrap="square" lIns="0" tIns="0" rIns="0" bIns="0" rtlCol="0" anchor="t">
            <a:noAutofit/>
          </a:bodyPr>
          <a:lstStyle/>
          <a:p>
            <a:r>
              <a:rPr lang="es-GT" sz="1000">
                <a:solidFill>
                  <a:srgbClr val="5B6B82"/>
                </a:solidFill>
                <a:latin typeface="Calibri" panose="020F0502020204030204" pitchFamily="34" charset="0"/>
              </a:rPr>
              <a:t>Productor y consumidores con semáforo · Sistemas Operativos I</a:t>
            </a:r>
          </a:p>
        </p:txBody>
      </p:sp>
      <p:sp>
        <p:nvSpPr>
          <p:cNvPr id="31" name="CuadroTexto 30">
            <a:extLst>
              <a:ext uri="{FF2B5EF4-FFF2-40B4-BE49-F238E27FC236}">
                <a16:creationId xmlns:a16="http://schemas.microsoft.com/office/drawing/2014/main" id="{47B8A05B-F951-54B9-DB23-DC6E9124E083}"/>
              </a:ext>
            </a:extLst>
          </p:cNvPr>
          <p:cNvSpPr txBox="1"/>
          <p:nvPr/>
        </p:nvSpPr>
        <p:spPr>
          <a:xfrm>
            <a:off x="10312400" y="6451600"/>
            <a:ext cx="1270000" cy="228600"/>
          </a:xfrm>
          <a:prstGeom prst="rect">
            <a:avLst/>
          </a:prstGeom>
          <a:noFill/>
        </p:spPr>
        <p:txBody>
          <a:bodyPr vert="horz" wrap="square" lIns="0" tIns="0" rIns="0" bIns="0" rtlCol="0" anchor="t">
            <a:noAutofit/>
          </a:bodyPr>
          <a:lstStyle/>
          <a:p>
            <a:pPr algn="r"/>
            <a:r>
              <a:rPr lang="es-GT" sz="1000">
                <a:solidFill>
                  <a:srgbClr val="5B6B82"/>
                </a:solidFill>
                <a:latin typeface="Calibri" panose="020F0502020204030204" pitchFamily="34" charset="0"/>
              </a:rPr>
              <a:t>8</a:t>
            </a:r>
          </a:p>
        </p:txBody>
      </p:sp>
    </p:spTree>
    <p:extLst>
      <p:ext uri="{BB962C8B-B14F-4D97-AF65-F5344CB8AC3E}">
        <p14:creationId xmlns:p14="http://schemas.microsoft.com/office/powerpoint/2010/main" val="939645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1F2F1B7-C7A2-F5E2-A4D2-F1127514D132}"/>
              </a:ext>
            </a:extLst>
          </p:cNvPr>
          <p:cNvSpPr txBox="1"/>
          <p:nvPr/>
        </p:nvSpPr>
        <p:spPr>
          <a:xfrm>
            <a:off x="609600" y="406400"/>
            <a:ext cx="10033000" cy="635000"/>
          </a:xfrm>
          <a:prstGeom prst="rect">
            <a:avLst/>
          </a:prstGeom>
          <a:noFill/>
        </p:spPr>
        <p:txBody>
          <a:bodyPr vert="horz" wrap="square" lIns="0" tIns="0" rIns="0" bIns="0" rtlCol="0" anchor="ctr">
            <a:noAutofit/>
          </a:bodyPr>
          <a:lstStyle/>
          <a:p>
            <a:r>
              <a:rPr lang="es-GT" sz="3200" b="1">
                <a:solidFill>
                  <a:srgbClr val="1B2A41"/>
                </a:solidFill>
                <a:latin typeface="Calibri" panose="020F0502020204030204" pitchFamily="34" charset="0"/>
              </a:rPr>
              <a:t>El semáforo en Redis</a:t>
            </a:r>
          </a:p>
        </p:txBody>
      </p:sp>
      <p:sp>
        <p:nvSpPr>
          <p:cNvPr id="3" name="Elipse 2">
            <a:extLst>
              <a:ext uri="{FF2B5EF4-FFF2-40B4-BE49-F238E27FC236}">
                <a16:creationId xmlns:a16="http://schemas.microsoft.com/office/drawing/2014/main" id="{471DB725-3D4A-A279-5DD2-FC9EDD0B2A03}"/>
              </a:ext>
            </a:extLst>
          </p:cNvPr>
          <p:cNvSpPr/>
          <p:nvPr/>
        </p:nvSpPr>
        <p:spPr>
          <a:xfrm>
            <a:off x="11023600" y="635000"/>
            <a:ext cx="152400" cy="152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Elipse 3">
            <a:extLst>
              <a:ext uri="{FF2B5EF4-FFF2-40B4-BE49-F238E27FC236}">
                <a16:creationId xmlns:a16="http://schemas.microsoft.com/office/drawing/2014/main" id="{6EC4F811-AEB9-17AA-DACA-6BFF614C05F7}"/>
              </a:ext>
            </a:extLst>
          </p:cNvPr>
          <p:cNvSpPr/>
          <p:nvPr/>
        </p:nvSpPr>
        <p:spPr>
          <a:xfrm>
            <a:off x="11252200" y="635000"/>
            <a:ext cx="152400" cy="1524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5" name="Elipse 4">
            <a:extLst>
              <a:ext uri="{FF2B5EF4-FFF2-40B4-BE49-F238E27FC236}">
                <a16:creationId xmlns:a16="http://schemas.microsoft.com/office/drawing/2014/main" id="{2566520A-D277-61C2-3771-4420D71249A4}"/>
              </a:ext>
            </a:extLst>
          </p:cNvPr>
          <p:cNvSpPr/>
          <p:nvPr/>
        </p:nvSpPr>
        <p:spPr>
          <a:xfrm>
            <a:off x="11480800" y="635000"/>
            <a:ext cx="152400" cy="152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Rectángulo: esquinas redondeadas 5">
            <a:extLst>
              <a:ext uri="{FF2B5EF4-FFF2-40B4-BE49-F238E27FC236}">
                <a16:creationId xmlns:a16="http://schemas.microsoft.com/office/drawing/2014/main" id="{E4A1F1F3-873D-AC8C-D1D3-972ADA3110E1}"/>
              </a:ext>
            </a:extLst>
          </p:cNvPr>
          <p:cNvSpPr/>
          <p:nvPr/>
        </p:nvSpPr>
        <p:spPr>
          <a:xfrm>
            <a:off x="609600" y="1371600"/>
            <a:ext cx="10972800" cy="736600"/>
          </a:xfrm>
          <a:prstGeom prst="roundRect">
            <a:avLst>
              <a:gd name="adj" fmla="val 8000"/>
            </a:avLst>
          </a:prstGeom>
          <a:solidFill>
            <a:srgbClr val="1523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60960" rIns="101600" bIns="60960" rtlCol="0" anchor="ctr"/>
          <a:lstStyle/>
          <a:p>
            <a:pPr algn="ctr"/>
            <a:r>
              <a:rPr lang="es-GT" sz="2000">
                <a:solidFill>
                  <a:srgbClr val="D6E2F0"/>
                </a:solidFill>
                <a:latin typeface="Consolas" panose="020B0609020204030204" pitchFamily="49" charset="0"/>
              </a:rPr>
              <a:t>SET semaforo:transacciones </a:t>
            </a:r>
            <a:r>
              <a:rPr lang="es-GT" sz="2000">
                <a:solidFill>
                  <a:srgbClr val="AFC3DA"/>
                </a:solidFill>
                <a:latin typeface="Consolas" panose="020B0609020204030204" pitchFamily="49" charset="0"/>
              </a:rPr>
              <a:t>consumidor1:&lt;uuid&gt;</a:t>
            </a:r>
            <a:r>
              <a:rPr lang="es-GT" sz="2000">
                <a:solidFill>
                  <a:srgbClr val="D6E2F0"/>
                </a:solidFill>
                <a:latin typeface="Consolas" panose="020B0609020204030204" pitchFamily="49" charset="0"/>
              </a:rPr>
              <a:t> </a:t>
            </a:r>
            <a:r>
              <a:rPr lang="es-GT" sz="2000" b="1">
                <a:solidFill>
                  <a:srgbClr val="1F9D55"/>
                </a:solidFill>
                <a:latin typeface="Consolas" panose="020B0609020204030204" pitchFamily="49" charset="0"/>
              </a:rPr>
              <a:t>NX</a:t>
            </a:r>
            <a:r>
              <a:rPr lang="es-GT" sz="2000">
                <a:solidFill>
                  <a:srgbClr val="D6E2F0"/>
                </a:solidFill>
                <a:latin typeface="Consolas" panose="020B0609020204030204" pitchFamily="49" charset="0"/>
              </a:rPr>
              <a:t> </a:t>
            </a:r>
            <a:r>
              <a:rPr lang="es-GT" sz="2000" b="1">
                <a:solidFill>
                  <a:srgbClr val="E8A33D"/>
                </a:solidFill>
                <a:latin typeface="Consolas" panose="020B0609020204030204" pitchFamily="49" charset="0"/>
              </a:rPr>
              <a:t>EX 10</a:t>
            </a:r>
          </a:p>
        </p:txBody>
      </p:sp>
      <p:sp>
        <p:nvSpPr>
          <p:cNvPr id="7" name="Rectángulo: esquinas redondeadas 6">
            <a:extLst>
              <a:ext uri="{FF2B5EF4-FFF2-40B4-BE49-F238E27FC236}">
                <a16:creationId xmlns:a16="http://schemas.microsoft.com/office/drawing/2014/main" id="{314080AE-DFBA-4E3E-95B9-620164D4FF67}"/>
              </a:ext>
            </a:extLst>
          </p:cNvPr>
          <p:cNvSpPr/>
          <p:nvPr/>
        </p:nvSpPr>
        <p:spPr>
          <a:xfrm>
            <a:off x="609600" y="2336800"/>
            <a:ext cx="3454400" cy="21336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8" name="Elipse 7">
            <a:extLst>
              <a:ext uri="{FF2B5EF4-FFF2-40B4-BE49-F238E27FC236}">
                <a16:creationId xmlns:a16="http://schemas.microsoft.com/office/drawing/2014/main" id="{0BCBDD15-FDCD-BEA4-111A-CD87CEBC6ADE}"/>
              </a:ext>
            </a:extLst>
          </p:cNvPr>
          <p:cNvSpPr/>
          <p:nvPr/>
        </p:nvSpPr>
        <p:spPr>
          <a:xfrm>
            <a:off x="812800" y="2540000"/>
            <a:ext cx="558800" cy="5588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400" b="1">
                <a:solidFill>
                  <a:srgbClr val="FFFFFF"/>
                </a:solidFill>
                <a:latin typeface="Calibri" panose="020F0502020204030204" pitchFamily="34" charset="0"/>
              </a:rPr>
              <a:t>NX</a:t>
            </a:r>
          </a:p>
        </p:txBody>
      </p:sp>
      <p:sp>
        <p:nvSpPr>
          <p:cNvPr id="9" name="CuadroTexto 8">
            <a:extLst>
              <a:ext uri="{FF2B5EF4-FFF2-40B4-BE49-F238E27FC236}">
                <a16:creationId xmlns:a16="http://schemas.microsoft.com/office/drawing/2014/main" id="{7BE7AB13-C3CA-FDC0-7420-E36A8C5C1E64}"/>
              </a:ext>
            </a:extLst>
          </p:cNvPr>
          <p:cNvSpPr txBox="1"/>
          <p:nvPr/>
        </p:nvSpPr>
        <p:spPr>
          <a:xfrm>
            <a:off x="1524000" y="2667000"/>
            <a:ext cx="2286000" cy="330200"/>
          </a:xfrm>
          <a:prstGeom prst="rect">
            <a:avLst/>
          </a:prstGeom>
          <a:noFill/>
        </p:spPr>
        <p:txBody>
          <a:bodyPr vert="horz" wrap="square" lIns="0" tIns="0" rIns="0" bIns="0" rtlCol="0" anchor="t">
            <a:noAutofit/>
          </a:bodyPr>
          <a:lstStyle/>
          <a:p>
            <a:r>
              <a:rPr lang="es-GT" b="1">
                <a:solidFill>
                  <a:srgbClr val="1B2A41"/>
                </a:solidFill>
                <a:latin typeface="Calibri" panose="020F0502020204030204" pitchFamily="34" charset="0"/>
              </a:rPr>
              <a:t>Exclusión</a:t>
            </a:r>
          </a:p>
        </p:txBody>
      </p:sp>
      <p:sp>
        <p:nvSpPr>
          <p:cNvPr id="10" name="CuadroTexto 9">
            <a:extLst>
              <a:ext uri="{FF2B5EF4-FFF2-40B4-BE49-F238E27FC236}">
                <a16:creationId xmlns:a16="http://schemas.microsoft.com/office/drawing/2014/main" id="{5AB0B061-08DC-46BE-B7CD-1221E3656C72}"/>
              </a:ext>
            </a:extLst>
          </p:cNvPr>
          <p:cNvSpPr txBox="1"/>
          <p:nvPr/>
        </p:nvSpPr>
        <p:spPr>
          <a:xfrm>
            <a:off x="812800" y="3225800"/>
            <a:ext cx="3048000" cy="12192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Solo se crea si no existe: un único consumidor recibe OK. Comprobar y asignar en un solo paso atómico (wait / P).</a:t>
            </a:r>
          </a:p>
        </p:txBody>
      </p:sp>
      <p:sp>
        <p:nvSpPr>
          <p:cNvPr id="11" name="Rectángulo: esquinas redondeadas 10">
            <a:extLst>
              <a:ext uri="{FF2B5EF4-FFF2-40B4-BE49-F238E27FC236}">
                <a16:creationId xmlns:a16="http://schemas.microsoft.com/office/drawing/2014/main" id="{ADE3300B-324B-C94D-1387-B652777E8932}"/>
              </a:ext>
            </a:extLst>
          </p:cNvPr>
          <p:cNvSpPr/>
          <p:nvPr/>
        </p:nvSpPr>
        <p:spPr>
          <a:xfrm>
            <a:off x="4368800" y="2336800"/>
            <a:ext cx="3454400" cy="21336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2" name="Elipse 11">
            <a:extLst>
              <a:ext uri="{FF2B5EF4-FFF2-40B4-BE49-F238E27FC236}">
                <a16:creationId xmlns:a16="http://schemas.microsoft.com/office/drawing/2014/main" id="{198D8088-22F1-4026-44E8-ECF43FC6C656}"/>
              </a:ext>
            </a:extLst>
          </p:cNvPr>
          <p:cNvSpPr/>
          <p:nvPr/>
        </p:nvSpPr>
        <p:spPr>
          <a:xfrm>
            <a:off x="4572000" y="2540000"/>
            <a:ext cx="558800" cy="5588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400" b="1">
                <a:solidFill>
                  <a:srgbClr val="FFFFFF"/>
                </a:solidFill>
                <a:latin typeface="Calibri" panose="020F0502020204030204" pitchFamily="34" charset="0"/>
              </a:rPr>
              <a:t>EX</a:t>
            </a:r>
          </a:p>
        </p:txBody>
      </p:sp>
      <p:sp>
        <p:nvSpPr>
          <p:cNvPr id="13" name="CuadroTexto 12">
            <a:extLst>
              <a:ext uri="{FF2B5EF4-FFF2-40B4-BE49-F238E27FC236}">
                <a16:creationId xmlns:a16="http://schemas.microsoft.com/office/drawing/2014/main" id="{4A6B98F7-C12D-2F9C-BDE6-16FE6A163AAE}"/>
              </a:ext>
            </a:extLst>
          </p:cNvPr>
          <p:cNvSpPr txBox="1"/>
          <p:nvPr/>
        </p:nvSpPr>
        <p:spPr>
          <a:xfrm>
            <a:off x="5283200" y="2667000"/>
            <a:ext cx="2286000" cy="330200"/>
          </a:xfrm>
          <a:prstGeom prst="rect">
            <a:avLst/>
          </a:prstGeom>
          <a:noFill/>
        </p:spPr>
        <p:txBody>
          <a:bodyPr vert="horz" wrap="square" lIns="0" tIns="0" rIns="0" bIns="0" rtlCol="0" anchor="t">
            <a:noAutofit/>
          </a:bodyPr>
          <a:lstStyle/>
          <a:p>
            <a:r>
              <a:rPr lang="es-GT" b="1">
                <a:solidFill>
                  <a:srgbClr val="1B2A41"/>
                </a:solidFill>
                <a:latin typeface="Calibri" panose="020F0502020204030204" pitchFamily="34" charset="0"/>
              </a:rPr>
              <a:t>Expiración</a:t>
            </a:r>
          </a:p>
        </p:txBody>
      </p:sp>
      <p:sp>
        <p:nvSpPr>
          <p:cNvPr id="14" name="CuadroTexto 13">
            <a:extLst>
              <a:ext uri="{FF2B5EF4-FFF2-40B4-BE49-F238E27FC236}">
                <a16:creationId xmlns:a16="http://schemas.microsoft.com/office/drawing/2014/main" id="{956F6A64-6BCB-E159-B543-3616892BBC1F}"/>
              </a:ext>
            </a:extLst>
          </p:cNvPr>
          <p:cNvSpPr txBox="1"/>
          <p:nvPr/>
        </p:nvSpPr>
        <p:spPr>
          <a:xfrm>
            <a:off x="4572000" y="3225800"/>
            <a:ext cx="3048000" cy="12192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Expira sola a los 10 s: si un consumidor muere, el semáforo no queda tomado para siempre (evita deadlock).</a:t>
            </a:r>
          </a:p>
        </p:txBody>
      </p:sp>
      <p:sp>
        <p:nvSpPr>
          <p:cNvPr id="15" name="Rectángulo: esquinas redondeadas 14">
            <a:extLst>
              <a:ext uri="{FF2B5EF4-FFF2-40B4-BE49-F238E27FC236}">
                <a16:creationId xmlns:a16="http://schemas.microsoft.com/office/drawing/2014/main" id="{33509F77-C83A-DCCC-466A-32B6135BE7D2}"/>
              </a:ext>
            </a:extLst>
          </p:cNvPr>
          <p:cNvSpPr/>
          <p:nvPr/>
        </p:nvSpPr>
        <p:spPr>
          <a:xfrm>
            <a:off x="8128000" y="2336800"/>
            <a:ext cx="3454400" cy="21336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6" name="Elipse 15">
            <a:extLst>
              <a:ext uri="{FF2B5EF4-FFF2-40B4-BE49-F238E27FC236}">
                <a16:creationId xmlns:a16="http://schemas.microsoft.com/office/drawing/2014/main" id="{26F07479-EC4D-0922-1F64-A9510021314C}"/>
              </a:ext>
            </a:extLst>
          </p:cNvPr>
          <p:cNvSpPr/>
          <p:nvPr/>
        </p:nvSpPr>
        <p:spPr>
          <a:xfrm>
            <a:off x="8331200" y="2540000"/>
            <a:ext cx="558800" cy="558800"/>
          </a:xfrm>
          <a:prstGeom prst="ellipse">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400" b="1">
                <a:solidFill>
                  <a:srgbClr val="FFFFFF"/>
                </a:solidFill>
                <a:latin typeface="Calibri" panose="020F0502020204030204" pitchFamily="34" charset="0"/>
              </a:rPr>
              <a:t>ID</a:t>
            </a:r>
          </a:p>
        </p:txBody>
      </p:sp>
      <p:sp>
        <p:nvSpPr>
          <p:cNvPr id="17" name="CuadroTexto 16">
            <a:extLst>
              <a:ext uri="{FF2B5EF4-FFF2-40B4-BE49-F238E27FC236}">
                <a16:creationId xmlns:a16="http://schemas.microsoft.com/office/drawing/2014/main" id="{15D81D45-5836-5E00-6448-5F87443672A9}"/>
              </a:ext>
            </a:extLst>
          </p:cNvPr>
          <p:cNvSpPr txBox="1"/>
          <p:nvPr/>
        </p:nvSpPr>
        <p:spPr>
          <a:xfrm>
            <a:off x="9042400" y="2667000"/>
            <a:ext cx="2286000" cy="330200"/>
          </a:xfrm>
          <a:prstGeom prst="rect">
            <a:avLst/>
          </a:prstGeom>
          <a:noFill/>
        </p:spPr>
        <p:txBody>
          <a:bodyPr vert="horz" wrap="square" lIns="0" tIns="0" rIns="0" bIns="0" rtlCol="0" anchor="t">
            <a:noAutofit/>
          </a:bodyPr>
          <a:lstStyle/>
          <a:p>
            <a:r>
              <a:rPr lang="es-GT" b="1">
                <a:solidFill>
                  <a:srgbClr val="1B2A41"/>
                </a:solidFill>
                <a:latin typeface="Calibri" panose="020F0502020204030204" pitchFamily="34" charset="0"/>
              </a:rPr>
              <a:t>Dueño</a:t>
            </a:r>
          </a:p>
        </p:txBody>
      </p:sp>
      <p:sp>
        <p:nvSpPr>
          <p:cNvPr id="18" name="CuadroTexto 17">
            <a:extLst>
              <a:ext uri="{FF2B5EF4-FFF2-40B4-BE49-F238E27FC236}">
                <a16:creationId xmlns:a16="http://schemas.microsoft.com/office/drawing/2014/main" id="{B184BA44-062E-0FE7-9BB7-9521D5AD9580}"/>
              </a:ext>
            </a:extLst>
          </p:cNvPr>
          <p:cNvSpPr txBox="1"/>
          <p:nvPr/>
        </p:nvSpPr>
        <p:spPr>
          <a:xfrm>
            <a:off x="8331200" y="3225800"/>
            <a:ext cx="3048000" cy="12192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El token único identifica quién tiene el semáforo, para liberar solo el propio.</a:t>
            </a:r>
          </a:p>
        </p:txBody>
      </p:sp>
      <p:sp>
        <p:nvSpPr>
          <p:cNvPr id="19" name="Rectángulo: esquinas redondeadas 18">
            <a:extLst>
              <a:ext uri="{FF2B5EF4-FFF2-40B4-BE49-F238E27FC236}">
                <a16:creationId xmlns:a16="http://schemas.microsoft.com/office/drawing/2014/main" id="{95AA2407-4260-061D-1DA5-5FFECAB58C16}"/>
              </a:ext>
            </a:extLst>
          </p:cNvPr>
          <p:cNvSpPr/>
          <p:nvPr/>
        </p:nvSpPr>
        <p:spPr>
          <a:xfrm>
            <a:off x="609600" y="4699000"/>
            <a:ext cx="6350000" cy="1422400"/>
          </a:xfrm>
          <a:prstGeom prst="roundRect">
            <a:avLst>
              <a:gd name="adj" fmla="val 8000"/>
            </a:avLst>
          </a:prstGeom>
          <a:solidFill>
            <a:srgbClr val="1523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06680" rIns="177800" bIns="106680" rtlCol="0" anchor="ctr"/>
          <a:lstStyle/>
          <a:p>
            <a:r>
              <a:rPr lang="en-US" sz="1300">
                <a:solidFill>
                  <a:srgbClr val="D6E2F0"/>
                </a:solidFill>
                <a:latin typeface="Consolas" panose="020B0609020204030204" pitchFamily="49" charset="0"/>
              </a:rPr>
              <a:t>if redis.call("get", KEYS[1]) == ARGV[1] then</a:t>
            </a:r>
          </a:p>
          <a:p>
            <a:r>
              <a:rPr lang="en-US" sz="1300">
                <a:solidFill>
                  <a:srgbClr val="D6E2F0"/>
                </a:solidFill>
                <a:latin typeface="Consolas" panose="020B0609020204030204" pitchFamily="49" charset="0"/>
              </a:rPr>
              <a:t>    return redis.call("del", KEYS[1])</a:t>
            </a:r>
          </a:p>
          <a:p>
            <a:r>
              <a:rPr lang="en-US" sz="1300">
                <a:solidFill>
                  <a:srgbClr val="D6E2F0"/>
                </a:solidFill>
                <a:latin typeface="Consolas" panose="020B0609020204030204" pitchFamily="49" charset="0"/>
              </a:rPr>
              <a:t>else</a:t>
            </a:r>
          </a:p>
          <a:p>
            <a:r>
              <a:rPr lang="en-US" sz="1300">
                <a:solidFill>
                  <a:srgbClr val="D6E2F0"/>
                </a:solidFill>
                <a:latin typeface="Consolas" panose="020B0609020204030204" pitchFamily="49" charset="0"/>
              </a:rPr>
              <a:t>    return 0</a:t>
            </a:r>
          </a:p>
          <a:p>
            <a:r>
              <a:rPr lang="en-US" sz="1300">
                <a:solidFill>
                  <a:srgbClr val="D6E2F0"/>
                </a:solidFill>
                <a:latin typeface="Consolas" panose="020B0609020204030204" pitchFamily="49" charset="0"/>
              </a:rPr>
              <a:t>end</a:t>
            </a:r>
            <a:endParaRPr lang="es-GT" sz="1300">
              <a:solidFill>
                <a:srgbClr val="D6E2F0"/>
              </a:solidFill>
              <a:latin typeface="Consolas" panose="020B0609020204030204" pitchFamily="49" charset="0"/>
            </a:endParaRPr>
          </a:p>
        </p:txBody>
      </p:sp>
      <p:sp>
        <p:nvSpPr>
          <p:cNvPr id="20" name="CuadroTexto 19">
            <a:extLst>
              <a:ext uri="{FF2B5EF4-FFF2-40B4-BE49-F238E27FC236}">
                <a16:creationId xmlns:a16="http://schemas.microsoft.com/office/drawing/2014/main" id="{A43A5BB3-CC3F-B81F-A390-A413E95F888A}"/>
              </a:ext>
            </a:extLst>
          </p:cNvPr>
          <p:cNvSpPr txBox="1"/>
          <p:nvPr/>
        </p:nvSpPr>
        <p:spPr>
          <a:xfrm>
            <a:off x="7264400" y="4749800"/>
            <a:ext cx="4318000" cy="330200"/>
          </a:xfrm>
          <a:prstGeom prst="rect">
            <a:avLst/>
          </a:prstGeom>
          <a:noFill/>
        </p:spPr>
        <p:txBody>
          <a:bodyPr vert="horz" wrap="square" lIns="0" tIns="0" rIns="0" bIns="0" rtlCol="0" anchor="t">
            <a:noAutofit/>
          </a:bodyPr>
          <a:lstStyle/>
          <a:p>
            <a:r>
              <a:rPr lang="es-GT" sz="1700" b="1">
                <a:solidFill>
                  <a:srgbClr val="1B2A41"/>
                </a:solidFill>
                <a:latin typeface="Calibri" panose="020F0502020204030204" pitchFamily="34" charset="0"/>
              </a:rPr>
              <a:t>Liberación segura (signal / V)</a:t>
            </a:r>
          </a:p>
        </p:txBody>
      </p:sp>
      <p:sp>
        <p:nvSpPr>
          <p:cNvPr id="21" name="CuadroTexto 20">
            <a:extLst>
              <a:ext uri="{FF2B5EF4-FFF2-40B4-BE49-F238E27FC236}">
                <a16:creationId xmlns:a16="http://schemas.microsoft.com/office/drawing/2014/main" id="{17C5DD26-A609-9F5D-9B25-9AD19F611AD4}"/>
              </a:ext>
            </a:extLst>
          </p:cNvPr>
          <p:cNvSpPr txBox="1"/>
          <p:nvPr/>
        </p:nvSpPr>
        <p:spPr>
          <a:xfrm>
            <a:off x="7264400" y="5130800"/>
            <a:ext cx="4318000" cy="10160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Compara el token y borra en un solo paso atómico (script Lua). Un DEL directo podría borrar el semáforo de otro si el propio ya expiró.</a:t>
            </a:r>
          </a:p>
        </p:txBody>
      </p:sp>
      <p:sp>
        <p:nvSpPr>
          <p:cNvPr id="22" name="CuadroTexto 21">
            <a:extLst>
              <a:ext uri="{FF2B5EF4-FFF2-40B4-BE49-F238E27FC236}">
                <a16:creationId xmlns:a16="http://schemas.microsoft.com/office/drawing/2014/main" id="{3C1A396C-E788-0EBD-27D1-6BD7F5816A23}"/>
              </a:ext>
            </a:extLst>
          </p:cNvPr>
          <p:cNvSpPr txBox="1"/>
          <p:nvPr/>
        </p:nvSpPr>
        <p:spPr>
          <a:xfrm>
            <a:off x="609600" y="6451600"/>
            <a:ext cx="6604000" cy="228600"/>
          </a:xfrm>
          <a:prstGeom prst="rect">
            <a:avLst/>
          </a:prstGeom>
          <a:noFill/>
        </p:spPr>
        <p:txBody>
          <a:bodyPr vert="horz" wrap="square" lIns="0" tIns="0" rIns="0" bIns="0" rtlCol="0" anchor="t">
            <a:noAutofit/>
          </a:bodyPr>
          <a:lstStyle/>
          <a:p>
            <a:r>
              <a:rPr lang="es-GT" sz="1000">
                <a:solidFill>
                  <a:srgbClr val="5B6B82"/>
                </a:solidFill>
                <a:latin typeface="Calibri" panose="020F0502020204030204" pitchFamily="34" charset="0"/>
              </a:rPr>
              <a:t>Productor y consumidores con semáforo · Sistemas Operativos I</a:t>
            </a:r>
          </a:p>
        </p:txBody>
      </p:sp>
      <p:sp>
        <p:nvSpPr>
          <p:cNvPr id="23" name="CuadroTexto 22">
            <a:extLst>
              <a:ext uri="{FF2B5EF4-FFF2-40B4-BE49-F238E27FC236}">
                <a16:creationId xmlns:a16="http://schemas.microsoft.com/office/drawing/2014/main" id="{DDBB1E28-0B81-2927-9F5F-F6C7B24D0709}"/>
              </a:ext>
            </a:extLst>
          </p:cNvPr>
          <p:cNvSpPr txBox="1"/>
          <p:nvPr/>
        </p:nvSpPr>
        <p:spPr>
          <a:xfrm>
            <a:off x="10312400" y="6451600"/>
            <a:ext cx="1270000" cy="228600"/>
          </a:xfrm>
          <a:prstGeom prst="rect">
            <a:avLst/>
          </a:prstGeom>
          <a:noFill/>
        </p:spPr>
        <p:txBody>
          <a:bodyPr vert="horz" wrap="square" lIns="0" tIns="0" rIns="0" bIns="0" rtlCol="0" anchor="t">
            <a:noAutofit/>
          </a:bodyPr>
          <a:lstStyle/>
          <a:p>
            <a:pPr algn="r"/>
            <a:r>
              <a:rPr lang="es-GT" sz="1000">
                <a:solidFill>
                  <a:srgbClr val="5B6B82"/>
                </a:solidFill>
                <a:latin typeface="Calibri" panose="020F0502020204030204" pitchFamily="34" charset="0"/>
              </a:rPr>
              <a:t>9</a:t>
            </a:r>
          </a:p>
        </p:txBody>
      </p:sp>
    </p:spTree>
    <p:extLst>
      <p:ext uri="{BB962C8B-B14F-4D97-AF65-F5344CB8AC3E}">
        <p14:creationId xmlns:p14="http://schemas.microsoft.com/office/powerpoint/2010/main" val="2237150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FDD5F6D-4D85-A932-2897-C44768DD305D}"/>
              </a:ext>
            </a:extLst>
          </p:cNvPr>
          <p:cNvSpPr txBox="1"/>
          <p:nvPr/>
        </p:nvSpPr>
        <p:spPr>
          <a:xfrm>
            <a:off x="609600" y="406400"/>
            <a:ext cx="10033000" cy="635000"/>
          </a:xfrm>
          <a:prstGeom prst="rect">
            <a:avLst/>
          </a:prstGeom>
          <a:noFill/>
        </p:spPr>
        <p:txBody>
          <a:bodyPr vert="horz" wrap="square" lIns="0" tIns="0" rIns="0" bIns="0" rtlCol="0" anchor="ctr">
            <a:noAutofit/>
          </a:bodyPr>
          <a:lstStyle/>
          <a:p>
            <a:r>
              <a:rPr lang="es-GT" sz="3200" b="1">
                <a:solidFill>
                  <a:srgbClr val="1B2A41"/>
                </a:solidFill>
                <a:latin typeface="Calibri" panose="020F0502020204030204" pitchFamily="34" charset="0"/>
              </a:rPr>
              <a:t>Escenarios de prueba</a:t>
            </a:r>
          </a:p>
        </p:txBody>
      </p:sp>
      <p:sp>
        <p:nvSpPr>
          <p:cNvPr id="3" name="Elipse 2">
            <a:extLst>
              <a:ext uri="{FF2B5EF4-FFF2-40B4-BE49-F238E27FC236}">
                <a16:creationId xmlns:a16="http://schemas.microsoft.com/office/drawing/2014/main" id="{62C95FE4-A8D8-B1CB-EFFE-6BCB15605AE0}"/>
              </a:ext>
            </a:extLst>
          </p:cNvPr>
          <p:cNvSpPr/>
          <p:nvPr/>
        </p:nvSpPr>
        <p:spPr>
          <a:xfrm>
            <a:off x="11023600" y="635000"/>
            <a:ext cx="152400" cy="152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Elipse 3">
            <a:extLst>
              <a:ext uri="{FF2B5EF4-FFF2-40B4-BE49-F238E27FC236}">
                <a16:creationId xmlns:a16="http://schemas.microsoft.com/office/drawing/2014/main" id="{4A42E210-84E1-FD48-C800-9C25D3645BAA}"/>
              </a:ext>
            </a:extLst>
          </p:cNvPr>
          <p:cNvSpPr/>
          <p:nvPr/>
        </p:nvSpPr>
        <p:spPr>
          <a:xfrm>
            <a:off x="11252200" y="635000"/>
            <a:ext cx="152400" cy="1524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5" name="Elipse 4">
            <a:extLst>
              <a:ext uri="{FF2B5EF4-FFF2-40B4-BE49-F238E27FC236}">
                <a16:creationId xmlns:a16="http://schemas.microsoft.com/office/drawing/2014/main" id="{EEFF81E1-FD93-944F-765F-339C17F0B216}"/>
              </a:ext>
            </a:extLst>
          </p:cNvPr>
          <p:cNvSpPr/>
          <p:nvPr/>
        </p:nvSpPr>
        <p:spPr>
          <a:xfrm>
            <a:off x="11480800" y="635000"/>
            <a:ext cx="152400" cy="152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Rectángulo: esquinas redondeadas 5">
            <a:extLst>
              <a:ext uri="{FF2B5EF4-FFF2-40B4-BE49-F238E27FC236}">
                <a16:creationId xmlns:a16="http://schemas.microsoft.com/office/drawing/2014/main" id="{42B2B1DB-75CB-6CFF-3393-FDAF7D238740}"/>
              </a:ext>
            </a:extLst>
          </p:cNvPr>
          <p:cNvSpPr/>
          <p:nvPr/>
        </p:nvSpPr>
        <p:spPr>
          <a:xfrm>
            <a:off x="609600" y="1422400"/>
            <a:ext cx="5334000" cy="2413000"/>
          </a:xfrm>
          <a:prstGeom prst="roundRect">
            <a:avLst>
              <a:gd name="adj" fmla="val 8000"/>
            </a:avLst>
          </a:prstGeom>
          <a:solidFill>
            <a:srgbClr val="FBEA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7" name="Elipse 6">
            <a:extLst>
              <a:ext uri="{FF2B5EF4-FFF2-40B4-BE49-F238E27FC236}">
                <a16:creationId xmlns:a16="http://schemas.microsoft.com/office/drawing/2014/main" id="{73A7BE70-0C57-E4F2-0410-9F69E1DEBCC4}"/>
              </a:ext>
            </a:extLst>
          </p:cNvPr>
          <p:cNvSpPr/>
          <p:nvPr/>
        </p:nvSpPr>
        <p:spPr>
          <a:xfrm>
            <a:off x="863600" y="1676400"/>
            <a:ext cx="660400" cy="660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2400" b="1">
                <a:solidFill>
                  <a:srgbClr val="FFFFFF"/>
                </a:solidFill>
                <a:latin typeface="Calibri" panose="020F0502020204030204" pitchFamily="34" charset="0"/>
              </a:rPr>
              <a:t>A</a:t>
            </a:r>
          </a:p>
        </p:txBody>
      </p:sp>
      <p:sp>
        <p:nvSpPr>
          <p:cNvPr id="8" name="CuadroTexto 7">
            <a:extLst>
              <a:ext uri="{FF2B5EF4-FFF2-40B4-BE49-F238E27FC236}">
                <a16:creationId xmlns:a16="http://schemas.microsoft.com/office/drawing/2014/main" id="{FFDE7C30-3C15-E0D9-E5F9-CFCA8795B126}"/>
              </a:ext>
            </a:extLst>
          </p:cNvPr>
          <p:cNvSpPr txBox="1"/>
          <p:nvPr/>
        </p:nvSpPr>
        <p:spPr>
          <a:xfrm>
            <a:off x="1727200" y="1701800"/>
            <a:ext cx="3810000" cy="355600"/>
          </a:xfrm>
          <a:prstGeom prst="rect">
            <a:avLst/>
          </a:prstGeom>
          <a:noFill/>
        </p:spPr>
        <p:txBody>
          <a:bodyPr vert="horz" wrap="square" lIns="0" tIns="0" rIns="0" bIns="0" rtlCol="0" anchor="t">
            <a:noAutofit/>
          </a:bodyPr>
          <a:lstStyle/>
          <a:p>
            <a:r>
              <a:rPr lang="es-GT" sz="2200" b="1">
                <a:solidFill>
                  <a:srgbClr val="1B2A41"/>
                </a:solidFill>
                <a:latin typeface="Calibri" panose="020F0502020204030204" pitchFamily="34" charset="0"/>
              </a:rPr>
              <a:t>Sin semáforo</a:t>
            </a:r>
          </a:p>
        </p:txBody>
      </p:sp>
      <p:sp>
        <p:nvSpPr>
          <p:cNvPr id="9" name="CuadroTexto 8">
            <a:extLst>
              <a:ext uri="{FF2B5EF4-FFF2-40B4-BE49-F238E27FC236}">
                <a16:creationId xmlns:a16="http://schemas.microsoft.com/office/drawing/2014/main" id="{EF62016E-8FAC-73DF-3C92-27C466D03A69}"/>
              </a:ext>
            </a:extLst>
          </p:cNvPr>
          <p:cNvSpPr txBox="1"/>
          <p:nvPr/>
        </p:nvSpPr>
        <p:spPr>
          <a:xfrm>
            <a:off x="1727200" y="2082800"/>
            <a:ext cx="3810000" cy="279400"/>
          </a:xfrm>
          <a:prstGeom prst="rect">
            <a:avLst/>
          </a:prstGeom>
          <a:noFill/>
        </p:spPr>
        <p:txBody>
          <a:bodyPr vert="horz" wrap="square" lIns="0" tIns="0" rIns="0" bIns="0" rtlCol="0" anchor="t">
            <a:noAutofit/>
          </a:bodyPr>
          <a:lstStyle/>
          <a:p>
            <a:r>
              <a:rPr lang="es-GT" sz="1300">
                <a:solidFill>
                  <a:srgbClr val="5B6B82"/>
                </a:solidFill>
                <a:latin typeface="Consolas" panose="020B0609020204030204" pitchFamily="49" charset="0"/>
              </a:rPr>
              <a:t>USAR_SEMAFORO=false</a:t>
            </a:r>
          </a:p>
        </p:txBody>
      </p:sp>
      <p:sp>
        <p:nvSpPr>
          <p:cNvPr id="10" name="CuadroTexto 9">
            <a:extLst>
              <a:ext uri="{FF2B5EF4-FFF2-40B4-BE49-F238E27FC236}">
                <a16:creationId xmlns:a16="http://schemas.microsoft.com/office/drawing/2014/main" id="{2EC1C31B-5C9D-D3B6-D7A3-A74B6E6AA91F}"/>
              </a:ext>
            </a:extLst>
          </p:cNvPr>
          <p:cNvSpPr txBox="1"/>
          <p:nvPr/>
        </p:nvSpPr>
        <p:spPr>
          <a:xfrm>
            <a:off x="863600" y="2590800"/>
            <a:ext cx="4826000" cy="1524000"/>
          </a:xfrm>
          <a:prstGeom prst="rect">
            <a:avLst/>
          </a:prstGeom>
          <a:noFill/>
        </p:spPr>
        <p:txBody>
          <a:bodyPr vert="horz" wrap="square" lIns="0" tIns="0" rIns="0" bIns="0" rtlCol="0" anchor="t">
            <a:noAutofit/>
          </a:bodyPr>
          <a:lstStyle/>
          <a:p>
            <a:pPr>
              <a:spcAft>
                <a:spcPts val="800"/>
              </a:spcAft>
            </a:pPr>
            <a:r>
              <a:rPr lang="es-GT" sz="1500">
                <a:solidFill>
                  <a:srgbClr val="1B2A41"/>
                </a:solidFill>
                <a:latin typeface="Calibri" panose="020F0502020204030204" pitchFamily="34" charset="0"/>
              </a:rPr>
              <a:t>Cada consumidor toma la PENDIENTE más antigua sin coordinarse.</a:t>
            </a:r>
          </a:p>
          <a:p>
            <a:pPr>
              <a:spcAft>
                <a:spcPts val="800"/>
              </a:spcAft>
            </a:pPr>
            <a:r>
              <a:rPr lang="es-GT" sz="1500" b="1">
                <a:solidFill>
                  <a:srgbClr val="1B2A41"/>
                </a:solidFill>
                <a:latin typeface="Calibri" panose="020F0502020204030204" pitchFamily="34" charset="0"/>
              </a:rPr>
              <a:t>Se espera:</a:t>
            </a:r>
            <a:r>
              <a:rPr lang="es-GT" sz="1500">
                <a:solidFill>
                  <a:srgbClr val="1B2A41"/>
                </a:solidFill>
                <a:latin typeface="Calibri" panose="020F0502020204030204" pitchFamily="34" charset="0"/>
              </a:rPr>
              <a:t> la misma transacción procesada por los dos.</a:t>
            </a:r>
          </a:p>
        </p:txBody>
      </p:sp>
      <p:sp>
        <p:nvSpPr>
          <p:cNvPr id="11" name="Rectángulo: esquinas redondeadas 10">
            <a:extLst>
              <a:ext uri="{FF2B5EF4-FFF2-40B4-BE49-F238E27FC236}">
                <a16:creationId xmlns:a16="http://schemas.microsoft.com/office/drawing/2014/main" id="{88F94925-F2E8-6128-7115-F1BB9411913C}"/>
              </a:ext>
            </a:extLst>
          </p:cNvPr>
          <p:cNvSpPr/>
          <p:nvPr/>
        </p:nvSpPr>
        <p:spPr>
          <a:xfrm>
            <a:off x="6248400" y="1422400"/>
            <a:ext cx="5334000" cy="2413000"/>
          </a:xfrm>
          <a:prstGeom prst="roundRect">
            <a:avLst>
              <a:gd name="adj" fmla="val 8000"/>
            </a:avLst>
          </a:prstGeom>
          <a:solidFill>
            <a:srgbClr val="E6F5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2" name="Elipse 11">
            <a:extLst>
              <a:ext uri="{FF2B5EF4-FFF2-40B4-BE49-F238E27FC236}">
                <a16:creationId xmlns:a16="http://schemas.microsoft.com/office/drawing/2014/main" id="{E276B40D-3E7A-FF26-327E-EC6DBEEB626C}"/>
              </a:ext>
            </a:extLst>
          </p:cNvPr>
          <p:cNvSpPr/>
          <p:nvPr/>
        </p:nvSpPr>
        <p:spPr>
          <a:xfrm>
            <a:off x="6502400" y="1676400"/>
            <a:ext cx="660400" cy="660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2400" b="1">
                <a:solidFill>
                  <a:srgbClr val="FFFFFF"/>
                </a:solidFill>
                <a:latin typeface="Calibri" panose="020F0502020204030204" pitchFamily="34" charset="0"/>
              </a:rPr>
              <a:t>B</a:t>
            </a:r>
          </a:p>
        </p:txBody>
      </p:sp>
      <p:sp>
        <p:nvSpPr>
          <p:cNvPr id="13" name="CuadroTexto 12">
            <a:extLst>
              <a:ext uri="{FF2B5EF4-FFF2-40B4-BE49-F238E27FC236}">
                <a16:creationId xmlns:a16="http://schemas.microsoft.com/office/drawing/2014/main" id="{7B788A81-1DCD-D136-E82C-C7ABE4392A53}"/>
              </a:ext>
            </a:extLst>
          </p:cNvPr>
          <p:cNvSpPr txBox="1"/>
          <p:nvPr/>
        </p:nvSpPr>
        <p:spPr>
          <a:xfrm>
            <a:off x="7366000" y="1701800"/>
            <a:ext cx="3810000" cy="355600"/>
          </a:xfrm>
          <a:prstGeom prst="rect">
            <a:avLst/>
          </a:prstGeom>
          <a:noFill/>
        </p:spPr>
        <p:txBody>
          <a:bodyPr vert="horz" wrap="square" lIns="0" tIns="0" rIns="0" bIns="0" rtlCol="0" anchor="t">
            <a:noAutofit/>
          </a:bodyPr>
          <a:lstStyle/>
          <a:p>
            <a:r>
              <a:rPr lang="es-GT" sz="2200" b="1">
                <a:solidFill>
                  <a:srgbClr val="1B2A41"/>
                </a:solidFill>
                <a:latin typeface="Calibri" panose="020F0502020204030204" pitchFamily="34" charset="0"/>
              </a:rPr>
              <a:t>Con semáforo</a:t>
            </a:r>
          </a:p>
        </p:txBody>
      </p:sp>
      <p:sp>
        <p:nvSpPr>
          <p:cNvPr id="14" name="CuadroTexto 13">
            <a:extLst>
              <a:ext uri="{FF2B5EF4-FFF2-40B4-BE49-F238E27FC236}">
                <a16:creationId xmlns:a16="http://schemas.microsoft.com/office/drawing/2014/main" id="{151CBF01-6DF7-200F-95E6-86CFBE2EE862}"/>
              </a:ext>
            </a:extLst>
          </p:cNvPr>
          <p:cNvSpPr txBox="1"/>
          <p:nvPr/>
        </p:nvSpPr>
        <p:spPr>
          <a:xfrm>
            <a:off x="7366000" y="2082800"/>
            <a:ext cx="3810000" cy="279400"/>
          </a:xfrm>
          <a:prstGeom prst="rect">
            <a:avLst/>
          </a:prstGeom>
          <a:noFill/>
        </p:spPr>
        <p:txBody>
          <a:bodyPr vert="horz" wrap="square" lIns="0" tIns="0" rIns="0" bIns="0" rtlCol="0" anchor="t">
            <a:noAutofit/>
          </a:bodyPr>
          <a:lstStyle/>
          <a:p>
            <a:r>
              <a:rPr lang="es-GT" sz="1300">
                <a:solidFill>
                  <a:srgbClr val="5B6B82"/>
                </a:solidFill>
                <a:latin typeface="Consolas" panose="020B0609020204030204" pitchFamily="49" charset="0"/>
              </a:rPr>
              <a:t>USAR_SEMAFORO=true</a:t>
            </a:r>
          </a:p>
        </p:txBody>
      </p:sp>
      <p:sp>
        <p:nvSpPr>
          <p:cNvPr id="15" name="CuadroTexto 14">
            <a:extLst>
              <a:ext uri="{FF2B5EF4-FFF2-40B4-BE49-F238E27FC236}">
                <a16:creationId xmlns:a16="http://schemas.microsoft.com/office/drawing/2014/main" id="{D6B92168-D3A8-2F32-935D-45DAD461F172}"/>
              </a:ext>
            </a:extLst>
          </p:cNvPr>
          <p:cNvSpPr txBox="1"/>
          <p:nvPr/>
        </p:nvSpPr>
        <p:spPr>
          <a:xfrm>
            <a:off x="6502400" y="2590800"/>
            <a:ext cx="4826000" cy="1524000"/>
          </a:xfrm>
          <a:prstGeom prst="rect">
            <a:avLst/>
          </a:prstGeom>
          <a:noFill/>
        </p:spPr>
        <p:txBody>
          <a:bodyPr vert="horz" wrap="square" lIns="0" tIns="0" rIns="0" bIns="0" rtlCol="0" anchor="t">
            <a:noAutofit/>
          </a:bodyPr>
          <a:lstStyle/>
          <a:p>
            <a:pPr>
              <a:spcAft>
                <a:spcPts val="800"/>
              </a:spcAft>
            </a:pPr>
            <a:r>
              <a:rPr lang="es-GT" sz="1500">
                <a:solidFill>
                  <a:srgbClr val="1B2A41"/>
                </a:solidFill>
                <a:latin typeface="Calibri" panose="020F0502020204030204" pitchFamily="34" charset="0"/>
              </a:rPr>
              <a:t>Solo entra a la sección crítica quien obtiene el semáforo.</a:t>
            </a:r>
          </a:p>
          <a:p>
            <a:pPr>
              <a:spcAft>
                <a:spcPts val="800"/>
              </a:spcAft>
            </a:pPr>
            <a:r>
              <a:rPr lang="es-GT" sz="1500" b="1">
                <a:solidFill>
                  <a:srgbClr val="1B2A41"/>
                </a:solidFill>
                <a:latin typeface="Calibri" panose="020F0502020204030204" pitchFamily="34" charset="0"/>
              </a:rPr>
              <a:t>Se espera:</a:t>
            </a:r>
            <a:r>
              <a:rPr lang="es-GT" sz="1500">
                <a:solidFill>
                  <a:srgbClr val="1B2A41"/>
                </a:solidFill>
                <a:latin typeface="Calibri" panose="020F0502020204030204" pitchFamily="34" charset="0"/>
              </a:rPr>
              <a:t> cada transacción procesada una sola vez.</a:t>
            </a:r>
          </a:p>
        </p:txBody>
      </p:sp>
      <p:sp>
        <p:nvSpPr>
          <p:cNvPr id="16" name="Rectángulo: esquinas redondeadas 15">
            <a:extLst>
              <a:ext uri="{FF2B5EF4-FFF2-40B4-BE49-F238E27FC236}">
                <a16:creationId xmlns:a16="http://schemas.microsoft.com/office/drawing/2014/main" id="{26CE6344-EBAE-2C20-32E6-62A0B8033559}"/>
              </a:ext>
            </a:extLst>
          </p:cNvPr>
          <p:cNvSpPr/>
          <p:nvPr/>
        </p:nvSpPr>
        <p:spPr>
          <a:xfrm>
            <a:off x="609600" y="4140200"/>
            <a:ext cx="6350000" cy="1422400"/>
          </a:xfrm>
          <a:prstGeom prst="roundRect">
            <a:avLst>
              <a:gd name="adj" fmla="val 8000"/>
            </a:avLst>
          </a:prstGeom>
          <a:solidFill>
            <a:srgbClr val="1523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06680" rIns="177800" bIns="106680" rtlCol="0" anchor="ctr"/>
          <a:lstStyle/>
          <a:p>
            <a:r>
              <a:rPr lang="es-GT" sz="1500">
                <a:solidFill>
                  <a:srgbClr val="D6E2F0"/>
                </a:solidFill>
                <a:latin typeface="Consolas" panose="020B0609020204030204" pitchFamily="49" charset="0"/>
              </a:rPr>
              <a:t>.\escenario.ps1 -Escenario A</a:t>
            </a:r>
          </a:p>
          <a:p>
            <a:r>
              <a:rPr lang="es-GT" sz="1500">
                <a:solidFill>
                  <a:srgbClr val="D6E2F0"/>
                </a:solidFill>
                <a:latin typeface="Consolas" panose="020B0609020204030204" pitchFamily="49" charset="0"/>
              </a:rPr>
              <a:t>.\escenario.ps1 -Escenario B</a:t>
            </a:r>
          </a:p>
        </p:txBody>
      </p:sp>
      <p:sp>
        <p:nvSpPr>
          <p:cNvPr id="17" name="CuadroTexto 16">
            <a:extLst>
              <a:ext uri="{FF2B5EF4-FFF2-40B4-BE49-F238E27FC236}">
                <a16:creationId xmlns:a16="http://schemas.microsoft.com/office/drawing/2014/main" id="{DFD01287-57A2-E7C6-342C-AC40A7B9AFA5}"/>
              </a:ext>
            </a:extLst>
          </p:cNvPr>
          <p:cNvSpPr txBox="1"/>
          <p:nvPr/>
        </p:nvSpPr>
        <p:spPr>
          <a:xfrm>
            <a:off x="7264400" y="4191000"/>
            <a:ext cx="4318000" cy="1422400"/>
          </a:xfrm>
          <a:prstGeom prst="rect">
            <a:avLst/>
          </a:prstGeom>
          <a:noFill/>
        </p:spPr>
        <p:txBody>
          <a:bodyPr vert="horz" wrap="square" lIns="0" tIns="0" rIns="0" bIns="0" rtlCol="0" anchor="t">
            <a:noAutofit/>
          </a:bodyPr>
          <a:lstStyle/>
          <a:p>
            <a:pPr marL="203200" indent="-203200">
              <a:spcAft>
                <a:spcPts val="800"/>
              </a:spcAft>
              <a:buFont typeface="+mj-lt"/>
              <a:buChar char="•"/>
            </a:pPr>
            <a:r>
              <a:rPr lang="es-GT" sz="1400">
                <a:solidFill>
                  <a:srgbClr val="1B2A41"/>
                </a:solidFill>
                <a:latin typeface="Calibri" panose="020F0502020204030204" pitchFamily="34" charset="0"/>
              </a:rPr>
              <a:t>Reinicia los datos (down -v)</a:t>
            </a:r>
          </a:p>
          <a:p>
            <a:pPr marL="203200" indent="-203200">
              <a:spcAft>
                <a:spcPts val="800"/>
              </a:spcAft>
              <a:buFont typeface="+mj-lt"/>
              <a:buChar char="•"/>
            </a:pPr>
            <a:r>
              <a:rPr lang="es-GT" sz="1400">
                <a:solidFill>
                  <a:srgbClr val="1B2A41"/>
                </a:solidFill>
                <a:latin typeface="Calibri" panose="020F0502020204030204" pitchFamily="34" charset="0"/>
              </a:rPr>
              <a:t>Espera al menos 20 transacciones procesadas</a:t>
            </a:r>
          </a:p>
          <a:p>
            <a:pPr marL="203200" indent="-203200">
              <a:spcAft>
                <a:spcPts val="800"/>
              </a:spcAft>
              <a:buFont typeface="+mj-lt"/>
              <a:buChar char="•"/>
            </a:pPr>
            <a:r>
              <a:rPr lang="es-GT" sz="1400">
                <a:solidFill>
                  <a:srgbClr val="1B2A41"/>
                </a:solidFill>
                <a:latin typeface="Calibri" panose="020F0502020204030204" pitchFamily="34" charset="0"/>
              </a:rPr>
              <a:t>Guarda trazas, tablas de eventos y tiempos, SQL y Redis</a:t>
            </a:r>
          </a:p>
        </p:txBody>
      </p:sp>
      <p:sp>
        <p:nvSpPr>
          <p:cNvPr id="18" name="CuadroTexto 17">
            <a:extLst>
              <a:ext uri="{FF2B5EF4-FFF2-40B4-BE49-F238E27FC236}">
                <a16:creationId xmlns:a16="http://schemas.microsoft.com/office/drawing/2014/main" id="{33ECB098-80F6-1BAC-7008-B097CC908B0C}"/>
              </a:ext>
            </a:extLst>
          </p:cNvPr>
          <p:cNvSpPr txBox="1"/>
          <p:nvPr/>
        </p:nvSpPr>
        <p:spPr>
          <a:xfrm>
            <a:off x="609600" y="6451600"/>
            <a:ext cx="6604000" cy="228600"/>
          </a:xfrm>
          <a:prstGeom prst="rect">
            <a:avLst/>
          </a:prstGeom>
          <a:noFill/>
        </p:spPr>
        <p:txBody>
          <a:bodyPr vert="horz" wrap="square" lIns="0" tIns="0" rIns="0" bIns="0" rtlCol="0" anchor="t">
            <a:noAutofit/>
          </a:bodyPr>
          <a:lstStyle/>
          <a:p>
            <a:r>
              <a:rPr lang="es-GT" sz="1000">
                <a:solidFill>
                  <a:srgbClr val="5B6B82"/>
                </a:solidFill>
                <a:latin typeface="Calibri" panose="020F0502020204030204" pitchFamily="34" charset="0"/>
              </a:rPr>
              <a:t>Productor y consumidores con semáforo · Sistemas Operativos I</a:t>
            </a:r>
          </a:p>
        </p:txBody>
      </p:sp>
      <p:sp>
        <p:nvSpPr>
          <p:cNvPr id="19" name="CuadroTexto 18">
            <a:extLst>
              <a:ext uri="{FF2B5EF4-FFF2-40B4-BE49-F238E27FC236}">
                <a16:creationId xmlns:a16="http://schemas.microsoft.com/office/drawing/2014/main" id="{18011FF0-6FC0-F57D-0780-E9A0C77F1C94}"/>
              </a:ext>
            </a:extLst>
          </p:cNvPr>
          <p:cNvSpPr txBox="1"/>
          <p:nvPr/>
        </p:nvSpPr>
        <p:spPr>
          <a:xfrm>
            <a:off x="10312400" y="6451600"/>
            <a:ext cx="1270000" cy="228600"/>
          </a:xfrm>
          <a:prstGeom prst="rect">
            <a:avLst/>
          </a:prstGeom>
          <a:noFill/>
        </p:spPr>
        <p:txBody>
          <a:bodyPr vert="horz" wrap="square" lIns="0" tIns="0" rIns="0" bIns="0" rtlCol="0" anchor="t">
            <a:noAutofit/>
          </a:bodyPr>
          <a:lstStyle/>
          <a:p>
            <a:pPr algn="r"/>
            <a:r>
              <a:rPr lang="es-GT" sz="1000">
                <a:solidFill>
                  <a:srgbClr val="5B6B82"/>
                </a:solidFill>
                <a:latin typeface="Calibri" panose="020F0502020204030204" pitchFamily="34" charset="0"/>
              </a:rPr>
              <a:t>10</a:t>
            </a:r>
          </a:p>
        </p:txBody>
      </p:sp>
    </p:spTree>
    <p:extLst>
      <p:ext uri="{BB962C8B-B14F-4D97-AF65-F5344CB8AC3E}">
        <p14:creationId xmlns:p14="http://schemas.microsoft.com/office/powerpoint/2010/main" val="2311948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B3B7D30-0E4A-04EB-54A5-9EB660047DC1}"/>
              </a:ext>
            </a:extLst>
          </p:cNvPr>
          <p:cNvSpPr txBox="1"/>
          <p:nvPr/>
        </p:nvSpPr>
        <p:spPr>
          <a:xfrm>
            <a:off x="609600" y="406400"/>
            <a:ext cx="10033000" cy="635000"/>
          </a:xfrm>
          <a:prstGeom prst="rect">
            <a:avLst/>
          </a:prstGeom>
          <a:noFill/>
        </p:spPr>
        <p:txBody>
          <a:bodyPr vert="horz" wrap="square" lIns="0" tIns="0" rIns="0" bIns="0" rtlCol="0" anchor="ctr">
            <a:noAutofit/>
          </a:bodyPr>
          <a:lstStyle/>
          <a:p>
            <a:r>
              <a:rPr lang="es-GT" sz="3200" b="1">
                <a:solidFill>
                  <a:srgbClr val="1B2A41"/>
                </a:solidFill>
                <a:latin typeface="Calibri" panose="020F0502020204030204" pitchFamily="34" charset="0"/>
              </a:rPr>
              <a:t>Resultados: 20 duplicados frente a 0</a:t>
            </a:r>
          </a:p>
        </p:txBody>
      </p:sp>
      <p:sp>
        <p:nvSpPr>
          <p:cNvPr id="3" name="Elipse 2">
            <a:extLst>
              <a:ext uri="{FF2B5EF4-FFF2-40B4-BE49-F238E27FC236}">
                <a16:creationId xmlns:a16="http://schemas.microsoft.com/office/drawing/2014/main" id="{4A5DDC31-7E48-C1A5-E460-8E5D326A5E4E}"/>
              </a:ext>
            </a:extLst>
          </p:cNvPr>
          <p:cNvSpPr/>
          <p:nvPr/>
        </p:nvSpPr>
        <p:spPr>
          <a:xfrm>
            <a:off x="11023600" y="635000"/>
            <a:ext cx="152400" cy="152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Elipse 3">
            <a:extLst>
              <a:ext uri="{FF2B5EF4-FFF2-40B4-BE49-F238E27FC236}">
                <a16:creationId xmlns:a16="http://schemas.microsoft.com/office/drawing/2014/main" id="{5ED25D86-E81C-5FD6-A710-F43ADE925E8E}"/>
              </a:ext>
            </a:extLst>
          </p:cNvPr>
          <p:cNvSpPr/>
          <p:nvPr/>
        </p:nvSpPr>
        <p:spPr>
          <a:xfrm>
            <a:off x="11252200" y="635000"/>
            <a:ext cx="152400" cy="1524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5" name="Elipse 4">
            <a:extLst>
              <a:ext uri="{FF2B5EF4-FFF2-40B4-BE49-F238E27FC236}">
                <a16:creationId xmlns:a16="http://schemas.microsoft.com/office/drawing/2014/main" id="{0E380801-1820-7BE3-4ACE-902153BA84EA}"/>
              </a:ext>
            </a:extLst>
          </p:cNvPr>
          <p:cNvSpPr/>
          <p:nvPr/>
        </p:nvSpPr>
        <p:spPr>
          <a:xfrm>
            <a:off x="11480800" y="635000"/>
            <a:ext cx="152400" cy="152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Rectángulo: esquinas redondeadas 5">
            <a:extLst>
              <a:ext uri="{FF2B5EF4-FFF2-40B4-BE49-F238E27FC236}">
                <a16:creationId xmlns:a16="http://schemas.microsoft.com/office/drawing/2014/main" id="{A74844AC-9711-AA28-F9E1-6DA986AF3106}"/>
              </a:ext>
            </a:extLst>
          </p:cNvPr>
          <p:cNvSpPr/>
          <p:nvPr/>
        </p:nvSpPr>
        <p:spPr>
          <a:xfrm>
            <a:off x="609600" y="1422400"/>
            <a:ext cx="5334000" cy="3886200"/>
          </a:xfrm>
          <a:prstGeom prst="roundRect">
            <a:avLst>
              <a:gd name="adj" fmla="val 8000"/>
            </a:avLst>
          </a:prstGeom>
          <a:solidFill>
            <a:srgbClr val="FBEA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7" name="CuadroTexto 6">
            <a:extLst>
              <a:ext uri="{FF2B5EF4-FFF2-40B4-BE49-F238E27FC236}">
                <a16:creationId xmlns:a16="http://schemas.microsoft.com/office/drawing/2014/main" id="{8041F85F-FF69-5889-A306-8E37E6170E32}"/>
              </a:ext>
            </a:extLst>
          </p:cNvPr>
          <p:cNvSpPr txBox="1"/>
          <p:nvPr/>
        </p:nvSpPr>
        <p:spPr>
          <a:xfrm>
            <a:off x="914400" y="1625600"/>
            <a:ext cx="4724400" cy="330200"/>
          </a:xfrm>
          <a:prstGeom prst="rect">
            <a:avLst/>
          </a:prstGeom>
          <a:noFill/>
        </p:spPr>
        <p:txBody>
          <a:bodyPr vert="horz" wrap="square" lIns="0" tIns="0" rIns="0" bIns="0" rtlCol="0" anchor="t">
            <a:noAutofit/>
          </a:bodyPr>
          <a:lstStyle/>
          <a:p>
            <a:r>
              <a:rPr lang="es-GT" b="1">
                <a:solidFill>
                  <a:srgbClr val="D64545"/>
                </a:solidFill>
                <a:latin typeface="Calibri" panose="020F0502020204030204" pitchFamily="34" charset="0"/>
              </a:rPr>
              <a:t>Escenario A · sin semáforo</a:t>
            </a:r>
          </a:p>
        </p:txBody>
      </p:sp>
      <p:sp>
        <p:nvSpPr>
          <p:cNvPr id="8" name="CuadroTexto 7">
            <a:extLst>
              <a:ext uri="{FF2B5EF4-FFF2-40B4-BE49-F238E27FC236}">
                <a16:creationId xmlns:a16="http://schemas.microsoft.com/office/drawing/2014/main" id="{45318480-2174-48D8-AA22-8E0B1F2C8FE3}"/>
              </a:ext>
            </a:extLst>
          </p:cNvPr>
          <p:cNvSpPr txBox="1"/>
          <p:nvPr/>
        </p:nvSpPr>
        <p:spPr>
          <a:xfrm>
            <a:off x="914400" y="2032000"/>
            <a:ext cx="4724400" cy="1524000"/>
          </a:xfrm>
          <a:prstGeom prst="rect">
            <a:avLst/>
          </a:prstGeom>
          <a:noFill/>
        </p:spPr>
        <p:txBody>
          <a:bodyPr vert="horz" wrap="square" lIns="0" tIns="0" rIns="0" bIns="0" rtlCol="0" anchor="t">
            <a:noAutofit/>
          </a:bodyPr>
          <a:lstStyle/>
          <a:p>
            <a:r>
              <a:rPr lang="es-GT" sz="9600" b="1">
                <a:solidFill>
                  <a:srgbClr val="D64545"/>
                </a:solidFill>
                <a:latin typeface="Calibri" panose="020F0502020204030204" pitchFamily="34" charset="0"/>
              </a:rPr>
              <a:t>20</a:t>
            </a:r>
          </a:p>
        </p:txBody>
      </p:sp>
      <p:sp>
        <p:nvSpPr>
          <p:cNvPr id="9" name="CuadroTexto 8">
            <a:extLst>
              <a:ext uri="{FF2B5EF4-FFF2-40B4-BE49-F238E27FC236}">
                <a16:creationId xmlns:a16="http://schemas.microsoft.com/office/drawing/2014/main" id="{1860E707-FEE0-0BD3-9260-03A6FCF212AC}"/>
              </a:ext>
            </a:extLst>
          </p:cNvPr>
          <p:cNvSpPr txBox="1"/>
          <p:nvPr/>
        </p:nvSpPr>
        <p:spPr>
          <a:xfrm>
            <a:off x="914400" y="3581400"/>
            <a:ext cx="4724400" cy="355600"/>
          </a:xfrm>
          <a:prstGeom prst="rect">
            <a:avLst/>
          </a:prstGeom>
          <a:noFill/>
        </p:spPr>
        <p:txBody>
          <a:bodyPr vert="horz" wrap="square" lIns="0" tIns="0" rIns="0" bIns="0" rtlCol="0" anchor="t">
            <a:noAutofit/>
          </a:bodyPr>
          <a:lstStyle/>
          <a:p>
            <a:r>
              <a:rPr lang="es-GT" sz="2000" b="1">
                <a:solidFill>
                  <a:srgbClr val="1B2A41"/>
                </a:solidFill>
                <a:latin typeface="Calibri" panose="020F0502020204030204" pitchFamily="34" charset="0"/>
              </a:rPr>
              <a:t>procesamientos duplicados</a:t>
            </a:r>
          </a:p>
        </p:txBody>
      </p:sp>
      <p:sp>
        <p:nvSpPr>
          <p:cNvPr id="10" name="CuadroTexto 9">
            <a:extLst>
              <a:ext uri="{FF2B5EF4-FFF2-40B4-BE49-F238E27FC236}">
                <a16:creationId xmlns:a16="http://schemas.microsoft.com/office/drawing/2014/main" id="{9B6D83B6-83AF-936F-1C12-6E59670DD2DD}"/>
              </a:ext>
            </a:extLst>
          </p:cNvPr>
          <p:cNvSpPr txBox="1"/>
          <p:nvPr/>
        </p:nvSpPr>
        <p:spPr>
          <a:xfrm>
            <a:off x="914400" y="4140200"/>
            <a:ext cx="4724400" cy="304800"/>
          </a:xfrm>
          <a:prstGeom prst="rect">
            <a:avLst/>
          </a:prstGeom>
          <a:noFill/>
        </p:spPr>
        <p:txBody>
          <a:bodyPr vert="horz" wrap="square" lIns="0" tIns="0" rIns="0" bIns="0" rtlCol="0" anchor="t">
            <a:noAutofit/>
          </a:bodyPr>
          <a:lstStyle/>
          <a:p>
            <a:r>
              <a:rPr lang="es-GT" sz="1500">
                <a:solidFill>
                  <a:srgbClr val="1B2A41"/>
                </a:solidFill>
                <a:latin typeface="Calibri" panose="020F0502020204030204" pitchFamily="34" charset="0"/>
              </a:rPr>
              <a:t>42 procesamientos para 22 transacciones</a:t>
            </a:r>
          </a:p>
        </p:txBody>
      </p:sp>
      <p:sp>
        <p:nvSpPr>
          <p:cNvPr id="11" name="CuadroTexto 10">
            <a:extLst>
              <a:ext uri="{FF2B5EF4-FFF2-40B4-BE49-F238E27FC236}">
                <a16:creationId xmlns:a16="http://schemas.microsoft.com/office/drawing/2014/main" id="{D97B94E6-51D1-83D0-B362-8085A565F4EE}"/>
              </a:ext>
            </a:extLst>
          </p:cNvPr>
          <p:cNvSpPr txBox="1"/>
          <p:nvPr/>
        </p:nvSpPr>
        <p:spPr>
          <a:xfrm>
            <a:off x="914400" y="4521200"/>
            <a:ext cx="4724400" cy="304800"/>
          </a:xfrm>
          <a:prstGeom prst="rect">
            <a:avLst/>
          </a:prstGeom>
          <a:noFill/>
        </p:spPr>
        <p:txBody>
          <a:bodyPr vert="horz" wrap="square" lIns="0" tIns="0" rIns="0" bIns="0" rtlCol="0" anchor="t">
            <a:noAutofit/>
          </a:bodyPr>
          <a:lstStyle/>
          <a:p>
            <a:r>
              <a:rPr lang="es-GT" sz="1500">
                <a:solidFill>
                  <a:srgbClr val="1B2A41"/>
                </a:solidFill>
                <a:latin typeface="Calibri" panose="020F0502020204030204" pitchFamily="34" charset="0"/>
              </a:rPr>
              <a:t>Espera promedio: 14.5 s</a:t>
            </a:r>
          </a:p>
        </p:txBody>
      </p:sp>
      <p:sp>
        <p:nvSpPr>
          <p:cNvPr id="12" name="Rectángulo: esquinas redondeadas 11">
            <a:extLst>
              <a:ext uri="{FF2B5EF4-FFF2-40B4-BE49-F238E27FC236}">
                <a16:creationId xmlns:a16="http://schemas.microsoft.com/office/drawing/2014/main" id="{88D8E755-42D4-01F2-36C0-A9C70C429B85}"/>
              </a:ext>
            </a:extLst>
          </p:cNvPr>
          <p:cNvSpPr/>
          <p:nvPr/>
        </p:nvSpPr>
        <p:spPr>
          <a:xfrm>
            <a:off x="6248400" y="1422400"/>
            <a:ext cx="5334000" cy="3886200"/>
          </a:xfrm>
          <a:prstGeom prst="roundRect">
            <a:avLst>
              <a:gd name="adj" fmla="val 8000"/>
            </a:avLst>
          </a:prstGeom>
          <a:solidFill>
            <a:srgbClr val="E6F5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3" name="CuadroTexto 12">
            <a:extLst>
              <a:ext uri="{FF2B5EF4-FFF2-40B4-BE49-F238E27FC236}">
                <a16:creationId xmlns:a16="http://schemas.microsoft.com/office/drawing/2014/main" id="{2FB72280-5943-047E-E425-A6E7981B062F}"/>
              </a:ext>
            </a:extLst>
          </p:cNvPr>
          <p:cNvSpPr txBox="1"/>
          <p:nvPr/>
        </p:nvSpPr>
        <p:spPr>
          <a:xfrm>
            <a:off x="6553200" y="1625600"/>
            <a:ext cx="4724400" cy="330200"/>
          </a:xfrm>
          <a:prstGeom prst="rect">
            <a:avLst/>
          </a:prstGeom>
          <a:noFill/>
        </p:spPr>
        <p:txBody>
          <a:bodyPr vert="horz" wrap="square" lIns="0" tIns="0" rIns="0" bIns="0" rtlCol="0" anchor="t">
            <a:noAutofit/>
          </a:bodyPr>
          <a:lstStyle/>
          <a:p>
            <a:r>
              <a:rPr lang="es-GT" b="1">
                <a:solidFill>
                  <a:srgbClr val="1F9D55"/>
                </a:solidFill>
                <a:latin typeface="Calibri" panose="020F0502020204030204" pitchFamily="34" charset="0"/>
              </a:rPr>
              <a:t>Escenario B · con semáforo</a:t>
            </a:r>
          </a:p>
        </p:txBody>
      </p:sp>
      <p:sp>
        <p:nvSpPr>
          <p:cNvPr id="14" name="CuadroTexto 13">
            <a:extLst>
              <a:ext uri="{FF2B5EF4-FFF2-40B4-BE49-F238E27FC236}">
                <a16:creationId xmlns:a16="http://schemas.microsoft.com/office/drawing/2014/main" id="{8571F4BE-6BB6-5458-293F-E0A9E354ACD8}"/>
              </a:ext>
            </a:extLst>
          </p:cNvPr>
          <p:cNvSpPr txBox="1"/>
          <p:nvPr/>
        </p:nvSpPr>
        <p:spPr>
          <a:xfrm>
            <a:off x="6553200" y="2032000"/>
            <a:ext cx="4724400" cy="1524000"/>
          </a:xfrm>
          <a:prstGeom prst="rect">
            <a:avLst/>
          </a:prstGeom>
          <a:noFill/>
        </p:spPr>
        <p:txBody>
          <a:bodyPr vert="horz" wrap="square" lIns="0" tIns="0" rIns="0" bIns="0" rtlCol="0" anchor="t">
            <a:noAutofit/>
          </a:bodyPr>
          <a:lstStyle/>
          <a:p>
            <a:r>
              <a:rPr lang="es-GT" sz="9600" b="1">
                <a:solidFill>
                  <a:srgbClr val="1F9D55"/>
                </a:solidFill>
                <a:latin typeface="Calibri" panose="020F0502020204030204" pitchFamily="34" charset="0"/>
              </a:rPr>
              <a:t>0</a:t>
            </a:r>
          </a:p>
        </p:txBody>
      </p:sp>
      <p:sp>
        <p:nvSpPr>
          <p:cNvPr id="15" name="CuadroTexto 14">
            <a:extLst>
              <a:ext uri="{FF2B5EF4-FFF2-40B4-BE49-F238E27FC236}">
                <a16:creationId xmlns:a16="http://schemas.microsoft.com/office/drawing/2014/main" id="{BBD9B0B8-90B4-86F9-C254-815E9AE40170}"/>
              </a:ext>
            </a:extLst>
          </p:cNvPr>
          <p:cNvSpPr txBox="1"/>
          <p:nvPr/>
        </p:nvSpPr>
        <p:spPr>
          <a:xfrm>
            <a:off x="6553200" y="3581400"/>
            <a:ext cx="4724400" cy="355600"/>
          </a:xfrm>
          <a:prstGeom prst="rect">
            <a:avLst/>
          </a:prstGeom>
          <a:noFill/>
        </p:spPr>
        <p:txBody>
          <a:bodyPr vert="horz" wrap="square" lIns="0" tIns="0" rIns="0" bIns="0" rtlCol="0" anchor="t">
            <a:noAutofit/>
          </a:bodyPr>
          <a:lstStyle/>
          <a:p>
            <a:r>
              <a:rPr lang="es-GT" sz="2000" b="1">
                <a:solidFill>
                  <a:srgbClr val="1B2A41"/>
                </a:solidFill>
                <a:latin typeface="Calibri" panose="020F0502020204030204" pitchFamily="34" charset="0"/>
              </a:rPr>
              <a:t>procesamientos duplicados</a:t>
            </a:r>
          </a:p>
        </p:txBody>
      </p:sp>
      <p:sp>
        <p:nvSpPr>
          <p:cNvPr id="16" name="CuadroTexto 15">
            <a:extLst>
              <a:ext uri="{FF2B5EF4-FFF2-40B4-BE49-F238E27FC236}">
                <a16:creationId xmlns:a16="http://schemas.microsoft.com/office/drawing/2014/main" id="{05641689-D795-3F69-861D-3392F0C8C924}"/>
              </a:ext>
            </a:extLst>
          </p:cNvPr>
          <p:cNvSpPr txBox="1"/>
          <p:nvPr/>
        </p:nvSpPr>
        <p:spPr>
          <a:xfrm>
            <a:off x="6553200" y="4140200"/>
            <a:ext cx="4724400" cy="304800"/>
          </a:xfrm>
          <a:prstGeom prst="rect">
            <a:avLst/>
          </a:prstGeom>
          <a:noFill/>
        </p:spPr>
        <p:txBody>
          <a:bodyPr vert="horz" wrap="square" lIns="0" tIns="0" rIns="0" bIns="0" rtlCol="0" anchor="t">
            <a:noAutofit/>
          </a:bodyPr>
          <a:lstStyle/>
          <a:p>
            <a:r>
              <a:rPr lang="es-GT" sz="1500">
                <a:solidFill>
                  <a:srgbClr val="1B2A41"/>
                </a:solidFill>
                <a:latin typeface="Calibri" panose="020F0502020204030204" pitchFamily="34" charset="0"/>
              </a:rPr>
              <a:t>24 procesamientos para 24 transacciones</a:t>
            </a:r>
          </a:p>
        </p:txBody>
      </p:sp>
      <p:sp>
        <p:nvSpPr>
          <p:cNvPr id="17" name="CuadroTexto 16">
            <a:extLst>
              <a:ext uri="{FF2B5EF4-FFF2-40B4-BE49-F238E27FC236}">
                <a16:creationId xmlns:a16="http://schemas.microsoft.com/office/drawing/2014/main" id="{25C9E179-A835-EE64-E207-2677533BA5E9}"/>
              </a:ext>
            </a:extLst>
          </p:cNvPr>
          <p:cNvSpPr txBox="1"/>
          <p:nvPr/>
        </p:nvSpPr>
        <p:spPr>
          <a:xfrm>
            <a:off x="6553200" y="4521200"/>
            <a:ext cx="4724400" cy="304800"/>
          </a:xfrm>
          <a:prstGeom prst="rect">
            <a:avLst/>
          </a:prstGeom>
          <a:noFill/>
        </p:spPr>
        <p:txBody>
          <a:bodyPr vert="horz" wrap="square" lIns="0" tIns="0" rIns="0" bIns="0" rtlCol="0" anchor="t">
            <a:noAutofit/>
          </a:bodyPr>
          <a:lstStyle/>
          <a:p>
            <a:r>
              <a:rPr lang="pt-BR" sz="1500">
                <a:solidFill>
                  <a:srgbClr val="1B2A41"/>
                </a:solidFill>
                <a:latin typeface="Calibri" panose="020F0502020204030204" pitchFamily="34" charset="0"/>
              </a:rPr>
              <a:t>12 / 12 por consumidor · espera 11.5 s</a:t>
            </a:r>
            <a:endParaRPr lang="es-GT" sz="1500">
              <a:solidFill>
                <a:srgbClr val="1B2A41"/>
              </a:solidFill>
              <a:latin typeface="Calibri" panose="020F0502020204030204" pitchFamily="34" charset="0"/>
            </a:endParaRPr>
          </a:p>
        </p:txBody>
      </p:sp>
      <p:sp>
        <p:nvSpPr>
          <p:cNvPr id="18" name="CuadroTexto 17">
            <a:extLst>
              <a:ext uri="{FF2B5EF4-FFF2-40B4-BE49-F238E27FC236}">
                <a16:creationId xmlns:a16="http://schemas.microsoft.com/office/drawing/2014/main" id="{7DBD792E-4B95-B46B-AAAA-F650271C4570}"/>
              </a:ext>
            </a:extLst>
          </p:cNvPr>
          <p:cNvSpPr txBox="1"/>
          <p:nvPr/>
        </p:nvSpPr>
        <p:spPr>
          <a:xfrm>
            <a:off x="609600" y="5511800"/>
            <a:ext cx="10972800" cy="635000"/>
          </a:xfrm>
          <a:prstGeom prst="rect">
            <a:avLst/>
          </a:prstGeom>
          <a:noFill/>
        </p:spPr>
        <p:txBody>
          <a:bodyPr vert="horz" wrap="square" lIns="0" tIns="0" rIns="0" bIns="0" rtlCol="0" anchor="t">
            <a:noAutofit/>
          </a:bodyPr>
          <a:lstStyle/>
          <a:p>
            <a:r>
              <a:rPr lang="es-GT" sz="1400">
                <a:solidFill>
                  <a:srgbClr val="5B6B82"/>
                </a:solidFill>
                <a:latin typeface="Calibri" panose="020F0502020204030204" pitchFamily="34" charset="0"/>
              </a:rPr>
              <a:t>Medido con la bitácora procesamientos: transacciones procesadas más de una vez. Mínimo 20 transacciones por escenario.</a:t>
            </a:r>
          </a:p>
        </p:txBody>
      </p:sp>
      <p:sp>
        <p:nvSpPr>
          <p:cNvPr id="19" name="CuadroTexto 18">
            <a:extLst>
              <a:ext uri="{FF2B5EF4-FFF2-40B4-BE49-F238E27FC236}">
                <a16:creationId xmlns:a16="http://schemas.microsoft.com/office/drawing/2014/main" id="{05166D6F-B862-001C-CB85-EF704F75C107}"/>
              </a:ext>
            </a:extLst>
          </p:cNvPr>
          <p:cNvSpPr txBox="1"/>
          <p:nvPr/>
        </p:nvSpPr>
        <p:spPr>
          <a:xfrm>
            <a:off x="609600" y="6451600"/>
            <a:ext cx="6604000" cy="228600"/>
          </a:xfrm>
          <a:prstGeom prst="rect">
            <a:avLst/>
          </a:prstGeom>
          <a:noFill/>
        </p:spPr>
        <p:txBody>
          <a:bodyPr vert="horz" wrap="square" lIns="0" tIns="0" rIns="0" bIns="0" rtlCol="0" anchor="t">
            <a:noAutofit/>
          </a:bodyPr>
          <a:lstStyle/>
          <a:p>
            <a:r>
              <a:rPr lang="es-GT" sz="1000">
                <a:solidFill>
                  <a:srgbClr val="5B6B82"/>
                </a:solidFill>
                <a:latin typeface="Calibri" panose="020F0502020204030204" pitchFamily="34" charset="0"/>
              </a:rPr>
              <a:t>Productor y consumidores con semáforo · Sistemas Operativos I</a:t>
            </a:r>
          </a:p>
        </p:txBody>
      </p:sp>
      <p:sp>
        <p:nvSpPr>
          <p:cNvPr id="20" name="CuadroTexto 19">
            <a:extLst>
              <a:ext uri="{FF2B5EF4-FFF2-40B4-BE49-F238E27FC236}">
                <a16:creationId xmlns:a16="http://schemas.microsoft.com/office/drawing/2014/main" id="{FF50501E-9EF6-877C-4C47-78CD4C4451C8}"/>
              </a:ext>
            </a:extLst>
          </p:cNvPr>
          <p:cNvSpPr txBox="1"/>
          <p:nvPr/>
        </p:nvSpPr>
        <p:spPr>
          <a:xfrm>
            <a:off x="10312400" y="6451600"/>
            <a:ext cx="1270000" cy="228600"/>
          </a:xfrm>
          <a:prstGeom prst="rect">
            <a:avLst/>
          </a:prstGeom>
          <a:noFill/>
        </p:spPr>
        <p:txBody>
          <a:bodyPr vert="horz" wrap="square" lIns="0" tIns="0" rIns="0" bIns="0" rtlCol="0" anchor="t">
            <a:noAutofit/>
          </a:bodyPr>
          <a:lstStyle/>
          <a:p>
            <a:pPr algn="r"/>
            <a:r>
              <a:rPr lang="es-GT" sz="1000">
                <a:solidFill>
                  <a:srgbClr val="5B6B82"/>
                </a:solidFill>
                <a:latin typeface="Calibri" panose="020F0502020204030204" pitchFamily="34" charset="0"/>
              </a:rPr>
              <a:t>11</a:t>
            </a:r>
          </a:p>
        </p:txBody>
      </p:sp>
    </p:spTree>
    <p:extLst>
      <p:ext uri="{BB962C8B-B14F-4D97-AF65-F5344CB8AC3E}">
        <p14:creationId xmlns:p14="http://schemas.microsoft.com/office/powerpoint/2010/main" val="3273818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295E94B-2F57-A241-2B5E-58549340DEEC}"/>
              </a:ext>
            </a:extLst>
          </p:cNvPr>
          <p:cNvSpPr txBox="1"/>
          <p:nvPr/>
        </p:nvSpPr>
        <p:spPr>
          <a:xfrm>
            <a:off x="609600" y="406400"/>
            <a:ext cx="10033000" cy="635000"/>
          </a:xfrm>
          <a:prstGeom prst="rect">
            <a:avLst/>
          </a:prstGeom>
          <a:noFill/>
        </p:spPr>
        <p:txBody>
          <a:bodyPr vert="horz" wrap="square" lIns="0" tIns="0" rIns="0" bIns="0" rtlCol="0" anchor="ctr">
            <a:noAutofit/>
          </a:bodyPr>
          <a:lstStyle/>
          <a:p>
            <a:r>
              <a:rPr lang="es-GT" sz="3200" b="1">
                <a:solidFill>
                  <a:srgbClr val="1B2A41"/>
                </a:solidFill>
                <a:latin typeface="Calibri" panose="020F0502020204030204" pitchFamily="34" charset="0"/>
              </a:rPr>
              <a:t>Lo que muestran las trazas</a:t>
            </a:r>
          </a:p>
        </p:txBody>
      </p:sp>
      <p:sp>
        <p:nvSpPr>
          <p:cNvPr id="3" name="Elipse 2">
            <a:extLst>
              <a:ext uri="{FF2B5EF4-FFF2-40B4-BE49-F238E27FC236}">
                <a16:creationId xmlns:a16="http://schemas.microsoft.com/office/drawing/2014/main" id="{02AB2838-F1D6-063F-4411-ED5271873872}"/>
              </a:ext>
            </a:extLst>
          </p:cNvPr>
          <p:cNvSpPr/>
          <p:nvPr/>
        </p:nvSpPr>
        <p:spPr>
          <a:xfrm>
            <a:off x="11023600" y="635000"/>
            <a:ext cx="152400" cy="152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Elipse 3">
            <a:extLst>
              <a:ext uri="{FF2B5EF4-FFF2-40B4-BE49-F238E27FC236}">
                <a16:creationId xmlns:a16="http://schemas.microsoft.com/office/drawing/2014/main" id="{D0238A47-F185-9E4A-7FA0-253B3CA6523B}"/>
              </a:ext>
            </a:extLst>
          </p:cNvPr>
          <p:cNvSpPr/>
          <p:nvPr/>
        </p:nvSpPr>
        <p:spPr>
          <a:xfrm>
            <a:off x="11252200" y="635000"/>
            <a:ext cx="152400" cy="1524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5" name="Elipse 4">
            <a:extLst>
              <a:ext uri="{FF2B5EF4-FFF2-40B4-BE49-F238E27FC236}">
                <a16:creationId xmlns:a16="http://schemas.microsoft.com/office/drawing/2014/main" id="{FE7BFCBE-C8BD-5B9F-5185-6BA4C6549136}"/>
              </a:ext>
            </a:extLst>
          </p:cNvPr>
          <p:cNvSpPr/>
          <p:nvPr/>
        </p:nvSpPr>
        <p:spPr>
          <a:xfrm>
            <a:off x="11480800" y="635000"/>
            <a:ext cx="152400" cy="152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CuadroTexto 5">
            <a:extLst>
              <a:ext uri="{FF2B5EF4-FFF2-40B4-BE49-F238E27FC236}">
                <a16:creationId xmlns:a16="http://schemas.microsoft.com/office/drawing/2014/main" id="{871FCA76-62C1-4FE7-8863-1F1BD092C162}"/>
              </a:ext>
            </a:extLst>
          </p:cNvPr>
          <p:cNvSpPr txBox="1"/>
          <p:nvPr/>
        </p:nvSpPr>
        <p:spPr>
          <a:xfrm>
            <a:off x="609600" y="1371600"/>
            <a:ext cx="5334000" cy="304800"/>
          </a:xfrm>
          <a:prstGeom prst="rect">
            <a:avLst/>
          </a:prstGeom>
          <a:noFill/>
        </p:spPr>
        <p:txBody>
          <a:bodyPr vert="horz" wrap="square" lIns="0" tIns="0" rIns="0" bIns="0" rtlCol="0" anchor="t">
            <a:noAutofit/>
          </a:bodyPr>
          <a:lstStyle/>
          <a:p>
            <a:r>
              <a:rPr lang="es-GT" sz="1700" b="1">
                <a:solidFill>
                  <a:srgbClr val="D64545"/>
                </a:solidFill>
                <a:latin typeface="Calibri" panose="020F0502020204030204" pitchFamily="34" charset="0"/>
              </a:rPr>
              <a:t>Escenario A · sin semáforo</a:t>
            </a:r>
          </a:p>
        </p:txBody>
      </p:sp>
      <p:sp>
        <p:nvSpPr>
          <p:cNvPr id="7" name="CuadroTexto 6">
            <a:extLst>
              <a:ext uri="{FF2B5EF4-FFF2-40B4-BE49-F238E27FC236}">
                <a16:creationId xmlns:a16="http://schemas.microsoft.com/office/drawing/2014/main" id="{D4BFB677-A067-DFF9-C712-3C48015B3330}"/>
              </a:ext>
            </a:extLst>
          </p:cNvPr>
          <p:cNvSpPr txBox="1"/>
          <p:nvPr/>
        </p:nvSpPr>
        <p:spPr>
          <a:xfrm>
            <a:off x="6248400" y="1371600"/>
            <a:ext cx="5334000" cy="304800"/>
          </a:xfrm>
          <a:prstGeom prst="rect">
            <a:avLst/>
          </a:prstGeom>
          <a:noFill/>
        </p:spPr>
        <p:txBody>
          <a:bodyPr vert="horz" wrap="square" lIns="0" tIns="0" rIns="0" bIns="0" rtlCol="0" anchor="t">
            <a:noAutofit/>
          </a:bodyPr>
          <a:lstStyle/>
          <a:p>
            <a:r>
              <a:rPr lang="es-GT" sz="1700" b="1">
                <a:solidFill>
                  <a:srgbClr val="1F9D55"/>
                </a:solidFill>
                <a:latin typeface="Calibri" panose="020F0502020204030204" pitchFamily="34" charset="0"/>
              </a:rPr>
              <a:t>Escenario B · con semáforo</a:t>
            </a:r>
          </a:p>
        </p:txBody>
      </p:sp>
      <p:sp>
        <p:nvSpPr>
          <p:cNvPr id="8" name="Rectángulo: esquinas redondeadas 7">
            <a:extLst>
              <a:ext uri="{FF2B5EF4-FFF2-40B4-BE49-F238E27FC236}">
                <a16:creationId xmlns:a16="http://schemas.microsoft.com/office/drawing/2014/main" id="{C392909D-9539-F4BE-D76C-50A37C7C2477}"/>
              </a:ext>
            </a:extLst>
          </p:cNvPr>
          <p:cNvSpPr/>
          <p:nvPr/>
        </p:nvSpPr>
        <p:spPr>
          <a:xfrm>
            <a:off x="609600" y="1752600"/>
            <a:ext cx="5334000" cy="2286000"/>
          </a:xfrm>
          <a:prstGeom prst="roundRect">
            <a:avLst>
              <a:gd name="adj" fmla="val 8000"/>
            </a:avLst>
          </a:prstGeom>
          <a:solidFill>
            <a:srgbClr val="1523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06680" rIns="177800" bIns="106680" rtlCol="0" anchor="ctr"/>
          <a:lstStyle/>
          <a:p>
            <a:r>
              <a:rPr lang="es-GT" sz="1250">
                <a:solidFill>
                  <a:srgbClr val="D6E2F0"/>
                </a:solidFill>
                <a:latin typeface="Consolas" panose="020B0609020204030204" pitchFamily="49" charset="0"/>
              </a:rPr>
              <a:t>22:12:10.869  consumidor2  PROCESAR   </a:t>
            </a:r>
            <a:r>
              <a:rPr lang="es-GT" sz="1250" b="1">
                <a:solidFill>
                  <a:srgbClr val="D64545"/>
                </a:solidFill>
                <a:latin typeface="Consolas" panose="020B0609020204030204" pitchFamily="49" charset="0"/>
              </a:rPr>
              <a:t>id=3</a:t>
            </a:r>
          </a:p>
          <a:p>
            <a:r>
              <a:rPr lang="es-GT" sz="1250">
                <a:solidFill>
                  <a:srgbClr val="D6E2F0"/>
                </a:solidFill>
                <a:latin typeface="Consolas" panose="020B0609020204030204" pitchFamily="49" charset="0"/>
              </a:rPr>
              <a:t>22:12:12.853  consumidor1  PROCESAR   </a:t>
            </a:r>
            <a:r>
              <a:rPr lang="es-GT" sz="1250" b="1">
                <a:solidFill>
                  <a:srgbClr val="D64545"/>
                </a:solidFill>
                <a:latin typeface="Consolas" panose="020B0609020204030204" pitchFamily="49" charset="0"/>
              </a:rPr>
              <a:t>id=3</a:t>
            </a:r>
          </a:p>
          <a:p>
            <a:r>
              <a:rPr lang="es-GT" sz="1250">
                <a:solidFill>
                  <a:srgbClr val="D6E2F0"/>
                </a:solidFill>
                <a:latin typeface="Consolas" panose="020B0609020204030204" pitchFamily="49" charset="0"/>
              </a:rPr>
              <a:t>22:12:13.401  consumidor2  PROCESADO  </a:t>
            </a:r>
            <a:r>
              <a:rPr lang="es-GT" sz="1250" b="1">
                <a:solidFill>
                  <a:srgbClr val="D64545"/>
                </a:solidFill>
                <a:latin typeface="Consolas" panose="020B0609020204030204" pitchFamily="49" charset="0"/>
              </a:rPr>
              <a:t>id=3</a:t>
            </a:r>
          </a:p>
          <a:p>
            <a:r>
              <a:rPr lang="es-GT" sz="1250">
                <a:solidFill>
                  <a:srgbClr val="D6E2F0"/>
                </a:solidFill>
                <a:latin typeface="Consolas" panose="020B0609020204030204" pitchFamily="49" charset="0"/>
              </a:rPr>
              <a:t>22:12:14.849  consumidor1  PROCESADO  </a:t>
            </a:r>
            <a:r>
              <a:rPr lang="es-GT" sz="1250" b="1">
                <a:solidFill>
                  <a:srgbClr val="D64545"/>
                </a:solidFill>
                <a:latin typeface="Consolas" panose="020B0609020204030204" pitchFamily="49" charset="0"/>
              </a:rPr>
              <a:t>id=3</a:t>
            </a:r>
          </a:p>
        </p:txBody>
      </p:sp>
      <p:sp>
        <p:nvSpPr>
          <p:cNvPr id="9" name="Rectángulo: esquinas redondeadas 8">
            <a:extLst>
              <a:ext uri="{FF2B5EF4-FFF2-40B4-BE49-F238E27FC236}">
                <a16:creationId xmlns:a16="http://schemas.microsoft.com/office/drawing/2014/main" id="{BBF45DE0-821C-407D-9E34-3C6978690AA0}"/>
              </a:ext>
            </a:extLst>
          </p:cNvPr>
          <p:cNvSpPr/>
          <p:nvPr/>
        </p:nvSpPr>
        <p:spPr>
          <a:xfrm>
            <a:off x="6248400" y="1752600"/>
            <a:ext cx="5334000" cy="2286000"/>
          </a:xfrm>
          <a:prstGeom prst="roundRect">
            <a:avLst>
              <a:gd name="adj" fmla="val 8000"/>
            </a:avLst>
          </a:prstGeom>
          <a:solidFill>
            <a:srgbClr val="1523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06680" rIns="177800" bIns="106680" rtlCol="0" anchor="ctr"/>
          <a:lstStyle/>
          <a:p>
            <a:r>
              <a:rPr lang="es-GT" sz="1250">
                <a:solidFill>
                  <a:srgbClr val="D6E2F0"/>
                </a:solidFill>
                <a:latin typeface="Consolas" panose="020B0609020204030204" pitchFamily="49" charset="0"/>
              </a:rPr>
              <a:t>22:13:34.203  consumidor2  </a:t>
            </a:r>
            <a:r>
              <a:rPr lang="es-GT" sz="1250">
                <a:solidFill>
                  <a:srgbClr val="D64545"/>
                </a:solidFill>
                <a:latin typeface="Consolas" panose="020B0609020204030204" pitchFamily="49" charset="0"/>
              </a:rPr>
              <a:t>ESPERAR</a:t>
            </a:r>
            <a:r>
              <a:rPr lang="es-GT" sz="1250">
                <a:solidFill>
                  <a:srgbClr val="D6E2F0"/>
                </a:solidFill>
                <a:latin typeface="Consolas" panose="020B0609020204030204" pitchFamily="49" charset="0"/>
              </a:rPr>
              <a:t>    ocupado</a:t>
            </a:r>
          </a:p>
          <a:p>
            <a:r>
              <a:rPr lang="es-GT" sz="1250">
                <a:solidFill>
                  <a:srgbClr val="D6E2F0"/>
                </a:solidFill>
                <a:latin typeface="Consolas" panose="020B0609020204030204" pitchFamily="49" charset="0"/>
              </a:rPr>
              <a:t>22:13:34.318  consumidor1  PROCESADO  id=1</a:t>
            </a:r>
          </a:p>
          <a:p>
            <a:r>
              <a:rPr lang="es-GT" sz="1250">
                <a:solidFill>
                  <a:srgbClr val="D6E2F0"/>
                </a:solidFill>
                <a:latin typeface="Consolas" panose="020B0609020204030204" pitchFamily="49" charset="0"/>
              </a:rPr>
              <a:t>22:13:34.319  consumidor1  </a:t>
            </a:r>
            <a:r>
              <a:rPr lang="es-GT" sz="1250" b="1">
                <a:solidFill>
                  <a:srgbClr val="E8A33D"/>
                </a:solidFill>
                <a:latin typeface="Consolas" panose="020B0609020204030204" pitchFamily="49" charset="0"/>
              </a:rPr>
              <a:t>LIBERAR</a:t>
            </a:r>
          </a:p>
          <a:p>
            <a:r>
              <a:rPr lang="es-GT" sz="1250">
                <a:solidFill>
                  <a:srgbClr val="D6E2F0"/>
                </a:solidFill>
                <a:latin typeface="Consolas" panose="020B0609020204030204" pitchFamily="49" charset="0"/>
              </a:rPr>
              <a:t>22:13:34.525  consumidor2  </a:t>
            </a:r>
            <a:r>
              <a:rPr lang="es-GT" sz="1250" b="1">
                <a:solidFill>
                  <a:srgbClr val="1F9D55"/>
                </a:solidFill>
                <a:latin typeface="Consolas" panose="020B0609020204030204" pitchFamily="49" charset="0"/>
              </a:rPr>
              <a:t>ADQUIRIR</a:t>
            </a:r>
          </a:p>
          <a:p>
            <a:r>
              <a:rPr lang="es-GT" sz="1250">
                <a:solidFill>
                  <a:srgbClr val="D6E2F0"/>
                </a:solidFill>
                <a:latin typeface="Consolas" panose="020B0609020204030204" pitchFamily="49" charset="0"/>
              </a:rPr>
              <a:t>22:13:34.526  consumidor2  PROCESAR   id=2</a:t>
            </a:r>
          </a:p>
          <a:p>
            <a:r>
              <a:rPr lang="es-GT" sz="1250">
                <a:solidFill>
                  <a:srgbClr val="D6E2F0"/>
                </a:solidFill>
                <a:latin typeface="Consolas" panose="020B0609020204030204" pitchFamily="49" charset="0"/>
              </a:rPr>
              <a:t>22:13:34.924  consumidor1  </a:t>
            </a:r>
            <a:r>
              <a:rPr lang="es-GT" sz="1250">
                <a:solidFill>
                  <a:srgbClr val="D64545"/>
                </a:solidFill>
                <a:latin typeface="Consolas" panose="020B0609020204030204" pitchFamily="49" charset="0"/>
              </a:rPr>
              <a:t>ESPERAR</a:t>
            </a:r>
            <a:r>
              <a:rPr lang="es-GT" sz="1250">
                <a:solidFill>
                  <a:srgbClr val="D6E2F0"/>
                </a:solidFill>
                <a:latin typeface="Consolas" panose="020B0609020204030204" pitchFamily="49" charset="0"/>
              </a:rPr>
              <a:t>    ocupado</a:t>
            </a:r>
          </a:p>
        </p:txBody>
      </p:sp>
      <p:sp>
        <p:nvSpPr>
          <p:cNvPr id="10" name="Rectángulo: esquinas redondeadas 9">
            <a:extLst>
              <a:ext uri="{FF2B5EF4-FFF2-40B4-BE49-F238E27FC236}">
                <a16:creationId xmlns:a16="http://schemas.microsoft.com/office/drawing/2014/main" id="{1986E663-8BEE-19F0-D887-196796DB5825}"/>
              </a:ext>
            </a:extLst>
          </p:cNvPr>
          <p:cNvSpPr/>
          <p:nvPr/>
        </p:nvSpPr>
        <p:spPr>
          <a:xfrm>
            <a:off x="609600" y="4292600"/>
            <a:ext cx="5334000" cy="1270000"/>
          </a:xfrm>
          <a:prstGeom prst="roundRect">
            <a:avLst>
              <a:gd name="adj" fmla="val 8000"/>
            </a:avLst>
          </a:prstGeom>
          <a:solidFill>
            <a:srgbClr val="FBEA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1" name="CuadroTexto 10">
            <a:extLst>
              <a:ext uri="{FF2B5EF4-FFF2-40B4-BE49-F238E27FC236}">
                <a16:creationId xmlns:a16="http://schemas.microsoft.com/office/drawing/2014/main" id="{5733A9E3-444F-7E50-EB66-1E58103223BF}"/>
              </a:ext>
            </a:extLst>
          </p:cNvPr>
          <p:cNvSpPr txBox="1"/>
          <p:nvPr/>
        </p:nvSpPr>
        <p:spPr>
          <a:xfrm>
            <a:off x="863600" y="4394200"/>
            <a:ext cx="4826000" cy="1066800"/>
          </a:xfrm>
          <a:prstGeom prst="rect">
            <a:avLst/>
          </a:prstGeom>
          <a:noFill/>
        </p:spPr>
        <p:txBody>
          <a:bodyPr vert="horz" wrap="square" lIns="0" tIns="0" rIns="0" bIns="0" rtlCol="0" anchor="ctr">
            <a:noAutofit/>
          </a:bodyPr>
          <a:lstStyle/>
          <a:p>
            <a:r>
              <a:rPr lang="es-GT" sz="1500">
                <a:solidFill>
                  <a:srgbClr val="1B2A41"/>
                </a:solidFill>
                <a:latin typeface="Calibri" panose="020F0502020204030204" pitchFamily="34" charset="0"/>
              </a:rPr>
              <a:t>Los dos consumidores procesan la transacción 3: el depósito de Q575.68 se aplicaría dos veces.</a:t>
            </a:r>
          </a:p>
        </p:txBody>
      </p:sp>
      <p:sp>
        <p:nvSpPr>
          <p:cNvPr id="12" name="Rectángulo: esquinas redondeadas 11">
            <a:extLst>
              <a:ext uri="{FF2B5EF4-FFF2-40B4-BE49-F238E27FC236}">
                <a16:creationId xmlns:a16="http://schemas.microsoft.com/office/drawing/2014/main" id="{0AC3EE19-37EF-CB51-E089-2993E9542CE0}"/>
              </a:ext>
            </a:extLst>
          </p:cNvPr>
          <p:cNvSpPr/>
          <p:nvPr/>
        </p:nvSpPr>
        <p:spPr>
          <a:xfrm>
            <a:off x="6248400" y="4292600"/>
            <a:ext cx="5334000" cy="1270000"/>
          </a:xfrm>
          <a:prstGeom prst="roundRect">
            <a:avLst>
              <a:gd name="adj" fmla="val 8000"/>
            </a:avLst>
          </a:prstGeom>
          <a:solidFill>
            <a:srgbClr val="E6F5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3" name="CuadroTexto 12">
            <a:extLst>
              <a:ext uri="{FF2B5EF4-FFF2-40B4-BE49-F238E27FC236}">
                <a16:creationId xmlns:a16="http://schemas.microsoft.com/office/drawing/2014/main" id="{9D2692A8-DAE1-7874-9629-834B29E82700}"/>
              </a:ext>
            </a:extLst>
          </p:cNvPr>
          <p:cNvSpPr txBox="1"/>
          <p:nvPr/>
        </p:nvSpPr>
        <p:spPr>
          <a:xfrm>
            <a:off x="6502400" y="4394200"/>
            <a:ext cx="4826000" cy="1066800"/>
          </a:xfrm>
          <a:prstGeom prst="rect">
            <a:avLst/>
          </a:prstGeom>
          <a:noFill/>
        </p:spPr>
        <p:txBody>
          <a:bodyPr vert="horz" wrap="square" lIns="0" tIns="0" rIns="0" bIns="0" rtlCol="0" anchor="ctr">
            <a:noAutofit/>
          </a:bodyPr>
          <a:lstStyle/>
          <a:p>
            <a:r>
              <a:rPr lang="es-GT" sz="1500">
                <a:solidFill>
                  <a:srgbClr val="1B2A41"/>
                </a:solidFill>
                <a:latin typeface="Calibri" panose="020F0502020204030204" pitchFamily="34" charset="0"/>
              </a:rPr>
              <a:t>Mientras uno está en la sección crítica, el otro espera. Al liberar, el otro entra con la siguiente transacción.</a:t>
            </a:r>
          </a:p>
        </p:txBody>
      </p:sp>
      <p:sp>
        <p:nvSpPr>
          <p:cNvPr id="14" name="CuadroTexto 13">
            <a:extLst>
              <a:ext uri="{FF2B5EF4-FFF2-40B4-BE49-F238E27FC236}">
                <a16:creationId xmlns:a16="http://schemas.microsoft.com/office/drawing/2014/main" id="{3064C9D9-02C8-86FE-936D-E7CEC3395FF2}"/>
              </a:ext>
            </a:extLst>
          </p:cNvPr>
          <p:cNvSpPr txBox="1"/>
          <p:nvPr/>
        </p:nvSpPr>
        <p:spPr>
          <a:xfrm>
            <a:off x="609600" y="6451600"/>
            <a:ext cx="6604000" cy="228600"/>
          </a:xfrm>
          <a:prstGeom prst="rect">
            <a:avLst/>
          </a:prstGeom>
          <a:noFill/>
        </p:spPr>
        <p:txBody>
          <a:bodyPr vert="horz" wrap="square" lIns="0" tIns="0" rIns="0" bIns="0" rtlCol="0" anchor="t">
            <a:noAutofit/>
          </a:bodyPr>
          <a:lstStyle/>
          <a:p>
            <a:r>
              <a:rPr lang="es-GT" sz="1000">
                <a:solidFill>
                  <a:srgbClr val="5B6B82"/>
                </a:solidFill>
                <a:latin typeface="Calibri" panose="020F0502020204030204" pitchFamily="34" charset="0"/>
              </a:rPr>
              <a:t>Productor y consumidores con semáforo · Sistemas Operativos I</a:t>
            </a:r>
          </a:p>
        </p:txBody>
      </p:sp>
      <p:sp>
        <p:nvSpPr>
          <p:cNvPr id="15" name="CuadroTexto 14">
            <a:extLst>
              <a:ext uri="{FF2B5EF4-FFF2-40B4-BE49-F238E27FC236}">
                <a16:creationId xmlns:a16="http://schemas.microsoft.com/office/drawing/2014/main" id="{156BC8C5-BFFD-A654-255E-9AAC2585CAFD}"/>
              </a:ext>
            </a:extLst>
          </p:cNvPr>
          <p:cNvSpPr txBox="1"/>
          <p:nvPr/>
        </p:nvSpPr>
        <p:spPr>
          <a:xfrm>
            <a:off x="10312400" y="6451600"/>
            <a:ext cx="1270000" cy="228600"/>
          </a:xfrm>
          <a:prstGeom prst="rect">
            <a:avLst/>
          </a:prstGeom>
          <a:noFill/>
        </p:spPr>
        <p:txBody>
          <a:bodyPr vert="horz" wrap="square" lIns="0" tIns="0" rIns="0" bIns="0" rtlCol="0" anchor="t">
            <a:noAutofit/>
          </a:bodyPr>
          <a:lstStyle/>
          <a:p>
            <a:pPr algn="r"/>
            <a:r>
              <a:rPr lang="es-GT" sz="1000">
                <a:solidFill>
                  <a:srgbClr val="5B6B82"/>
                </a:solidFill>
                <a:latin typeface="Calibri" panose="020F0502020204030204" pitchFamily="34" charset="0"/>
              </a:rPr>
              <a:t>12</a:t>
            </a:r>
          </a:p>
        </p:txBody>
      </p:sp>
    </p:spTree>
    <p:extLst>
      <p:ext uri="{BB962C8B-B14F-4D97-AF65-F5344CB8AC3E}">
        <p14:creationId xmlns:p14="http://schemas.microsoft.com/office/powerpoint/2010/main" val="1668653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B5B3E64-4AE4-9329-CEF3-96B6592C728A}"/>
              </a:ext>
            </a:extLst>
          </p:cNvPr>
          <p:cNvSpPr txBox="1"/>
          <p:nvPr/>
        </p:nvSpPr>
        <p:spPr>
          <a:xfrm>
            <a:off x="609600" y="406400"/>
            <a:ext cx="10033000" cy="635000"/>
          </a:xfrm>
          <a:prstGeom prst="rect">
            <a:avLst/>
          </a:prstGeom>
          <a:noFill/>
        </p:spPr>
        <p:txBody>
          <a:bodyPr vert="horz" wrap="square" lIns="0" tIns="0" rIns="0" bIns="0" rtlCol="0" anchor="ctr">
            <a:noAutofit/>
          </a:bodyPr>
          <a:lstStyle/>
          <a:p>
            <a:r>
              <a:rPr lang="es-GT" sz="3200" b="1">
                <a:solidFill>
                  <a:srgbClr val="1B2A41"/>
                </a:solidFill>
                <a:latin typeface="Calibri" panose="020F0502020204030204" pitchFamily="34" charset="0"/>
              </a:rPr>
              <a:t>Análisis y limitaciones</a:t>
            </a:r>
          </a:p>
        </p:txBody>
      </p:sp>
      <p:sp>
        <p:nvSpPr>
          <p:cNvPr id="3" name="Elipse 2">
            <a:extLst>
              <a:ext uri="{FF2B5EF4-FFF2-40B4-BE49-F238E27FC236}">
                <a16:creationId xmlns:a16="http://schemas.microsoft.com/office/drawing/2014/main" id="{647F3213-881B-1B64-812A-BC9EC1673784}"/>
              </a:ext>
            </a:extLst>
          </p:cNvPr>
          <p:cNvSpPr/>
          <p:nvPr/>
        </p:nvSpPr>
        <p:spPr>
          <a:xfrm>
            <a:off x="11023600" y="635000"/>
            <a:ext cx="152400" cy="152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Elipse 3">
            <a:extLst>
              <a:ext uri="{FF2B5EF4-FFF2-40B4-BE49-F238E27FC236}">
                <a16:creationId xmlns:a16="http://schemas.microsoft.com/office/drawing/2014/main" id="{1E3DF47C-128A-20C8-3A56-B34700941C5F}"/>
              </a:ext>
            </a:extLst>
          </p:cNvPr>
          <p:cNvSpPr/>
          <p:nvPr/>
        </p:nvSpPr>
        <p:spPr>
          <a:xfrm>
            <a:off x="11252200" y="635000"/>
            <a:ext cx="152400" cy="1524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5" name="Elipse 4">
            <a:extLst>
              <a:ext uri="{FF2B5EF4-FFF2-40B4-BE49-F238E27FC236}">
                <a16:creationId xmlns:a16="http://schemas.microsoft.com/office/drawing/2014/main" id="{12B9DF60-AC9C-1508-C1EA-40F2DCF5C2F8}"/>
              </a:ext>
            </a:extLst>
          </p:cNvPr>
          <p:cNvSpPr/>
          <p:nvPr/>
        </p:nvSpPr>
        <p:spPr>
          <a:xfrm>
            <a:off x="11480800" y="635000"/>
            <a:ext cx="152400" cy="152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Rectángulo: esquinas redondeadas 5">
            <a:extLst>
              <a:ext uri="{FF2B5EF4-FFF2-40B4-BE49-F238E27FC236}">
                <a16:creationId xmlns:a16="http://schemas.microsoft.com/office/drawing/2014/main" id="{7FA9FE60-D4F4-E105-A8FF-1817DF4FA6A9}"/>
              </a:ext>
            </a:extLst>
          </p:cNvPr>
          <p:cNvSpPr/>
          <p:nvPr/>
        </p:nvSpPr>
        <p:spPr>
          <a:xfrm>
            <a:off x="609600" y="1422400"/>
            <a:ext cx="5334000" cy="19812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7" name="Elipse 6">
            <a:extLst>
              <a:ext uri="{FF2B5EF4-FFF2-40B4-BE49-F238E27FC236}">
                <a16:creationId xmlns:a16="http://schemas.microsoft.com/office/drawing/2014/main" id="{123ADF09-FEC9-5C7B-EED9-446B7D647227}"/>
              </a:ext>
            </a:extLst>
          </p:cNvPr>
          <p:cNvSpPr/>
          <p:nvPr/>
        </p:nvSpPr>
        <p:spPr>
          <a:xfrm>
            <a:off x="838200" y="1651000"/>
            <a:ext cx="457200" cy="4572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600" b="1">
                <a:solidFill>
                  <a:srgbClr val="FFFFFF"/>
                </a:solidFill>
                <a:latin typeface="Calibri" panose="020F0502020204030204" pitchFamily="34" charset="0"/>
              </a:rPr>
              <a:t>1</a:t>
            </a:r>
          </a:p>
        </p:txBody>
      </p:sp>
      <p:sp>
        <p:nvSpPr>
          <p:cNvPr id="8" name="CuadroTexto 7">
            <a:extLst>
              <a:ext uri="{FF2B5EF4-FFF2-40B4-BE49-F238E27FC236}">
                <a16:creationId xmlns:a16="http://schemas.microsoft.com/office/drawing/2014/main" id="{7902BF38-DE14-BABC-FF41-248D8C17233B}"/>
              </a:ext>
            </a:extLst>
          </p:cNvPr>
          <p:cNvSpPr txBox="1"/>
          <p:nvPr/>
        </p:nvSpPr>
        <p:spPr>
          <a:xfrm>
            <a:off x="1447800" y="1701800"/>
            <a:ext cx="4318000" cy="355600"/>
          </a:xfrm>
          <a:prstGeom prst="rect">
            <a:avLst/>
          </a:prstGeom>
          <a:noFill/>
        </p:spPr>
        <p:txBody>
          <a:bodyPr vert="horz" wrap="square" lIns="0" tIns="0" rIns="0" bIns="0" rtlCol="0" anchor="t">
            <a:noAutofit/>
          </a:bodyPr>
          <a:lstStyle/>
          <a:p>
            <a:r>
              <a:rPr lang="es-GT" sz="1700" b="1">
                <a:solidFill>
                  <a:srgbClr val="1B2A41"/>
                </a:solidFill>
                <a:latin typeface="Calibri" panose="020F0502020204030204" pitchFamily="34" charset="0"/>
              </a:rPr>
              <a:t>Costo de la exclusión mutua</a:t>
            </a:r>
          </a:p>
        </p:txBody>
      </p:sp>
      <p:sp>
        <p:nvSpPr>
          <p:cNvPr id="9" name="CuadroTexto 8">
            <a:extLst>
              <a:ext uri="{FF2B5EF4-FFF2-40B4-BE49-F238E27FC236}">
                <a16:creationId xmlns:a16="http://schemas.microsoft.com/office/drawing/2014/main" id="{C56DE03B-6F7D-B4DB-EF96-250D9FFDEB84}"/>
              </a:ext>
            </a:extLst>
          </p:cNvPr>
          <p:cNvSpPr txBox="1"/>
          <p:nvPr/>
        </p:nvSpPr>
        <p:spPr>
          <a:xfrm>
            <a:off x="838200" y="2260600"/>
            <a:ext cx="4876800" cy="12700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El procesamiento se serializa: una transacción a la vez. El productor genera más rápido; al final del escenario B quedaron 13 pendientes.</a:t>
            </a:r>
          </a:p>
        </p:txBody>
      </p:sp>
      <p:sp>
        <p:nvSpPr>
          <p:cNvPr id="10" name="Rectángulo: esquinas redondeadas 9">
            <a:extLst>
              <a:ext uri="{FF2B5EF4-FFF2-40B4-BE49-F238E27FC236}">
                <a16:creationId xmlns:a16="http://schemas.microsoft.com/office/drawing/2014/main" id="{EEF6CDCE-18ED-4CC1-995C-A71F4B680B23}"/>
              </a:ext>
            </a:extLst>
          </p:cNvPr>
          <p:cNvSpPr/>
          <p:nvPr/>
        </p:nvSpPr>
        <p:spPr>
          <a:xfrm>
            <a:off x="6248400" y="1422400"/>
            <a:ext cx="5334000" cy="19812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1" name="Elipse 10">
            <a:extLst>
              <a:ext uri="{FF2B5EF4-FFF2-40B4-BE49-F238E27FC236}">
                <a16:creationId xmlns:a16="http://schemas.microsoft.com/office/drawing/2014/main" id="{13D5E433-646A-92C5-8B20-94BDFD9024EE}"/>
              </a:ext>
            </a:extLst>
          </p:cNvPr>
          <p:cNvSpPr/>
          <p:nvPr/>
        </p:nvSpPr>
        <p:spPr>
          <a:xfrm>
            <a:off x="6477000" y="1651000"/>
            <a:ext cx="457200" cy="457200"/>
          </a:xfrm>
          <a:prstGeom prst="ellipse">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600" b="1">
                <a:solidFill>
                  <a:srgbClr val="FFFFFF"/>
                </a:solidFill>
                <a:latin typeface="Calibri" panose="020F0502020204030204" pitchFamily="34" charset="0"/>
              </a:rPr>
              <a:t>2</a:t>
            </a:r>
          </a:p>
        </p:txBody>
      </p:sp>
      <p:sp>
        <p:nvSpPr>
          <p:cNvPr id="12" name="CuadroTexto 11">
            <a:extLst>
              <a:ext uri="{FF2B5EF4-FFF2-40B4-BE49-F238E27FC236}">
                <a16:creationId xmlns:a16="http://schemas.microsoft.com/office/drawing/2014/main" id="{98EA18BE-A238-E7BA-4245-662D2EBC0C46}"/>
              </a:ext>
            </a:extLst>
          </p:cNvPr>
          <p:cNvSpPr txBox="1"/>
          <p:nvPr/>
        </p:nvSpPr>
        <p:spPr>
          <a:xfrm>
            <a:off x="7086600" y="1701800"/>
            <a:ext cx="4318000" cy="355600"/>
          </a:xfrm>
          <a:prstGeom prst="rect">
            <a:avLst/>
          </a:prstGeom>
          <a:noFill/>
        </p:spPr>
        <p:txBody>
          <a:bodyPr vert="horz" wrap="square" lIns="0" tIns="0" rIns="0" bIns="0" rtlCol="0" anchor="t">
            <a:noAutofit/>
          </a:bodyPr>
          <a:lstStyle/>
          <a:p>
            <a:r>
              <a:rPr lang="es-GT" sz="1700" b="1">
                <a:solidFill>
                  <a:srgbClr val="1B2A41"/>
                </a:solidFill>
                <a:latin typeface="Calibri" panose="020F0502020204030204" pitchFamily="34" charset="0"/>
              </a:rPr>
              <a:t>Granularidad del bloqueo</a:t>
            </a:r>
          </a:p>
        </p:txBody>
      </p:sp>
      <p:sp>
        <p:nvSpPr>
          <p:cNvPr id="13" name="CuadroTexto 12">
            <a:extLst>
              <a:ext uri="{FF2B5EF4-FFF2-40B4-BE49-F238E27FC236}">
                <a16:creationId xmlns:a16="http://schemas.microsoft.com/office/drawing/2014/main" id="{3714C0CC-A570-A38A-C425-088CA2D2E1C9}"/>
              </a:ext>
            </a:extLst>
          </p:cNvPr>
          <p:cNvSpPr txBox="1"/>
          <p:nvPr/>
        </p:nvSpPr>
        <p:spPr>
          <a:xfrm>
            <a:off x="6477000" y="2260600"/>
            <a:ext cx="4876800" cy="12700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Un semáforo global bloquea toda la tabla. Mejora: una llave por transacción o SELECT … FOR UPDATE SKIP LOCKED.</a:t>
            </a:r>
          </a:p>
        </p:txBody>
      </p:sp>
      <p:sp>
        <p:nvSpPr>
          <p:cNvPr id="14" name="Rectángulo: esquinas redondeadas 13">
            <a:extLst>
              <a:ext uri="{FF2B5EF4-FFF2-40B4-BE49-F238E27FC236}">
                <a16:creationId xmlns:a16="http://schemas.microsoft.com/office/drawing/2014/main" id="{802F1970-2500-78CE-B794-4E05706C0A39}"/>
              </a:ext>
            </a:extLst>
          </p:cNvPr>
          <p:cNvSpPr/>
          <p:nvPr/>
        </p:nvSpPr>
        <p:spPr>
          <a:xfrm>
            <a:off x="609600" y="3657600"/>
            <a:ext cx="5334000" cy="19812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5" name="Elipse 14">
            <a:extLst>
              <a:ext uri="{FF2B5EF4-FFF2-40B4-BE49-F238E27FC236}">
                <a16:creationId xmlns:a16="http://schemas.microsoft.com/office/drawing/2014/main" id="{F8FA95DA-0FDA-E035-71E2-49150777B44A}"/>
              </a:ext>
            </a:extLst>
          </p:cNvPr>
          <p:cNvSpPr/>
          <p:nvPr/>
        </p:nvSpPr>
        <p:spPr>
          <a:xfrm>
            <a:off x="838200" y="3886200"/>
            <a:ext cx="457200" cy="4572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600" b="1">
                <a:solidFill>
                  <a:srgbClr val="FFFFFF"/>
                </a:solidFill>
                <a:latin typeface="Calibri" panose="020F0502020204030204" pitchFamily="34" charset="0"/>
              </a:rPr>
              <a:t>3</a:t>
            </a:r>
          </a:p>
        </p:txBody>
      </p:sp>
      <p:sp>
        <p:nvSpPr>
          <p:cNvPr id="16" name="CuadroTexto 15">
            <a:extLst>
              <a:ext uri="{FF2B5EF4-FFF2-40B4-BE49-F238E27FC236}">
                <a16:creationId xmlns:a16="http://schemas.microsoft.com/office/drawing/2014/main" id="{443E62B2-7FFF-BA0C-2AAF-63A65B7582C9}"/>
              </a:ext>
            </a:extLst>
          </p:cNvPr>
          <p:cNvSpPr txBox="1"/>
          <p:nvPr/>
        </p:nvSpPr>
        <p:spPr>
          <a:xfrm>
            <a:off x="1447800" y="3937000"/>
            <a:ext cx="4318000" cy="355600"/>
          </a:xfrm>
          <a:prstGeom prst="rect">
            <a:avLst/>
          </a:prstGeom>
          <a:noFill/>
        </p:spPr>
        <p:txBody>
          <a:bodyPr vert="horz" wrap="square" lIns="0" tIns="0" rIns="0" bIns="0" rtlCol="0" anchor="t">
            <a:noAutofit/>
          </a:bodyPr>
          <a:lstStyle/>
          <a:p>
            <a:r>
              <a:rPr lang="es-GT" sz="1700" b="1">
                <a:solidFill>
                  <a:srgbClr val="1B2A41"/>
                </a:solidFill>
                <a:latin typeface="Calibri" panose="020F0502020204030204" pitchFamily="34" charset="0"/>
              </a:rPr>
              <a:t>TTL vs. duración del trabajo</a:t>
            </a:r>
          </a:p>
        </p:txBody>
      </p:sp>
      <p:sp>
        <p:nvSpPr>
          <p:cNvPr id="17" name="CuadroTexto 16">
            <a:extLst>
              <a:ext uri="{FF2B5EF4-FFF2-40B4-BE49-F238E27FC236}">
                <a16:creationId xmlns:a16="http://schemas.microsoft.com/office/drawing/2014/main" id="{F2943431-1AF0-80B0-C0BD-6453D89AC807}"/>
              </a:ext>
            </a:extLst>
          </p:cNvPr>
          <p:cNvSpPr txBox="1"/>
          <p:nvPr/>
        </p:nvSpPr>
        <p:spPr>
          <a:xfrm>
            <a:off x="838200" y="4495800"/>
            <a:ext cx="4876800" cy="12700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Si un procesamiento supera los 10 s, el semáforo expira con el trabajo en curso. Solución: renovar el TTL o un UPDATE condicional.</a:t>
            </a:r>
          </a:p>
        </p:txBody>
      </p:sp>
      <p:sp>
        <p:nvSpPr>
          <p:cNvPr id="18" name="Rectángulo: esquinas redondeadas 17">
            <a:extLst>
              <a:ext uri="{FF2B5EF4-FFF2-40B4-BE49-F238E27FC236}">
                <a16:creationId xmlns:a16="http://schemas.microsoft.com/office/drawing/2014/main" id="{DDB73034-7B01-B83E-2E7D-B8FC2C94999A}"/>
              </a:ext>
            </a:extLst>
          </p:cNvPr>
          <p:cNvSpPr/>
          <p:nvPr/>
        </p:nvSpPr>
        <p:spPr>
          <a:xfrm>
            <a:off x="6248400" y="3657600"/>
            <a:ext cx="5334000" cy="1981200"/>
          </a:xfrm>
          <a:prstGeom prst="roundRect">
            <a:avLst>
              <a:gd name="adj" fmla="val 8000"/>
            </a:avLst>
          </a:prstGeom>
          <a:solidFill>
            <a:srgbClr val="EEF2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9" name="Elipse 18">
            <a:extLst>
              <a:ext uri="{FF2B5EF4-FFF2-40B4-BE49-F238E27FC236}">
                <a16:creationId xmlns:a16="http://schemas.microsoft.com/office/drawing/2014/main" id="{C7DFBCDD-9410-CBAF-F0AA-CD1EBB83185C}"/>
              </a:ext>
            </a:extLst>
          </p:cNvPr>
          <p:cNvSpPr/>
          <p:nvPr/>
        </p:nvSpPr>
        <p:spPr>
          <a:xfrm>
            <a:off x="6477000" y="3886200"/>
            <a:ext cx="457200" cy="457200"/>
          </a:xfrm>
          <a:prstGeom prst="ellipse">
            <a:avLst/>
          </a:prstGeom>
          <a:solidFill>
            <a:srgbClr val="5B6B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1600" b="1">
                <a:solidFill>
                  <a:srgbClr val="FFFFFF"/>
                </a:solidFill>
                <a:latin typeface="Calibri" panose="020F0502020204030204" pitchFamily="34" charset="0"/>
              </a:rPr>
              <a:t>4</a:t>
            </a:r>
          </a:p>
        </p:txBody>
      </p:sp>
      <p:sp>
        <p:nvSpPr>
          <p:cNvPr id="20" name="CuadroTexto 19">
            <a:extLst>
              <a:ext uri="{FF2B5EF4-FFF2-40B4-BE49-F238E27FC236}">
                <a16:creationId xmlns:a16="http://schemas.microsoft.com/office/drawing/2014/main" id="{DA9BE238-00F0-0208-4F7C-93F1F5010FF5}"/>
              </a:ext>
            </a:extLst>
          </p:cNvPr>
          <p:cNvSpPr txBox="1"/>
          <p:nvPr/>
        </p:nvSpPr>
        <p:spPr>
          <a:xfrm>
            <a:off x="7086600" y="3937000"/>
            <a:ext cx="4318000" cy="355600"/>
          </a:xfrm>
          <a:prstGeom prst="rect">
            <a:avLst/>
          </a:prstGeom>
          <a:noFill/>
        </p:spPr>
        <p:txBody>
          <a:bodyPr vert="horz" wrap="square" lIns="0" tIns="0" rIns="0" bIns="0" rtlCol="0" anchor="t">
            <a:noAutofit/>
          </a:bodyPr>
          <a:lstStyle/>
          <a:p>
            <a:r>
              <a:rPr lang="es-GT" sz="1700" b="1">
                <a:solidFill>
                  <a:srgbClr val="1B2A41"/>
                </a:solidFill>
                <a:latin typeface="Calibri" panose="020F0502020204030204" pitchFamily="34" charset="0"/>
              </a:rPr>
              <a:t>Punto único de falla</a:t>
            </a:r>
          </a:p>
        </p:txBody>
      </p:sp>
      <p:sp>
        <p:nvSpPr>
          <p:cNvPr id="21" name="CuadroTexto 20">
            <a:extLst>
              <a:ext uri="{FF2B5EF4-FFF2-40B4-BE49-F238E27FC236}">
                <a16:creationId xmlns:a16="http://schemas.microsoft.com/office/drawing/2014/main" id="{562B89D4-E929-EBFD-88E4-E03D58878DD2}"/>
              </a:ext>
            </a:extLst>
          </p:cNvPr>
          <p:cNvSpPr txBox="1"/>
          <p:nvPr/>
        </p:nvSpPr>
        <p:spPr>
          <a:xfrm>
            <a:off x="6477000" y="4495800"/>
            <a:ext cx="4876800" cy="1270000"/>
          </a:xfrm>
          <a:prstGeom prst="rect">
            <a:avLst/>
          </a:prstGeom>
          <a:noFill/>
        </p:spPr>
        <p:txBody>
          <a:bodyPr vert="horz" wrap="square" lIns="0" tIns="0" rIns="0" bIns="0" rtlCol="0" anchor="t">
            <a:noAutofit/>
          </a:bodyPr>
          <a:lstStyle/>
          <a:p>
            <a:r>
              <a:rPr lang="es-GT" sz="1400">
                <a:solidFill>
                  <a:srgbClr val="1B2A41"/>
                </a:solidFill>
                <a:latin typeface="Calibri" panose="020F0502020204030204" pitchFamily="34" charset="0"/>
              </a:rPr>
              <a:t>Si Redis cae, nadie puede coordinarse. El código reintenta la conexión, pero no procesa mientras tanto.</a:t>
            </a:r>
          </a:p>
        </p:txBody>
      </p:sp>
      <p:sp>
        <p:nvSpPr>
          <p:cNvPr id="22" name="CuadroTexto 21">
            <a:extLst>
              <a:ext uri="{FF2B5EF4-FFF2-40B4-BE49-F238E27FC236}">
                <a16:creationId xmlns:a16="http://schemas.microsoft.com/office/drawing/2014/main" id="{D31690B3-46F4-3DF9-2191-4C36BA5C914E}"/>
              </a:ext>
            </a:extLst>
          </p:cNvPr>
          <p:cNvSpPr txBox="1"/>
          <p:nvPr/>
        </p:nvSpPr>
        <p:spPr>
          <a:xfrm>
            <a:off x="609600" y="6451600"/>
            <a:ext cx="6604000" cy="228600"/>
          </a:xfrm>
          <a:prstGeom prst="rect">
            <a:avLst/>
          </a:prstGeom>
          <a:noFill/>
        </p:spPr>
        <p:txBody>
          <a:bodyPr vert="horz" wrap="square" lIns="0" tIns="0" rIns="0" bIns="0" rtlCol="0" anchor="t">
            <a:noAutofit/>
          </a:bodyPr>
          <a:lstStyle/>
          <a:p>
            <a:r>
              <a:rPr lang="es-GT" sz="1000">
                <a:solidFill>
                  <a:srgbClr val="5B6B82"/>
                </a:solidFill>
                <a:latin typeface="Calibri" panose="020F0502020204030204" pitchFamily="34" charset="0"/>
              </a:rPr>
              <a:t>Productor y consumidores con semáforo · Sistemas Operativos I</a:t>
            </a:r>
          </a:p>
        </p:txBody>
      </p:sp>
      <p:sp>
        <p:nvSpPr>
          <p:cNvPr id="23" name="CuadroTexto 22">
            <a:extLst>
              <a:ext uri="{FF2B5EF4-FFF2-40B4-BE49-F238E27FC236}">
                <a16:creationId xmlns:a16="http://schemas.microsoft.com/office/drawing/2014/main" id="{EBDF76A4-0409-278F-7ECE-42BEB97F64E0}"/>
              </a:ext>
            </a:extLst>
          </p:cNvPr>
          <p:cNvSpPr txBox="1"/>
          <p:nvPr/>
        </p:nvSpPr>
        <p:spPr>
          <a:xfrm>
            <a:off x="10312400" y="6451600"/>
            <a:ext cx="1270000" cy="228600"/>
          </a:xfrm>
          <a:prstGeom prst="rect">
            <a:avLst/>
          </a:prstGeom>
          <a:noFill/>
        </p:spPr>
        <p:txBody>
          <a:bodyPr vert="horz" wrap="square" lIns="0" tIns="0" rIns="0" bIns="0" rtlCol="0" anchor="t">
            <a:noAutofit/>
          </a:bodyPr>
          <a:lstStyle/>
          <a:p>
            <a:pPr algn="r"/>
            <a:r>
              <a:rPr lang="es-GT" sz="1000">
                <a:solidFill>
                  <a:srgbClr val="5B6B82"/>
                </a:solidFill>
                <a:latin typeface="Calibri" panose="020F0502020204030204" pitchFamily="34" charset="0"/>
              </a:rPr>
              <a:t>13</a:t>
            </a:r>
          </a:p>
        </p:txBody>
      </p:sp>
    </p:spTree>
    <p:extLst>
      <p:ext uri="{BB962C8B-B14F-4D97-AF65-F5344CB8AC3E}">
        <p14:creationId xmlns:p14="http://schemas.microsoft.com/office/powerpoint/2010/main" val="2303090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7040B75-6B5E-6D34-B583-6C78212E4805}"/>
              </a:ext>
            </a:extLst>
          </p:cNvPr>
          <p:cNvSpPr txBox="1"/>
          <p:nvPr/>
        </p:nvSpPr>
        <p:spPr>
          <a:xfrm>
            <a:off x="609600" y="406400"/>
            <a:ext cx="10033000" cy="635000"/>
          </a:xfrm>
          <a:prstGeom prst="rect">
            <a:avLst/>
          </a:prstGeom>
          <a:noFill/>
        </p:spPr>
        <p:txBody>
          <a:bodyPr vert="horz" wrap="square" lIns="0" tIns="0" rIns="0" bIns="0" rtlCol="0" anchor="ctr">
            <a:noAutofit/>
          </a:bodyPr>
          <a:lstStyle/>
          <a:p>
            <a:r>
              <a:rPr lang="es-GT" sz="3200" b="1">
                <a:solidFill>
                  <a:srgbClr val="FFFFFF"/>
                </a:solidFill>
                <a:latin typeface="Calibri" panose="020F0502020204030204" pitchFamily="34" charset="0"/>
              </a:rPr>
              <a:t>Conclusiones</a:t>
            </a:r>
          </a:p>
        </p:txBody>
      </p:sp>
      <p:sp>
        <p:nvSpPr>
          <p:cNvPr id="3" name="Elipse 2">
            <a:extLst>
              <a:ext uri="{FF2B5EF4-FFF2-40B4-BE49-F238E27FC236}">
                <a16:creationId xmlns:a16="http://schemas.microsoft.com/office/drawing/2014/main" id="{7B044185-269D-1C5F-B470-5B591BE26029}"/>
              </a:ext>
            </a:extLst>
          </p:cNvPr>
          <p:cNvSpPr/>
          <p:nvPr/>
        </p:nvSpPr>
        <p:spPr>
          <a:xfrm>
            <a:off x="11023600" y="635000"/>
            <a:ext cx="152400" cy="152400"/>
          </a:xfrm>
          <a:prstGeom prst="ellipse">
            <a:avLst/>
          </a:prstGeom>
          <a:solidFill>
            <a:srgbClr val="D6454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Elipse 3">
            <a:extLst>
              <a:ext uri="{FF2B5EF4-FFF2-40B4-BE49-F238E27FC236}">
                <a16:creationId xmlns:a16="http://schemas.microsoft.com/office/drawing/2014/main" id="{AE8C9320-612D-2149-4E5A-007DADD7FE8A}"/>
              </a:ext>
            </a:extLst>
          </p:cNvPr>
          <p:cNvSpPr/>
          <p:nvPr/>
        </p:nvSpPr>
        <p:spPr>
          <a:xfrm>
            <a:off x="11252200" y="635000"/>
            <a:ext cx="152400" cy="152400"/>
          </a:xfrm>
          <a:prstGeom prst="ellipse">
            <a:avLst/>
          </a:prstGeom>
          <a:solidFill>
            <a:srgbClr val="E8A3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5" name="Elipse 4">
            <a:extLst>
              <a:ext uri="{FF2B5EF4-FFF2-40B4-BE49-F238E27FC236}">
                <a16:creationId xmlns:a16="http://schemas.microsoft.com/office/drawing/2014/main" id="{9F6D7FA5-8BA2-90D0-11B6-8965CBA5E3A8}"/>
              </a:ext>
            </a:extLst>
          </p:cNvPr>
          <p:cNvSpPr/>
          <p:nvPr/>
        </p:nvSpPr>
        <p:spPr>
          <a:xfrm>
            <a:off x="11480800" y="635000"/>
            <a:ext cx="152400" cy="1524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Elipse 5">
            <a:extLst>
              <a:ext uri="{FF2B5EF4-FFF2-40B4-BE49-F238E27FC236}">
                <a16:creationId xmlns:a16="http://schemas.microsoft.com/office/drawing/2014/main" id="{3F7A7EE8-6F36-4EB4-1502-9E62E5FE439D}"/>
              </a:ext>
            </a:extLst>
          </p:cNvPr>
          <p:cNvSpPr/>
          <p:nvPr/>
        </p:nvSpPr>
        <p:spPr>
          <a:xfrm>
            <a:off x="609600" y="1625600"/>
            <a:ext cx="558800" cy="5588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2000" b="1">
                <a:solidFill>
                  <a:srgbClr val="FFFFFF"/>
                </a:solidFill>
                <a:latin typeface="Calibri" panose="020F0502020204030204" pitchFamily="34" charset="0"/>
              </a:rPr>
              <a:t>1</a:t>
            </a:r>
          </a:p>
        </p:txBody>
      </p:sp>
      <p:sp>
        <p:nvSpPr>
          <p:cNvPr id="7" name="CuadroTexto 6">
            <a:extLst>
              <a:ext uri="{FF2B5EF4-FFF2-40B4-BE49-F238E27FC236}">
                <a16:creationId xmlns:a16="http://schemas.microsoft.com/office/drawing/2014/main" id="{FF541A09-DB85-3E06-0A32-C907A87C3896}"/>
              </a:ext>
            </a:extLst>
          </p:cNvPr>
          <p:cNvSpPr txBox="1"/>
          <p:nvPr/>
        </p:nvSpPr>
        <p:spPr>
          <a:xfrm>
            <a:off x="1422400" y="1524000"/>
            <a:ext cx="10160000" cy="787400"/>
          </a:xfrm>
          <a:prstGeom prst="rect">
            <a:avLst/>
          </a:prstGeom>
          <a:noFill/>
        </p:spPr>
        <p:txBody>
          <a:bodyPr vert="horz" wrap="square" lIns="0" tIns="0" rIns="0" bIns="0" rtlCol="0" anchor="ctr">
            <a:noAutofit/>
          </a:bodyPr>
          <a:lstStyle/>
          <a:p>
            <a:r>
              <a:rPr lang="es-GT">
                <a:solidFill>
                  <a:srgbClr val="FFFFFF"/>
                </a:solidFill>
                <a:latin typeface="Calibri" panose="020F0502020204030204" pitchFamily="34" charset="0"/>
              </a:rPr>
              <a:t>Sin sincronización, dos procesos que modifican el mismo dato producen errores: 48 % de duplicados en el escenario A.</a:t>
            </a:r>
          </a:p>
        </p:txBody>
      </p:sp>
      <p:sp>
        <p:nvSpPr>
          <p:cNvPr id="8" name="Elipse 7">
            <a:extLst>
              <a:ext uri="{FF2B5EF4-FFF2-40B4-BE49-F238E27FC236}">
                <a16:creationId xmlns:a16="http://schemas.microsoft.com/office/drawing/2014/main" id="{C4E164A0-BC8B-DD5C-F4E3-AE3DD9BA8B13}"/>
              </a:ext>
            </a:extLst>
          </p:cNvPr>
          <p:cNvSpPr/>
          <p:nvPr/>
        </p:nvSpPr>
        <p:spPr>
          <a:xfrm>
            <a:off x="609600" y="2794000"/>
            <a:ext cx="558800" cy="5588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2000" b="1">
                <a:solidFill>
                  <a:srgbClr val="FFFFFF"/>
                </a:solidFill>
                <a:latin typeface="Calibri" panose="020F0502020204030204" pitchFamily="34" charset="0"/>
              </a:rPr>
              <a:t>2</a:t>
            </a:r>
          </a:p>
        </p:txBody>
      </p:sp>
      <p:sp>
        <p:nvSpPr>
          <p:cNvPr id="9" name="CuadroTexto 8">
            <a:extLst>
              <a:ext uri="{FF2B5EF4-FFF2-40B4-BE49-F238E27FC236}">
                <a16:creationId xmlns:a16="http://schemas.microsoft.com/office/drawing/2014/main" id="{E6040D32-6F85-23FE-7AC9-E4EE7A3B1CC3}"/>
              </a:ext>
            </a:extLst>
          </p:cNvPr>
          <p:cNvSpPr txBox="1"/>
          <p:nvPr/>
        </p:nvSpPr>
        <p:spPr>
          <a:xfrm>
            <a:off x="1422400" y="2692400"/>
            <a:ext cx="10160000" cy="787400"/>
          </a:xfrm>
          <a:prstGeom prst="rect">
            <a:avLst/>
          </a:prstGeom>
          <a:noFill/>
        </p:spPr>
        <p:txBody>
          <a:bodyPr vert="horz" wrap="square" lIns="0" tIns="0" rIns="0" bIns="0" rtlCol="0" anchor="ctr">
            <a:noAutofit/>
          </a:bodyPr>
          <a:lstStyle/>
          <a:p>
            <a:r>
              <a:rPr lang="es-GT">
                <a:solidFill>
                  <a:srgbClr val="FFFFFF"/>
                </a:solidFill>
                <a:latin typeface="Calibri" panose="020F0502020204030204" pitchFamily="34" charset="0"/>
              </a:rPr>
              <a:t>Un semáforo binario en Redis (SET NX EX + liberación con Lua) garantiza la exclusión mutua entre contenedores: 0 duplicados.</a:t>
            </a:r>
          </a:p>
        </p:txBody>
      </p:sp>
      <p:sp>
        <p:nvSpPr>
          <p:cNvPr id="10" name="Elipse 9">
            <a:extLst>
              <a:ext uri="{FF2B5EF4-FFF2-40B4-BE49-F238E27FC236}">
                <a16:creationId xmlns:a16="http://schemas.microsoft.com/office/drawing/2014/main" id="{DBB7F97C-5431-1475-0978-8E178367229B}"/>
              </a:ext>
            </a:extLst>
          </p:cNvPr>
          <p:cNvSpPr/>
          <p:nvPr/>
        </p:nvSpPr>
        <p:spPr>
          <a:xfrm>
            <a:off x="609600" y="3962400"/>
            <a:ext cx="558800" cy="5588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2000" b="1">
                <a:solidFill>
                  <a:srgbClr val="FFFFFF"/>
                </a:solidFill>
                <a:latin typeface="Calibri" panose="020F0502020204030204" pitchFamily="34" charset="0"/>
              </a:rPr>
              <a:t>3</a:t>
            </a:r>
          </a:p>
        </p:txBody>
      </p:sp>
      <p:sp>
        <p:nvSpPr>
          <p:cNvPr id="11" name="CuadroTexto 10">
            <a:extLst>
              <a:ext uri="{FF2B5EF4-FFF2-40B4-BE49-F238E27FC236}">
                <a16:creationId xmlns:a16="http://schemas.microsoft.com/office/drawing/2014/main" id="{AE66D264-39DA-5B99-A813-D2208B3517B4}"/>
              </a:ext>
            </a:extLst>
          </p:cNvPr>
          <p:cNvSpPr txBox="1"/>
          <p:nvPr/>
        </p:nvSpPr>
        <p:spPr>
          <a:xfrm>
            <a:off x="1422400" y="3860800"/>
            <a:ext cx="10160000" cy="787400"/>
          </a:xfrm>
          <a:prstGeom prst="rect">
            <a:avLst/>
          </a:prstGeom>
          <a:noFill/>
        </p:spPr>
        <p:txBody>
          <a:bodyPr vert="horz" wrap="square" lIns="0" tIns="0" rIns="0" bIns="0" rtlCol="0" anchor="ctr">
            <a:noAutofit/>
          </a:bodyPr>
          <a:lstStyle/>
          <a:p>
            <a:r>
              <a:rPr lang="es-GT">
                <a:solidFill>
                  <a:srgbClr val="FFFFFF"/>
                </a:solidFill>
                <a:latin typeface="Calibri" panose="020F0502020204030204" pitchFamily="34" charset="0"/>
              </a:rPr>
              <a:t>NX da atomicidad, EX evita bloqueos permanentes y el token impide liberar el semáforo de otro.</a:t>
            </a:r>
          </a:p>
        </p:txBody>
      </p:sp>
      <p:sp>
        <p:nvSpPr>
          <p:cNvPr id="12" name="Elipse 11">
            <a:extLst>
              <a:ext uri="{FF2B5EF4-FFF2-40B4-BE49-F238E27FC236}">
                <a16:creationId xmlns:a16="http://schemas.microsoft.com/office/drawing/2014/main" id="{77D47606-7709-5F89-3E3E-BE2A5AC61C6B}"/>
              </a:ext>
            </a:extLst>
          </p:cNvPr>
          <p:cNvSpPr/>
          <p:nvPr/>
        </p:nvSpPr>
        <p:spPr>
          <a:xfrm>
            <a:off x="609600" y="5130800"/>
            <a:ext cx="558800" cy="5588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GT" sz="2000" b="1">
                <a:solidFill>
                  <a:srgbClr val="FFFFFF"/>
                </a:solidFill>
                <a:latin typeface="Calibri" panose="020F0502020204030204" pitchFamily="34" charset="0"/>
              </a:rPr>
              <a:t>4</a:t>
            </a:r>
          </a:p>
        </p:txBody>
      </p:sp>
      <p:sp>
        <p:nvSpPr>
          <p:cNvPr id="13" name="CuadroTexto 12">
            <a:extLst>
              <a:ext uri="{FF2B5EF4-FFF2-40B4-BE49-F238E27FC236}">
                <a16:creationId xmlns:a16="http://schemas.microsoft.com/office/drawing/2014/main" id="{740E3E75-3264-77E4-1D5F-B606BFA0823F}"/>
              </a:ext>
            </a:extLst>
          </p:cNvPr>
          <p:cNvSpPr txBox="1"/>
          <p:nvPr/>
        </p:nvSpPr>
        <p:spPr>
          <a:xfrm>
            <a:off x="1422400" y="5029200"/>
            <a:ext cx="10160000" cy="787400"/>
          </a:xfrm>
          <a:prstGeom prst="rect">
            <a:avLst/>
          </a:prstGeom>
          <a:noFill/>
        </p:spPr>
        <p:txBody>
          <a:bodyPr vert="horz" wrap="square" lIns="0" tIns="0" rIns="0" bIns="0" rtlCol="0" anchor="ctr">
            <a:noAutofit/>
          </a:bodyPr>
          <a:lstStyle/>
          <a:p>
            <a:r>
              <a:rPr lang="es-GT">
                <a:solidFill>
                  <a:srgbClr val="FFFFFF"/>
                </a:solidFill>
                <a:latin typeface="Calibri" panose="020F0502020204030204" pitchFamily="34" charset="0"/>
              </a:rPr>
              <a:t>La exclusión mutua cuesta rendimiento: la sección crítica debe ser lo más pequeña posible.</a:t>
            </a:r>
          </a:p>
        </p:txBody>
      </p:sp>
    </p:spTree>
    <p:extLst>
      <p:ext uri="{BB962C8B-B14F-4D97-AF65-F5344CB8AC3E}">
        <p14:creationId xmlns:p14="http://schemas.microsoft.com/office/powerpoint/2010/main" val="3804594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999940C-17E8-DC4D-64A3-A416FD5CBB80}"/>
              </a:ext>
            </a:extLst>
          </p:cNvPr>
          <p:cNvSpPr txBox="1"/>
          <p:nvPr/>
        </p:nvSpPr>
        <p:spPr>
          <a:xfrm>
            <a:off x="812800" y="1905000"/>
            <a:ext cx="7620000" cy="889000"/>
          </a:xfrm>
          <a:prstGeom prst="rect">
            <a:avLst/>
          </a:prstGeom>
          <a:noFill/>
        </p:spPr>
        <p:txBody>
          <a:bodyPr vert="horz" wrap="square" lIns="0" tIns="0" rIns="0" bIns="0" rtlCol="0" anchor="t">
            <a:noAutofit/>
          </a:bodyPr>
          <a:lstStyle/>
          <a:p>
            <a:r>
              <a:rPr lang="es-GT" sz="5400" b="1">
                <a:solidFill>
                  <a:srgbClr val="FFFFFF"/>
                </a:solidFill>
                <a:latin typeface="Calibri" panose="020F0502020204030204" pitchFamily="34" charset="0"/>
              </a:rPr>
              <a:t>¿Preguntas?</a:t>
            </a:r>
          </a:p>
        </p:txBody>
      </p:sp>
      <p:sp>
        <p:nvSpPr>
          <p:cNvPr id="3" name="CuadroTexto 2">
            <a:extLst>
              <a:ext uri="{FF2B5EF4-FFF2-40B4-BE49-F238E27FC236}">
                <a16:creationId xmlns:a16="http://schemas.microsoft.com/office/drawing/2014/main" id="{70E0BD55-5F0E-58CB-7A09-62C24CB9959E}"/>
              </a:ext>
            </a:extLst>
          </p:cNvPr>
          <p:cNvSpPr txBox="1"/>
          <p:nvPr/>
        </p:nvSpPr>
        <p:spPr>
          <a:xfrm>
            <a:off x="812800" y="2895600"/>
            <a:ext cx="7620000" cy="381000"/>
          </a:xfrm>
          <a:prstGeom prst="rect">
            <a:avLst/>
          </a:prstGeom>
          <a:noFill/>
        </p:spPr>
        <p:txBody>
          <a:bodyPr vert="horz" wrap="square" lIns="0" tIns="0" rIns="0" bIns="0" rtlCol="0" anchor="t">
            <a:noAutofit/>
          </a:bodyPr>
          <a:lstStyle/>
          <a:p>
            <a:r>
              <a:rPr lang="es-GT" sz="2000">
                <a:solidFill>
                  <a:srgbClr val="AFC3DA"/>
                </a:solidFill>
                <a:latin typeface="Calibri" panose="020F0502020204030204" pitchFamily="34" charset="0"/>
              </a:rPr>
              <a:t>Gracias por su atención</a:t>
            </a:r>
          </a:p>
        </p:txBody>
      </p:sp>
      <p:sp>
        <p:nvSpPr>
          <p:cNvPr id="4" name="CuadroTexto 3">
            <a:extLst>
              <a:ext uri="{FF2B5EF4-FFF2-40B4-BE49-F238E27FC236}">
                <a16:creationId xmlns:a16="http://schemas.microsoft.com/office/drawing/2014/main" id="{BBDC1123-8D5D-E819-B169-96803A2DE214}"/>
              </a:ext>
            </a:extLst>
          </p:cNvPr>
          <p:cNvSpPr txBox="1"/>
          <p:nvPr/>
        </p:nvSpPr>
        <p:spPr>
          <a:xfrm>
            <a:off x="812800" y="3581400"/>
            <a:ext cx="7620000" cy="330200"/>
          </a:xfrm>
          <a:prstGeom prst="rect">
            <a:avLst/>
          </a:prstGeom>
          <a:noFill/>
        </p:spPr>
        <p:txBody>
          <a:bodyPr vert="horz" wrap="square" lIns="0" tIns="0" rIns="0" bIns="0" rtlCol="0" anchor="t">
            <a:noAutofit/>
          </a:bodyPr>
          <a:lstStyle/>
          <a:p>
            <a:r>
              <a:rPr lang="es-GT" sz="1600" b="1">
                <a:solidFill>
                  <a:srgbClr val="1F9D55"/>
                </a:solidFill>
                <a:latin typeface="Calibri" panose="020F0502020204030204" pitchFamily="34" charset="0"/>
              </a:rPr>
              <a:t>github.com/GabrielPineda2005/mini-proyecto</a:t>
            </a:r>
          </a:p>
        </p:txBody>
      </p:sp>
      <p:sp>
        <p:nvSpPr>
          <p:cNvPr id="5" name="Rectángulo: esquinas redondeadas 4">
            <a:extLst>
              <a:ext uri="{FF2B5EF4-FFF2-40B4-BE49-F238E27FC236}">
                <a16:creationId xmlns:a16="http://schemas.microsoft.com/office/drawing/2014/main" id="{5FE0E514-5227-F07E-5938-7306C4EF3B5E}"/>
              </a:ext>
            </a:extLst>
          </p:cNvPr>
          <p:cNvSpPr/>
          <p:nvPr/>
        </p:nvSpPr>
        <p:spPr>
          <a:xfrm>
            <a:off x="812800" y="4267200"/>
            <a:ext cx="7112000" cy="1219200"/>
          </a:xfrm>
          <a:prstGeom prst="roundRect">
            <a:avLst>
              <a:gd name="adj" fmla="val 8000"/>
            </a:avLst>
          </a:prstGeom>
          <a:solidFill>
            <a:srgbClr val="1523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06680" rIns="177800" bIns="106680" rtlCol="0" anchor="ctr"/>
          <a:lstStyle/>
          <a:p>
            <a:r>
              <a:rPr lang="es-GT" sz="1500">
                <a:solidFill>
                  <a:srgbClr val="D6E2F0"/>
                </a:solidFill>
                <a:latin typeface="Consolas" panose="020B0609020204030204" pitchFamily="49" charset="0"/>
              </a:rPr>
              <a:t>docker compose up -d --build</a:t>
            </a:r>
          </a:p>
          <a:p>
            <a:r>
              <a:rPr lang="es-GT" sz="1500">
                <a:solidFill>
                  <a:srgbClr val="D6E2F0"/>
                </a:solidFill>
                <a:latin typeface="Consolas" panose="020B0609020204030204" pitchFamily="49" charset="0"/>
              </a:rPr>
              <a:t>docker compose logs -f consumidor1 consumidor2</a:t>
            </a:r>
          </a:p>
        </p:txBody>
      </p:sp>
      <p:sp>
        <p:nvSpPr>
          <p:cNvPr id="6" name="Rectángulo: esquinas redondeadas 5">
            <a:extLst>
              <a:ext uri="{FF2B5EF4-FFF2-40B4-BE49-F238E27FC236}">
                <a16:creationId xmlns:a16="http://schemas.microsoft.com/office/drawing/2014/main" id="{94CEE180-9C8D-C7DC-E1DC-3EFB95C5420C}"/>
              </a:ext>
            </a:extLst>
          </p:cNvPr>
          <p:cNvSpPr/>
          <p:nvPr/>
        </p:nvSpPr>
        <p:spPr>
          <a:xfrm>
            <a:off x="9271000" y="1206500"/>
            <a:ext cx="1905000" cy="4445000"/>
          </a:xfrm>
          <a:prstGeom prst="roundRect">
            <a:avLst>
              <a:gd name="adj" fmla="val 8000"/>
            </a:avLst>
          </a:prstGeom>
          <a:solidFill>
            <a:srgbClr val="1B2A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7" name="Elipse 6">
            <a:extLst>
              <a:ext uri="{FF2B5EF4-FFF2-40B4-BE49-F238E27FC236}">
                <a16:creationId xmlns:a16="http://schemas.microsoft.com/office/drawing/2014/main" id="{E6FB1879-35E1-2F72-95BB-3E86F1EB0D71}"/>
              </a:ext>
            </a:extLst>
          </p:cNvPr>
          <p:cNvSpPr/>
          <p:nvPr/>
        </p:nvSpPr>
        <p:spPr>
          <a:xfrm>
            <a:off x="9613900" y="1422400"/>
            <a:ext cx="1219200" cy="1219200"/>
          </a:xfrm>
          <a:prstGeom prst="ellipse">
            <a:avLst/>
          </a:prstGeom>
          <a:solidFill>
            <a:srgbClr val="D64545">
              <a:alpha val="2500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8" name="Elipse 7">
            <a:extLst>
              <a:ext uri="{FF2B5EF4-FFF2-40B4-BE49-F238E27FC236}">
                <a16:creationId xmlns:a16="http://schemas.microsoft.com/office/drawing/2014/main" id="{3262CBE0-C6AC-ABE4-8F0B-6172BA78AE35}"/>
              </a:ext>
            </a:extLst>
          </p:cNvPr>
          <p:cNvSpPr/>
          <p:nvPr/>
        </p:nvSpPr>
        <p:spPr>
          <a:xfrm>
            <a:off x="9613900" y="2819400"/>
            <a:ext cx="1219200" cy="1219200"/>
          </a:xfrm>
          <a:prstGeom prst="ellipse">
            <a:avLst/>
          </a:prstGeom>
          <a:solidFill>
            <a:srgbClr val="E8A33D">
              <a:alpha val="2500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9" name="Elipse 8">
            <a:extLst>
              <a:ext uri="{FF2B5EF4-FFF2-40B4-BE49-F238E27FC236}">
                <a16:creationId xmlns:a16="http://schemas.microsoft.com/office/drawing/2014/main" id="{E6BD7FA0-C38F-FD5F-104D-BB1F33BAF2F6}"/>
              </a:ext>
            </a:extLst>
          </p:cNvPr>
          <p:cNvSpPr/>
          <p:nvPr/>
        </p:nvSpPr>
        <p:spPr>
          <a:xfrm>
            <a:off x="9613900" y="4216400"/>
            <a:ext cx="1219200" cy="1219200"/>
          </a:xfrm>
          <a:prstGeom prst="ellipse">
            <a:avLst/>
          </a:prstGeom>
          <a:solidFill>
            <a:srgbClr val="1F9D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Tree>
    <p:extLst>
      <p:ext uri="{BB962C8B-B14F-4D97-AF65-F5344CB8AC3E}">
        <p14:creationId xmlns:p14="http://schemas.microsoft.com/office/powerpoint/2010/main" val="386497636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2391</Words>
  <Application>Microsoft Office PowerPoint</Application>
  <PresentationFormat>Personalizado</PresentationFormat>
  <Paragraphs>288</Paragraphs>
  <Slides>15</Slides>
  <Notes>15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15</vt:i4>
      </vt:variant>
    </vt:vector>
  </HeadingPairs>
  <TitlesOfParts>
    <vt:vector size="22" baseType="lpstr">
      <vt:lpstr>Aptos</vt:lpstr>
      <vt:lpstr>Aptos Display</vt:lpstr>
      <vt:lpstr>Arial</vt:lpstr>
      <vt:lpstr>Calibri</vt:lpstr>
      <vt:lpstr>Consolas</vt:lpstr>
      <vt:lpstr>Segoe UI Symbol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Operador Tlg</dc:creator>
  <cp:lastModifiedBy>Operador Tlg</cp:lastModifiedBy>
  <cp:revision>1</cp:revision>
  <dcterms:created xsi:type="dcterms:W3CDTF">2026-10-31T15:26:41Z</dcterms:created>
  <dcterms:modified xsi:type="dcterms:W3CDTF">2026-10-31T15:26:41Z</dcterms:modified>
</cp:coreProperties>
</file>